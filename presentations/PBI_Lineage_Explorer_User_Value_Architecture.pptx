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old manual workflow: report owners spend hours opening reports, checking semantic models and tracing source objects. The app compresses that into one search and one evidence trail. Emphasize minutes instead of report-by-report inspection, then close with the user outcomes: faster confidence, safer changes and a clean PowerAI answer that can be shared.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from left to right. The BI user stays in one Streamlit experience and interacts through Home, Explore, Report Lineage, impact pages and the floating PowerAI modal. The middle layer keeps the authenticated session, joins metadata by stable IDs and runs lineage/impact analysis. The platform boxes explain each role: REST and Fabric provide inventory and report definitions, XMLA provides semantic-model detail, Snowflake provides physical lineage, and PowerAI explains the app-owned evidence without performing write actions.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02920" y="310896"/>
            <a:ext cx="402336" cy="3657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402336" cy="365760"/>
          </a:xfrm>
          <a:prstGeom prst="rect">
            <a:avLst/>
          </a:prstGeom>
          <a:noFill/>
        </p:spPr>
        <p:txBody>
          <a:bodyPr wrap="square" lIns="0" rIns="0" tIns="0" bIns="0" anchor="ctr">
            <a:noAutofit/>
          </a:bodyPr>
          <a:lstStyle/>
          <a:p>
            <a:pPr algn="ctr">
              <a:spcBef>
                <a:spcPts val="0"/>
              </a:spcBef>
              <a:spcAft>
                <a:spcPts val="0"/>
              </a:spcAft>
            </a:pPr>
            <a:r>
              <a:rPr sz="900" b="1">
                <a:solidFill>
                  <a:srgbClr val="FFFFFF"/>
                </a:solidFill>
                <a:latin typeface="Segoe UI"/>
              </a:rPr>
              <a:t>PBI</a:t>
            </a:r>
          </a:p>
        </p:txBody>
      </p:sp>
      <p:sp>
        <p:nvSpPr>
          <p:cNvPr id="4" name="TextBox 3"/>
          <p:cNvSpPr txBox="1"/>
          <p:nvPr/>
        </p:nvSpPr>
        <p:spPr>
          <a:xfrm>
            <a:off x="987552" y="301752"/>
            <a:ext cx="2194560" cy="384048"/>
          </a:xfrm>
          <a:prstGeom prst="rect">
            <a:avLst/>
          </a:prstGeom>
          <a:noFill/>
        </p:spPr>
        <p:txBody>
          <a:bodyPr wrap="square" lIns="36576" rIns="36576" tIns="36576" bIns="36576" anchor="ctr">
            <a:noAutofit/>
          </a:bodyPr>
          <a:lstStyle/>
          <a:p>
            <a:pPr algn="l">
              <a:spcBef>
                <a:spcPts val="0"/>
              </a:spcBef>
              <a:spcAft>
                <a:spcPts val="0"/>
              </a:spcAft>
            </a:pPr>
            <a:r>
              <a:rPr sz="1500" b="1">
                <a:solidFill>
                  <a:srgbClr val="10213D"/>
                </a:solidFill>
                <a:latin typeface="Segoe UI"/>
              </a:rPr>
              <a:t>Lineage Explorer</a:t>
            </a:r>
          </a:p>
        </p:txBody>
      </p:sp>
      <p:sp>
        <p:nvSpPr>
          <p:cNvPr id="5" name="TextBox 4"/>
          <p:cNvSpPr txBox="1"/>
          <p:nvPr/>
        </p:nvSpPr>
        <p:spPr>
          <a:xfrm>
            <a:off x="8823960" y="338328"/>
            <a:ext cx="2606040" cy="274320"/>
          </a:xfrm>
          <a:prstGeom prst="rect">
            <a:avLst/>
          </a:prstGeom>
          <a:noFill/>
        </p:spPr>
        <p:txBody>
          <a:bodyPr wrap="square" lIns="36576" rIns="36576" tIns="36576" bIns="36576" anchor="ctr">
            <a:noAutofit/>
          </a:bodyPr>
          <a:lstStyle/>
          <a:p>
            <a:pPr algn="r">
              <a:spcBef>
                <a:spcPts val="0"/>
              </a:spcBef>
              <a:spcAft>
                <a:spcPts val="0"/>
              </a:spcAft>
            </a:pPr>
            <a:r>
              <a:rPr sz="850" b="1">
                <a:solidFill>
                  <a:srgbClr val="2563EB"/>
                </a:solidFill>
                <a:latin typeface="Segoe UI"/>
              </a:rPr>
              <a:t>01  /  USER VALUE</a:t>
            </a:r>
          </a:p>
        </p:txBody>
      </p:sp>
      <p:sp>
        <p:nvSpPr>
          <p:cNvPr id="6" name="TextBox 5"/>
          <p:cNvSpPr txBox="1"/>
          <p:nvPr/>
        </p:nvSpPr>
        <p:spPr>
          <a:xfrm>
            <a:off x="11457432" y="338328"/>
            <a:ext cx="228600" cy="274320"/>
          </a:xfrm>
          <a:prstGeom prst="rect">
            <a:avLst/>
          </a:prstGeom>
          <a:noFill/>
        </p:spPr>
        <p:txBody>
          <a:bodyPr wrap="square" lIns="36576" rIns="36576" tIns="36576" bIns="36576" anchor="ctr">
            <a:noAutofit/>
          </a:bodyPr>
          <a:lstStyle/>
          <a:p>
            <a:pPr algn="r">
              <a:spcBef>
                <a:spcPts val="0"/>
              </a:spcBef>
              <a:spcAft>
                <a:spcPts val="0"/>
              </a:spcAft>
            </a:pPr>
            <a:r>
              <a:rPr sz="850" b="1">
                <a:solidFill>
                  <a:srgbClr val="5E6D85"/>
                </a:solidFill>
                <a:latin typeface="Segoe UI"/>
              </a:rPr>
              <a:t>01</a:t>
            </a:r>
          </a:p>
        </p:txBody>
      </p:sp>
      <p:cxnSp>
        <p:nvCxnSpPr>
          <p:cNvPr id="7" name="Connector 6"/>
          <p:cNvCxnSpPr/>
          <p:nvPr/>
        </p:nvCxnSpPr>
        <p:spPr>
          <a:xfrm>
            <a:off x="502920" y="804672"/>
            <a:ext cx="11183112" cy="0"/>
          </a:xfrm>
          <a:prstGeom prst="line">
            <a:avLst/>
          </a:prstGeom>
          <a:ln w="10160">
            <a:solidFill>
              <a:srgbClr val="D7DF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1024128"/>
            <a:ext cx="10972800" cy="457200"/>
          </a:xfrm>
          <a:prstGeom prst="rect">
            <a:avLst/>
          </a:prstGeom>
          <a:noFill/>
        </p:spPr>
        <p:txBody>
          <a:bodyPr wrap="square" lIns="36576" rIns="36576" tIns="36576" bIns="36576" anchor="ctr">
            <a:noAutofit/>
          </a:bodyPr>
          <a:lstStyle/>
          <a:p>
            <a:pPr algn="l">
              <a:spcBef>
                <a:spcPts val="0"/>
              </a:spcBef>
              <a:spcAft>
                <a:spcPts val="0"/>
              </a:spcAft>
            </a:pPr>
            <a:r>
              <a:rPr sz="2700" b="1">
                <a:solidFill>
                  <a:srgbClr val="10213D"/>
                </a:solidFill>
                <a:latin typeface="Segoe UI"/>
              </a:rPr>
              <a:t>Get lineage answers in minutes, not hours</a:t>
            </a:r>
          </a:p>
        </p:txBody>
      </p:sp>
      <p:sp>
        <p:nvSpPr>
          <p:cNvPr id="9" name="TextBox 8"/>
          <p:cNvSpPr txBox="1"/>
          <p:nvPr/>
        </p:nvSpPr>
        <p:spPr>
          <a:xfrm>
            <a:off x="530352" y="1536192"/>
            <a:ext cx="10789920" cy="347472"/>
          </a:xfrm>
          <a:prstGeom prst="rect">
            <a:avLst/>
          </a:prstGeom>
          <a:noFill/>
        </p:spPr>
        <p:txBody>
          <a:bodyPr wrap="square" lIns="36576" rIns="36576" tIns="36576" bIns="36576" anchor="ctr">
            <a:noAutofit/>
          </a:bodyPr>
          <a:lstStyle/>
          <a:p>
            <a:pPr algn="l">
              <a:spcBef>
                <a:spcPts val="0"/>
              </a:spcBef>
              <a:spcAft>
                <a:spcPts val="0"/>
              </a:spcAft>
            </a:pPr>
            <a:r>
              <a:rPr sz="1300" b="0">
                <a:solidFill>
                  <a:srgbClr val="5E6D85"/>
                </a:solidFill>
                <a:latin typeface="Segoe UI"/>
              </a:rPr>
              <a:t>Instead of opening reports one by one, a BI user searches once and sees the connected report, model, measure, visual and source details.</a:t>
            </a:r>
          </a:p>
        </p:txBody>
      </p:sp>
      <p:sp>
        <p:nvSpPr>
          <p:cNvPr id="10" name="Rounded Rectangle 9"/>
          <p:cNvSpPr/>
          <p:nvPr/>
        </p:nvSpPr>
        <p:spPr>
          <a:xfrm>
            <a:off x="530352" y="2084831"/>
            <a:ext cx="2852928" cy="3584448"/>
          </a:xfrm>
          <a:prstGeom prst="roundRect">
            <a:avLst/>
          </a:prstGeom>
          <a:solidFill>
            <a:srgbClr val="10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13432"/>
            <a:ext cx="2377440" cy="228600"/>
          </a:xfrm>
          <a:prstGeom prst="rect">
            <a:avLst/>
          </a:prstGeom>
          <a:noFill/>
        </p:spPr>
        <p:txBody>
          <a:bodyPr wrap="square" lIns="36576" rIns="36576" tIns="36576" bIns="36576" anchor="t">
            <a:noAutofit/>
          </a:bodyPr>
          <a:lstStyle/>
          <a:p>
            <a:pPr algn="l">
              <a:spcBef>
                <a:spcPts val="0"/>
              </a:spcBef>
              <a:spcAft>
                <a:spcPts val="0"/>
              </a:spcAft>
            </a:pPr>
            <a:r>
              <a:rPr sz="850" b="1">
                <a:solidFill>
                  <a:srgbClr val="8FB7FF"/>
                </a:solidFill>
                <a:latin typeface="Segoe UI"/>
              </a:rPr>
              <a:t>THE OLD WAY</a:t>
            </a:r>
          </a:p>
        </p:txBody>
      </p:sp>
      <p:sp>
        <p:nvSpPr>
          <p:cNvPr id="12" name="TextBox 11"/>
          <p:cNvSpPr txBox="1"/>
          <p:nvPr/>
        </p:nvSpPr>
        <p:spPr>
          <a:xfrm>
            <a:off x="768096" y="2660904"/>
            <a:ext cx="2304288" cy="1444752"/>
          </a:xfrm>
          <a:prstGeom prst="rect">
            <a:avLst/>
          </a:prstGeom>
          <a:noFill/>
        </p:spPr>
        <p:txBody>
          <a:bodyPr wrap="square" lIns="36576" rIns="36576" tIns="36576" bIns="36576" anchor="ctr">
            <a:noAutofit/>
          </a:bodyPr>
          <a:lstStyle/>
          <a:p>
            <a:pPr algn="l">
              <a:spcBef>
                <a:spcPts val="0"/>
              </a:spcBef>
              <a:spcAft>
                <a:spcPts val="0"/>
              </a:spcAft>
            </a:pPr>
            <a:r>
              <a:rPr sz="1700" b="1">
                <a:solidFill>
                  <a:srgbClr val="FFFFFF"/>
                </a:solidFill>
                <a:latin typeface="Segoe UI"/>
              </a:rPr>
              <a:t>"Open every report, inspect every model, and still wonder what changed."</a:t>
            </a:r>
          </a:p>
        </p:txBody>
      </p:sp>
      <p:cxnSp>
        <p:nvCxnSpPr>
          <p:cNvPr id="13" name="Connector 12"/>
          <p:cNvCxnSpPr/>
          <p:nvPr/>
        </p:nvCxnSpPr>
        <p:spPr>
          <a:xfrm>
            <a:off x="768096" y="4169663"/>
            <a:ext cx="2322576" cy="0"/>
          </a:xfrm>
          <a:prstGeom prst="line">
            <a:avLst/>
          </a:prstGeom>
          <a:ln w="10160">
            <a:solidFill>
              <a:srgbClr val="40506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 y="4315968"/>
            <a:ext cx="2286000" cy="347472"/>
          </a:xfrm>
          <a:prstGeom prst="rect">
            <a:avLst/>
          </a:prstGeom>
          <a:noFill/>
        </p:spPr>
        <p:txBody>
          <a:bodyPr wrap="square" lIns="36576" rIns="36576" tIns="36576" bIns="36576" anchor="t">
            <a:noAutofit/>
          </a:bodyPr>
          <a:lstStyle/>
          <a:p>
            <a:pPr algn="l">
              <a:spcBef>
                <a:spcPts val="0"/>
              </a:spcBef>
              <a:spcAft>
                <a:spcPts val="0"/>
              </a:spcAft>
            </a:pPr>
            <a:r>
              <a:rPr sz="950" b="0">
                <a:solidFill>
                  <a:srgbClr val="D9E3F1"/>
                </a:solidFill>
                <a:latin typeface="Segoe UI"/>
              </a:rPr>
              <a:t>The user has to jump between:</a:t>
            </a:r>
          </a:p>
        </p:txBody>
      </p:sp>
      <p:sp>
        <p:nvSpPr>
          <p:cNvPr id="15" name="Rounded Rectangle 14"/>
          <p:cNvSpPr/>
          <p:nvPr/>
        </p:nvSpPr>
        <p:spPr>
          <a:xfrm>
            <a:off x="768096" y="4754880"/>
            <a:ext cx="987552" cy="265176"/>
          </a:xfrm>
          <a:prstGeom prst="roundRect">
            <a:avLst/>
          </a:prstGeom>
          <a:solidFill>
            <a:srgbClr val="243653"/>
          </a:solidFill>
          <a:ln w="7620">
            <a:solidFill>
              <a:srgbClr val="405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754880"/>
            <a:ext cx="987552" cy="265176"/>
          </a:xfrm>
          <a:prstGeom prst="rect">
            <a:avLst/>
          </a:prstGeom>
          <a:noFill/>
        </p:spPr>
        <p:txBody>
          <a:bodyPr wrap="square" lIns="0" rIns="0" tIns="0" bIns="0" anchor="ctr">
            <a:noAutofit/>
          </a:bodyPr>
          <a:lstStyle/>
          <a:p>
            <a:pPr algn="ctr">
              <a:spcBef>
                <a:spcPts val="0"/>
              </a:spcBef>
              <a:spcAft>
                <a:spcPts val="0"/>
              </a:spcAft>
            </a:pPr>
            <a:r>
              <a:rPr sz="730" b="1">
                <a:solidFill>
                  <a:srgbClr val="FFFFFF"/>
                </a:solidFill>
                <a:latin typeface="Segoe UI"/>
              </a:rPr>
              <a:t>POWER BI</a:t>
            </a:r>
          </a:p>
        </p:txBody>
      </p:sp>
      <p:sp>
        <p:nvSpPr>
          <p:cNvPr id="17" name="Rounded Rectangle 16"/>
          <p:cNvSpPr/>
          <p:nvPr/>
        </p:nvSpPr>
        <p:spPr>
          <a:xfrm>
            <a:off x="1874519" y="4754880"/>
            <a:ext cx="987552" cy="265176"/>
          </a:xfrm>
          <a:prstGeom prst="roundRect">
            <a:avLst/>
          </a:prstGeom>
          <a:solidFill>
            <a:srgbClr val="243653"/>
          </a:solidFill>
          <a:ln w="7620">
            <a:solidFill>
              <a:srgbClr val="405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74519" y="4754880"/>
            <a:ext cx="987552" cy="265176"/>
          </a:xfrm>
          <a:prstGeom prst="rect">
            <a:avLst/>
          </a:prstGeom>
          <a:noFill/>
        </p:spPr>
        <p:txBody>
          <a:bodyPr wrap="square" lIns="0" rIns="0" tIns="0" bIns="0" anchor="ctr">
            <a:noAutofit/>
          </a:bodyPr>
          <a:lstStyle/>
          <a:p>
            <a:pPr algn="ctr">
              <a:spcBef>
                <a:spcPts val="0"/>
              </a:spcBef>
              <a:spcAft>
                <a:spcPts val="0"/>
              </a:spcAft>
            </a:pPr>
            <a:r>
              <a:rPr sz="730" b="1">
                <a:solidFill>
                  <a:srgbClr val="FFFFFF"/>
                </a:solidFill>
                <a:latin typeface="Segoe UI"/>
              </a:rPr>
              <a:t>FABRIC</a:t>
            </a:r>
          </a:p>
        </p:txBody>
      </p:sp>
      <p:sp>
        <p:nvSpPr>
          <p:cNvPr id="19" name="Rounded Rectangle 18"/>
          <p:cNvSpPr/>
          <p:nvPr/>
        </p:nvSpPr>
        <p:spPr>
          <a:xfrm>
            <a:off x="768096" y="5120640"/>
            <a:ext cx="987552" cy="265176"/>
          </a:xfrm>
          <a:prstGeom prst="roundRect">
            <a:avLst/>
          </a:prstGeom>
          <a:solidFill>
            <a:srgbClr val="243653"/>
          </a:solidFill>
          <a:ln w="7620">
            <a:solidFill>
              <a:srgbClr val="405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5120640"/>
            <a:ext cx="987552" cy="265176"/>
          </a:xfrm>
          <a:prstGeom prst="rect">
            <a:avLst/>
          </a:prstGeom>
          <a:noFill/>
        </p:spPr>
        <p:txBody>
          <a:bodyPr wrap="square" lIns="0" rIns="0" tIns="0" bIns="0" anchor="ctr">
            <a:noAutofit/>
          </a:bodyPr>
          <a:lstStyle/>
          <a:p>
            <a:pPr algn="ctr">
              <a:spcBef>
                <a:spcPts val="0"/>
              </a:spcBef>
              <a:spcAft>
                <a:spcPts val="0"/>
              </a:spcAft>
            </a:pPr>
            <a:r>
              <a:rPr sz="730" b="1">
                <a:solidFill>
                  <a:srgbClr val="FFFFFF"/>
                </a:solidFill>
                <a:latin typeface="Segoe UI"/>
              </a:rPr>
              <a:t>XMLA</a:t>
            </a:r>
          </a:p>
        </p:txBody>
      </p:sp>
      <p:sp>
        <p:nvSpPr>
          <p:cNvPr id="21" name="Rounded Rectangle 20"/>
          <p:cNvSpPr/>
          <p:nvPr/>
        </p:nvSpPr>
        <p:spPr>
          <a:xfrm>
            <a:off x="1874519" y="5120640"/>
            <a:ext cx="987552" cy="265176"/>
          </a:xfrm>
          <a:prstGeom prst="roundRect">
            <a:avLst/>
          </a:prstGeom>
          <a:solidFill>
            <a:srgbClr val="243653"/>
          </a:solidFill>
          <a:ln w="7620">
            <a:solidFill>
              <a:srgbClr val="405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74519" y="5120640"/>
            <a:ext cx="987552" cy="265176"/>
          </a:xfrm>
          <a:prstGeom prst="rect">
            <a:avLst/>
          </a:prstGeom>
          <a:noFill/>
        </p:spPr>
        <p:txBody>
          <a:bodyPr wrap="square" lIns="0" rIns="0" tIns="0" bIns="0" anchor="ctr">
            <a:noAutofit/>
          </a:bodyPr>
          <a:lstStyle/>
          <a:p>
            <a:pPr algn="ctr">
              <a:spcBef>
                <a:spcPts val="0"/>
              </a:spcBef>
              <a:spcAft>
                <a:spcPts val="0"/>
              </a:spcAft>
            </a:pPr>
            <a:r>
              <a:rPr sz="730" b="1">
                <a:solidFill>
                  <a:srgbClr val="FFFFFF"/>
                </a:solidFill>
                <a:latin typeface="Segoe UI"/>
              </a:rPr>
              <a:t>SNOWFLAKE</a:t>
            </a:r>
          </a:p>
        </p:txBody>
      </p:sp>
      <p:sp>
        <p:nvSpPr>
          <p:cNvPr id="23" name="TextBox 22"/>
          <p:cNvSpPr txBox="1"/>
          <p:nvPr/>
        </p:nvSpPr>
        <p:spPr>
          <a:xfrm>
            <a:off x="3675887" y="2121408"/>
            <a:ext cx="4297680" cy="310896"/>
          </a:xfrm>
          <a:prstGeom prst="rect">
            <a:avLst/>
          </a:prstGeom>
          <a:noFill/>
        </p:spPr>
        <p:txBody>
          <a:bodyPr wrap="square" lIns="36576" rIns="36576" tIns="36576" bIns="36576" anchor="t">
            <a:noAutofit/>
          </a:bodyPr>
          <a:lstStyle/>
          <a:p>
            <a:pPr algn="l">
              <a:spcBef>
                <a:spcPts val="0"/>
              </a:spcBef>
              <a:spcAft>
                <a:spcPts val="0"/>
              </a:spcAft>
            </a:pPr>
            <a:r>
              <a:rPr sz="1400" b="1">
                <a:solidFill>
                  <a:srgbClr val="10213D"/>
                </a:solidFill>
                <a:latin typeface="Segoe UI"/>
              </a:rPr>
              <a:t>The app does the report-by-report work</a:t>
            </a:r>
          </a:p>
        </p:txBody>
      </p:sp>
      <p:sp>
        <p:nvSpPr>
          <p:cNvPr id="24" name="TextBox 23"/>
          <p:cNvSpPr txBox="1"/>
          <p:nvPr/>
        </p:nvSpPr>
        <p:spPr>
          <a:xfrm>
            <a:off x="3675887" y="2459736"/>
            <a:ext cx="4251960" cy="384048"/>
          </a:xfrm>
          <a:prstGeom prst="rect">
            <a:avLst/>
          </a:prstGeom>
          <a:noFill/>
        </p:spPr>
        <p:txBody>
          <a:bodyPr wrap="square" lIns="36576" rIns="36576" tIns="36576" bIns="36576" anchor="t">
            <a:noAutofit/>
          </a:bodyPr>
          <a:lstStyle/>
          <a:p>
            <a:pPr algn="l">
              <a:spcBef>
                <a:spcPts val="0"/>
              </a:spcBef>
              <a:spcAft>
                <a:spcPts val="0"/>
              </a:spcAft>
            </a:pPr>
            <a:r>
              <a:rPr sz="950" b="0">
                <a:solidFill>
                  <a:srgbClr val="5E6D85"/>
                </a:solidFill>
                <a:latin typeface="Segoe UI"/>
              </a:rPr>
              <a:t>It inventories authorized assets, joins metadata by stable IDs and traces impact across BI and source layers.</a:t>
            </a:r>
          </a:p>
        </p:txBody>
      </p:sp>
      <p:sp>
        <p:nvSpPr>
          <p:cNvPr id="25" name="Rounded Rectangle 24"/>
          <p:cNvSpPr/>
          <p:nvPr/>
        </p:nvSpPr>
        <p:spPr>
          <a:xfrm>
            <a:off x="3694176" y="2990088"/>
            <a:ext cx="1170432" cy="841248"/>
          </a:xfrm>
          <a:prstGeom prst="roundRect">
            <a:avLst/>
          </a:prstGeom>
          <a:solidFill>
            <a:srgbClr val="EAF2FF"/>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803904" y="3118104"/>
            <a:ext cx="29260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03904" y="3118104"/>
            <a:ext cx="292608" cy="292608"/>
          </a:xfrm>
          <a:prstGeom prst="rect">
            <a:avLst/>
          </a:prstGeom>
          <a:noFill/>
        </p:spPr>
        <p:txBody>
          <a:bodyPr wrap="square" lIns="0" rIns="0" tIns="0" bIns="0" anchor="ctr">
            <a:noAutofit/>
          </a:bodyPr>
          <a:lstStyle/>
          <a:p>
            <a:pPr algn="ctr">
              <a:spcBef>
                <a:spcPts val="0"/>
              </a:spcBef>
              <a:spcAft>
                <a:spcPts val="0"/>
              </a:spcAft>
            </a:pPr>
            <a:r>
              <a:rPr sz="850" b="1">
                <a:solidFill>
                  <a:srgbClr val="FFFFFF"/>
                </a:solidFill>
                <a:latin typeface="Segoe UI"/>
              </a:rPr>
              <a:t>R</a:t>
            </a:r>
          </a:p>
        </p:txBody>
      </p:sp>
      <p:sp>
        <p:nvSpPr>
          <p:cNvPr id="28" name="TextBox 27"/>
          <p:cNvSpPr txBox="1"/>
          <p:nvPr/>
        </p:nvSpPr>
        <p:spPr>
          <a:xfrm>
            <a:off x="3803904" y="3493008"/>
            <a:ext cx="950976" cy="219456"/>
          </a:xfrm>
          <a:prstGeom prst="rect">
            <a:avLst/>
          </a:prstGeom>
          <a:noFill/>
        </p:spPr>
        <p:txBody>
          <a:bodyPr wrap="square" lIns="0" rIns="0" tIns="0" bIns="0" anchor="ctr">
            <a:noAutofit/>
          </a:bodyPr>
          <a:lstStyle/>
          <a:p>
            <a:pPr algn="ctr">
              <a:spcBef>
                <a:spcPts val="0"/>
              </a:spcBef>
              <a:spcAft>
                <a:spcPts val="0"/>
              </a:spcAft>
            </a:pPr>
            <a:r>
              <a:rPr sz="919" b="1">
                <a:solidFill>
                  <a:srgbClr val="17233A"/>
                </a:solidFill>
                <a:latin typeface="Segoe UI"/>
              </a:rPr>
              <a:t>Report</a:t>
            </a:r>
          </a:p>
        </p:txBody>
      </p:sp>
      <p:sp>
        <p:nvSpPr>
          <p:cNvPr id="29" name="Rounded Rectangle 28"/>
          <p:cNvSpPr/>
          <p:nvPr/>
        </p:nvSpPr>
        <p:spPr>
          <a:xfrm>
            <a:off x="5184648" y="2990088"/>
            <a:ext cx="1170432" cy="841248"/>
          </a:xfrm>
          <a:prstGeom prst="roundRect">
            <a:avLst/>
          </a:prstGeom>
          <a:solidFill>
            <a:srgbClr val="E8F7F1"/>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294376" y="3118104"/>
            <a:ext cx="292608" cy="292608"/>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94376" y="3118104"/>
            <a:ext cx="292608" cy="292608"/>
          </a:xfrm>
          <a:prstGeom prst="rect">
            <a:avLst/>
          </a:prstGeom>
          <a:noFill/>
        </p:spPr>
        <p:txBody>
          <a:bodyPr wrap="square" lIns="0" rIns="0" tIns="0" bIns="0" anchor="ctr">
            <a:noAutofit/>
          </a:bodyPr>
          <a:lstStyle/>
          <a:p>
            <a:pPr algn="ctr">
              <a:spcBef>
                <a:spcPts val="0"/>
              </a:spcBef>
              <a:spcAft>
                <a:spcPts val="0"/>
              </a:spcAft>
            </a:pPr>
            <a:r>
              <a:rPr sz="850" b="1">
                <a:solidFill>
                  <a:srgbClr val="FFFFFF"/>
                </a:solidFill>
                <a:latin typeface="Segoe UI"/>
              </a:rPr>
              <a:t>V</a:t>
            </a:r>
          </a:p>
        </p:txBody>
      </p:sp>
      <p:sp>
        <p:nvSpPr>
          <p:cNvPr id="32" name="TextBox 31"/>
          <p:cNvSpPr txBox="1"/>
          <p:nvPr/>
        </p:nvSpPr>
        <p:spPr>
          <a:xfrm>
            <a:off x="5294376" y="3493008"/>
            <a:ext cx="950976" cy="219456"/>
          </a:xfrm>
          <a:prstGeom prst="rect">
            <a:avLst/>
          </a:prstGeom>
          <a:noFill/>
        </p:spPr>
        <p:txBody>
          <a:bodyPr wrap="square" lIns="0" rIns="0" tIns="0" bIns="0" anchor="ctr">
            <a:noAutofit/>
          </a:bodyPr>
          <a:lstStyle/>
          <a:p>
            <a:pPr algn="ctr">
              <a:spcBef>
                <a:spcPts val="0"/>
              </a:spcBef>
              <a:spcAft>
                <a:spcPts val="0"/>
              </a:spcAft>
            </a:pPr>
            <a:r>
              <a:rPr sz="919" b="1">
                <a:solidFill>
                  <a:srgbClr val="17233A"/>
                </a:solidFill>
                <a:latin typeface="Segoe UI"/>
              </a:rPr>
              <a:t>Visual</a:t>
            </a:r>
          </a:p>
        </p:txBody>
      </p:sp>
      <p:sp>
        <p:nvSpPr>
          <p:cNvPr id="33" name="Rounded Rectangle 32"/>
          <p:cNvSpPr/>
          <p:nvPr/>
        </p:nvSpPr>
        <p:spPr>
          <a:xfrm>
            <a:off x="6675120" y="2990088"/>
            <a:ext cx="1170432" cy="841248"/>
          </a:xfrm>
          <a:prstGeom prst="roundRect">
            <a:avLst/>
          </a:prstGeom>
          <a:solidFill>
            <a:srgbClr val="FFF0E8"/>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784848" y="3118104"/>
            <a:ext cx="292608" cy="29260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84848" y="3118104"/>
            <a:ext cx="292608" cy="292608"/>
          </a:xfrm>
          <a:prstGeom prst="rect">
            <a:avLst/>
          </a:prstGeom>
          <a:noFill/>
        </p:spPr>
        <p:txBody>
          <a:bodyPr wrap="square" lIns="0" rIns="0" tIns="0" bIns="0" anchor="ctr">
            <a:noAutofit/>
          </a:bodyPr>
          <a:lstStyle/>
          <a:p>
            <a:pPr algn="ctr">
              <a:spcBef>
                <a:spcPts val="0"/>
              </a:spcBef>
              <a:spcAft>
                <a:spcPts val="0"/>
              </a:spcAft>
            </a:pPr>
            <a:r>
              <a:rPr sz="850" b="1">
                <a:solidFill>
                  <a:srgbClr val="FFFFFF"/>
                </a:solidFill>
                <a:latin typeface="Segoe UI"/>
              </a:rPr>
              <a:t>M</a:t>
            </a:r>
          </a:p>
        </p:txBody>
      </p:sp>
      <p:sp>
        <p:nvSpPr>
          <p:cNvPr id="36" name="TextBox 35"/>
          <p:cNvSpPr txBox="1"/>
          <p:nvPr/>
        </p:nvSpPr>
        <p:spPr>
          <a:xfrm>
            <a:off x="6784848" y="3493008"/>
            <a:ext cx="950976" cy="219456"/>
          </a:xfrm>
          <a:prstGeom prst="rect">
            <a:avLst/>
          </a:prstGeom>
          <a:noFill/>
        </p:spPr>
        <p:txBody>
          <a:bodyPr wrap="square" lIns="0" rIns="0" tIns="0" bIns="0" anchor="ctr">
            <a:noAutofit/>
          </a:bodyPr>
          <a:lstStyle/>
          <a:p>
            <a:pPr algn="ctr">
              <a:spcBef>
                <a:spcPts val="0"/>
              </a:spcBef>
              <a:spcAft>
                <a:spcPts val="0"/>
              </a:spcAft>
            </a:pPr>
            <a:r>
              <a:rPr sz="919" b="1">
                <a:solidFill>
                  <a:srgbClr val="17233A"/>
                </a:solidFill>
                <a:latin typeface="Segoe UI"/>
              </a:rPr>
              <a:t>Measure</a:t>
            </a:r>
          </a:p>
        </p:txBody>
      </p:sp>
      <p:sp>
        <p:nvSpPr>
          <p:cNvPr id="37" name="Right Arrow 36"/>
          <p:cNvSpPr/>
          <p:nvPr/>
        </p:nvSpPr>
        <p:spPr>
          <a:xfrm>
            <a:off x="4910328" y="3300984"/>
            <a:ext cx="201168" cy="164592"/>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ight Arrow 37"/>
          <p:cNvSpPr/>
          <p:nvPr/>
        </p:nvSpPr>
        <p:spPr>
          <a:xfrm>
            <a:off x="6400800" y="3300984"/>
            <a:ext cx="201168" cy="164592"/>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694176" y="4279392"/>
            <a:ext cx="1170432" cy="841248"/>
          </a:xfrm>
          <a:prstGeom prst="roundRect">
            <a:avLst/>
          </a:prstGeom>
          <a:solidFill>
            <a:srgbClr val="E8F7F1"/>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3803904" y="4407407"/>
            <a:ext cx="292608" cy="292608"/>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03904" y="4407407"/>
            <a:ext cx="292608" cy="292608"/>
          </a:xfrm>
          <a:prstGeom prst="rect">
            <a:avLst/>
          </a:prstGeom>
          <a:noFill/>
        </p:spPr>
        <p:txBody>
          <a:bodyPr wrap="square" lIns="0" rIns="0" tIns="0" bIns="0" anchor="ctr">
            <a:noAutofit/>
          </a:bodyPr>
          <a:lstStyle/>
          <a:p>
            <a:pPr algn="ctr">
              <a:spcBef>
                <a:spcPts val="0"/>
              </a:spcBef>
              <a:spcAft>
                <a:spcPts val="0"/>
              </a:spcAft>
            </a:pPr>
            <a:r>
              <a:rPr sz="850" b="1">
                <a:solidFill>
                  <a:srgbClr val="FFFFFF"/>
                </a:solidFill>
                <a:latin typeface="Segoe UI"/>
              </a:rPr>
              <a:t>01</a:t>
            </a:r>
          </a:p>
        </p:txBody>
      </p:sp>
      <p:sp>
        <p:nvSpPr>
          <p:cNvPr id="42" name="TextBox 41"/>
          <p:cNvSpPr txBox="1"/>
          <p:nvPr/>
        </p:nvSpPr>
        <p:spPr>
          <a:xfrm>
            <a:off x="3803904" y="4782312"/>
            <a:ext cx="950976" cy="219456"/>
          </a:xfrm>
          <a:prstGeom prst="rect">
            <a:avLst/>
          </a:prstGeom>
          <a:noFill/>
        </p:spPr>
        <p:txBody>
          <a:bodyPr wrap="square" lIns="0" rIns="0" tIns="0" bIns="0" anchor="ctr">
            <a:noAutofit/>
          </a:bodyPr>
          <a:lstStyle/>
          <a:p>
            <a:pPr algn="ctr">
              <a:spcBef>
                <a:spcPts val="0"/>
              </a:spcBef>
              <a:spcAft>
                <a:spcPts val="0"/>
              </a:spcAft>
            </a:pPr>
            <a:r>
              <a:rPr sz="919" b="1">
                <a:solidFill>
                  <a:srgbClr val="17233A"/>
                </a:solidFill>
                <a:latin typeface="Segoe UI"/>
              </a:rPr>
              <a:t>Raw columns</a:t>
            </a:r>
          </a:p>
        </p:txBody>
      </p:sp>
      <p:sp>
        <p:nvSpPr>
          <p:cNvPr id="43" name="Rounded Rectangle 42"/>
          <p:cNvSpPr/>
          <p:nvPr/>
        </p:nvSpPr>
        <p:spPr>
          <a:xfrm>
            <a:off x="5184648" y="4279392"/>
            <a:ext cx="1170432" cy="841248"/>
          </a:xfrm>
          <a:prstGeom prst="roundRect">
            <a:avLst/>
          </a:prstGeom>
          <a:solidFill>
            <a:srgbClr val="E8F7F5"/>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294376" y="4407407"/>
            <a:ext cx="292608" cy="292608"/>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94376" y="4407407"/>
            <a:ext cx="292608" cy="292608"/>
          </a:xfrm>
          <a:prstGeom prst="rect">
            <a:avLst/>
          </a:prstGeom>
          <a:noFill/>
        </p:spPr>
        <p:txBody>
          <a:bodyPr wrap="square" lIns="0" rIns="0" tIns="0" bIns="0" anchor="ctr">
            <a:noAutofit/>
          </a:bodyPr>
          <a:lstStyle/>
          <a:p>
            <a:pPr algn="ctr">
              <a:spcBef>
                <a:spcPts val="0"/>
              </a:spcBef>
              <a:spcAft>
                <a:spcPts val="0"/>
              </a:spcAft>
            </a:pPr>
            <a:r>
              <a:rPr sz="850" b="1">
                <a:solidFill>
                  <a:srgbClr val="FFFFFF"/>
                </a:solidFill>
                <a:latin typeface="Segoe UI"/>
              </a:rPr>
              <a:t>DB</a:t>
            </a:r>
          </a:p>
        </p:txBody>
      </p:sp>
      <p:sp>
        <p:nvSpPr>
          <p:cNvPr id="46" name="TextBox 45"/>
          <p:cNvSpPr txBox="1"/>
          <p:nvPr/>
        </p:nvSpPr>
        <p:spPr>
          <a:xfrm>
            <a:off x="5294376" y="4782312"/>
            <a:ext cx="950976" cy="219456"/>
          </a:xfrm>
          <a:prstGeom prst="rect">
            <a:avLst/>
          </a:prstGeom>
          <a:noFill/>
        </p:spPr>
        <p:txBody>
          <a:bodyPr wrap="square" lIns="0" rIns="0" tIns="0" bIns="0" anchor="ctr">
            <a:noAutofit/>
          </a:bodyPr>
          <a:lstStyle/>
          <a:p>
            <a:pPr algn="ctr">
              <a:spcBef>
                <a:spcPts val="0"/>
              </a:spcBef>
              <a:spcAft>
                <a:spcPts val="0"/>
              </a:spcAft>
            </a:pPr>
            <a:r>
              <a:rPr sz="919" b="1">
                <a:solidFill>
                  <a:srgbClr val="17233A"/>
                </a:solidFill>
                <a:latin typeface="Segoe UI"/>
              </a:rPr>
              <a:t>Snowflake</a:t>
            </a:r>
          </a:p>
        </p:txBody>
      </p:sp>
      <p:sp>
        <p:nvSpPr>
          <p:cNvPr id="47" name="Rounded Rectangle 46"/>
          <p:cNvSpPr/>
          <p:nvPr/>
        </p:nvSpPr>
        <p:spPr>
          <a:xfrm>
            <a:off x="6675120" y="4279392"/>
            <a:ext cx="1170432" cy="841248"/>
          </a:xfrm>
          <a:prstGeom prst="roundRect">
            <a:avLst/>
          </a:prstGeom>
          <a:solidFill>
            <a:srgbClr val="EAF2FF"/>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784848" y="4407407"/>
            <a:ext cx="29260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84848" y="4407407"/>
            <a:ext cx="292608" cy="292608"/>
          </a:xfrm>
          <a:prstGeom prst="rect">
            <a:avLst/>
          </a:prstGeom>
          <a:noFill/>
        </p:spPr>
        <p:txBody>
          <a:bodyPr wrap="square" lIns="0" rIns="0" tIns="0" bIns="0" anchor="ctr">
            <a:noAutofit/>
          </a:bodyPr>
          <a:lstStyle/>
          <a:p>
            <a:pPr algn="ctr">
              <a:spcBef>
                <a:spcPts val="0"/>
              </a:spcBef>
              <a:spcAft>
                <a:spcPts val="0"/>
              </a:spcAft>
            </a:pPr>
            <a:r>
              <a:rPr sz="850" b="1">
                <a:solidFill>
                  <a:srgbClr val="FFFFFF"/>
                </a:solidFill>
                <a:latin typeface="Segoe UI"/>
              </a:rPr>
              <a:t>S</a:t>
            </a:r>
          </a:p>
        </p:txBody>
      </p:sp>
      <p:sp>
        <p:nvSpPr>
          <p:cNvPr id="50" name="TextBox 49"/>
          <p:cNvSpPr txBox="1"/>
          <p:nvPr/>
        </p:nvSpPr>
        <p:spPr>
          <a:xfrm>
            <a:off x="6784848" y="4782312"/>
            <a:ext cx="950976" cy="219456"/>
          </a:xfrm>
          <a:prstGeom prst="rect">
            <a:avLst/>
          </a:prstGeom>
          <a:noFill/>
        </p:spPr>
        <p:txBody>
          <a:bodyPr wrap="square" lIns="0" rIns="0" tIns="0" bIns="0" anchor="ctr">
            <a:noAutofit/>
          </a:bodyPr>
          <a:lstStyle/>
          <a:p>
            <a:pPr algn="ctr">
              <a:spcBef>
                <a:spcPts val="0"/>
              </a:spcBef>
              <a:spcAft>
                <a:spcPts val="0"/>
              </a:spcAft>
            </a:pPr>
            <a:r>
              <a:rPr sz="919" b="1">
                <a:solidFill>
                  <a:srgbClr val="17233A"/>
                </a:solidFill>
                <a:latin typeface="Segoe UI"/>
              </a:rPr>
              <a:t>Model</a:t>
            </a:r>
          </a:p>
        </p:txBody>
      </p:sp>
      <p:sp>
        <p:nvSpPr>
          <p:cNvPr id="51" name="Down Arrow 50"/>
          <p:cNvSpPr/>
          <p:nvPr/>
        </p:nvSpPr>
        <p:spPr>
          <a:xfrm>
            <a:off x="7132320" y="3913632"/>
            <a:ext cx="256032" cy="274320"/>
          </a:xfrm>
          <a:prstGeom prst="down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eft Arrow 51"/>
          <p:cNvSpPr/>
          <p:nvPr/>
        </p:nvSpPr>
        <p:spPr>
          <a:xfrm>
            <a:off x="6400800" y="4590288"/>
            <a:ext cx="201168" cy="164592"/>
          </a:xfrm>
          <a:prstGeom prst="leftArrow">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Left Arrow 52"/>
          <p:cNvSpPr/>
          <p:nvPr/>
        </p:nvSpPr>
        <p:spPr>
          <a:xfrm>
            <a:off x="4910328" y="4590288"/>
            <a:ext cx="201168" cy="164592"/>
          </a:xfrm>
          <a:prstGeom prst="leftArrow">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3675887" y="5321808"/>
            <a:ext cx="4178808" cy="347472"/>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75887" y="5321808"/>
            <a:ext cx="4178808" cy="347472"/>
          </a:xfrm>
          <a:prstGeom prst="rect">
            <a:avLst/>
          </a:prstGeom>
          <a:noFill/>
        </p:spPr>
        <p:txBody>
          <a:bodyPr wrap="square" lIns="0" rIns="0" tIns="0" bIns="0" anchor="ctr">
            <a:noAutofit/>
          </a:bodyPr>
          <a:lstStyle/>
          <a:p>
            <a:pPr algn="ctr">
              <a:spcBef>
                <a:spcPts val="0"/>
              </a:spcBef>
              <a:spcAft>
                <a:spcPts val="0"/>
              </a:spcAft>
            </a:pPr>
            <a:r>
              <a:rPr sz="800" b="1">
                <a:solidFill>
                  <a:srgbClr val="10213D"/>
                </a:solidFill>
                <a:latin typeface="Segoe UI"/>
              </a:rPr>
              <a:t>ONE SEARCH  |  MINUTES TO AN EVIDENCE-BACKED ANSWER</a:t>
            </a:r>
          </a:p>
        </p:txBody>
      </p:sp>
      <p:sp>
        <p:nvSpPr>
          <p:cNvPr id="56" name="TextBox 55"/>
          <p:cNvSpPr txBox="1"/>
          <p:nvPr/>
        </p:nvSpPr>
        <p:spPr>
          <a:xfrm>
            <a:off x="8275320" y="2121408"/>
            <a:ext cx="3291840" cy="310896"/>
          </a:xfrm>
          <a:prstGeom prst="rect">
            <a:avLst/>
          </a:prstGeom>
          <a:noFill/>
        </p:spPr>
        <p:txBody>
          <a:bodyPr wrap="square" lIns="36576" rIns="36576" tIns="36576" bIns="36576" anchor="t">
            <a:noAutofit/>
          </a:bodyPr>
          <a:lstStyle/>
          <a:p>
            <a:pPr algn="l">
              <a:spcBef>
                <a:spcPts val="0"/>
              </a:spcBef>
              <a:spcAft>
                <a:spcPts val="0"/>
              </a:spcAft>
            </a:pPr>
            <a:r>
              <a:rPr sz="1400" b="1">
                <a:solidFill>
                  <a:srgbClr val="10213D"/>
                </a:solidFill>
                <a:latin typeface="Segoe UI"/>
              </a:rPr>
              <a:t>What people gain</a:t>
            </a:r>
          </a:p>
        </p:txBody>
      </p:sp>
      <p:sp>
        <p:nvSpPr>
          <p:cNvPr id="57" name="Rounded Rectangle 56"/>
          <p:cNvSpPr/>
          <p:nvPr/>
        </p:nvSpPr>
        <p:spPr>
          <a:xfrm>
            <a:off x="8275320" y="2633472"/>
            <a:ext cx="3291840" cy="768096"/>
          </a:xfrm>
          <a:prstGeom prst="roundRect">
            <a:avLst/>
          </a:prstGeom>
          <a:solidFill>
            <a:srgbClr val="FFFFFF"/>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275320" y="2633472"/>
            <a:ext cx="64008" cy="76809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58200" y="2743200"/>
            <a:ext cx="2999232" cy="237744"/>
          </a:xfrm>
          <a:prstGeom prst="rect">
            <a:avLst/>
          </a:prstGeom>
          <a:noFill/>
        </p:spPr>
        <p:txBody>
          <a:bodyPr wrap="square" lIns="36576" rIns="36576" tIns="36576" bIns="36576" anchor="t">
            <a:noAutofit/>
          </a:bodyPr>
          <a:lstStyle/>
          <a:p>
            <a:pPr algn="l">
              <a:spcBef>
                <a:spcPts val="0"/>
              </a:spcBef>
              <a:spcAft>
                <a:spcPts val="0"/>
              </a:spcAft>
            </a:pPr>
            <a:r>
              <a:rPr sz="1200" b="1">
                <a:solidFill>
                  <a:srgbClr val="17233A"/>
                </a:solidFill>
                <a:latin typeface="Segoe UI"/>
              </a:rPr>
              <a:t>Minutes, not hours</a:t>
            </a:r>
          </a:p>
        </p:txBody>
      </p:sp>
      <p:sp>
        <p:nvSpPr>
          <p:cNvPr id="60" name="TextBox 59"/>
          <p:cNvSpPr txBox="1"/>
          <p:nvPr/>
        </p:nvSpPr>
        <p:spPr>
          <a:xfrm>
            <a:off x="8458200" y="3035808"/>
            <a:ext cx="2999232" cy="283463"/>
          </a:xfrm>
          <a:prstGeom prst="rect">
            <a:avLst/>
          </a:prstGeom>
          <a:noFill/>
        </p:spPr>
        <p:txBody>
          <a:bodyPr wrap="square" lIns="36576" rIns="36576" tIns="36576" bIns="36576" anchor="t">
            <a:noAutofit/>
          </a:bodyPr>
          <a:lstStyle/>
          <a:p>
            <a:pPr algn="l">
              <a:spcBef>
                <a:spcPts val="0"/>
              </a:spcBef>
              <a:spcAft>
                <a:spcPts val="0"/>
              </a:spcAft>
            </a:pPr>
            <a:r>
              <a:rPr sz="850" b="0">
                <a:solidFill>
                  <a:srgbClr val="5E6D85"/>
                </a:solidFill>
                <a:latin typeface="Segoe UI"/>
              </a:rPr>
              <a:t>Ask once instead of checking every report and semantic model manually.</a:t>
            </a:r>
          </a:p>
        </p:txBody>
      </p:sp>
      <p:sp>
        <p:nvSpPr>
          <p:cNvPr id="61" name="Rounded Rectangle 60"/>
          <p:cNvSpPr/>
          <p:nvPr/>
        </p:nvSpPr>
        <p:spPr>
          <a:xfrm>
            <a:off x="8275320" y="3557016"/>
            <a:ext cx="3291840" cy="768096"/>
          </a:xfrm>
          <a:prstGeom prst="roundRect">
            <a:avLst/>
          </a:prstGeom>
          <a:solidFill>
            <a:srgbClr val="FFFFFF"/>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275320" y="3557016"/>
            <a:ext cx="64008" cy="76809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58200" y="3666744"/>
            <a:ext cx="2999232" cy="237744"/>
          </a:xfrm>
          <a:prstGeom prst="rect">
            <a:avLst/>
          </a:prstGeom>
          <a:noFill/>
        </p:spPr>
        <p:txBody>
          <a:bodyPr wrap="square" lIns="36576" rIns="36576" tIns="36576" bIns="36576" anchor="t">
            <a:noAutofit/>
          </a:bodyPr>
          <a:lstStyle/>
          <a:p>
            <a:pPr algn="l">
              <a:spcBef>
                <a:spcPts val="0"/>
              </a:spcBef>
              <a:spcAft>
                <a:spcPts val="0"/>
              </a:spcAft>
            </a:pPr>
            <a:r>
              <a:rPr sz="1200" b="1">
                <a:solidFill>
                  <a:srgbClr val="17233A"/>
                </a:solidFill>
                <a:latin typeface="Segoe UI"/>
              </a:rPr>
              <a:t>Complete impact view</a:t>
            </a:r>
          </a:p>
        </p:txBody>
      </p:sp>
      <p:sp>
        <p:nvSpPr>
          <p:cNvPr id="64" name="TextBox 63"/>
          <p:cNvSpPr txBox="1"/>
          <p:nvPr/>
        </p:nvSpPr>
        <p:spPr>
          <a:xfrm>
            <a:off x="8458200" y="3959352"/>
            <a:ext cx="2999232" cy="283463"/>
          </a:xfrm>
          <a:prstGeom prst="rect">
            <a:avLst/>
          </a:prstGeom>
          <a:noFill/>
        </p:spPr>
        <p:txBody>
          <a:bodyPr wrap="square" lIns="36576" rIns="36576" tIns="36576" bIns="36576" anchor="t">
            <a:noAutofit/>
          </a:bodyPr>
          <a:lstStyle/>
          <a:p>
            <a:pPr algn="l">
              <a:spcBef>
                <a:spcPts val="0"/>
              </a:spcBef>
              <a:spcAft>
                <a:spcPts val="0"/>
              </a:spcAft>
            </a:pPr>
            <a:r>
              <a:rPr sz="850" b="0">
                <a:solidFill>
                  <a:srgbClr val="5E6D85"/>
                </a:solidFill>
                <a:latin typeface="Segoe UI"/>
              </a:rPr>
              <a:t>See affected reports, measures, visuals, tables and Snowflake sources.</a:t>
            </a:r>
          </a:p>
        </p:txBody>
      </p:sp>
      <p:sp>
        <p:nvSpPr>
          <p:cNvPr id="65" name="Rounded Rectangle 64"/>
          <p:cNvSpPr/>
          <p:nvPr/>
        </p:nvSpPr>
        <p:spPr>
          <a:xfrm>
            <a:off x="8275320" y="4480560"/>
            <a:ext cx="3291840" cy="768096"/>
          </a:xfrm>
          <a:prstGeom prst="roundRect">
            <a:avLst/>
          </a:prstGeom>
          <a:solidFill>
            <a:srgbClr val="FFFFFF"/>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275320" y="4480560"/>
            <a:ext cx="64008" cy="76809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58200" y="4590288"/>
            <a:ext cx="2999232" cy="237744"/>
          </a:xfrm>
          <a:prstGeom prst="rect">
            <a:avLst/>
          </a:prstGeom>
          <a:noFill/>
        </p:spPr>
        <p:txBody>
          <a:bodyPr wrap="square" lIns="36576" rIns="36576" tIns="36576" bIns="36576" anchor="t">
            <a:noAutofit/>
          </a:bodyPr>
          <a:lstStyle/>
          <a:p>
            <a:pPr algn="l">
              <a:spcBef>
                <a:spcPts val="0"/>
              </a:spcBef>
              <a:spcAft>
                <a:spcPts val="0"/>
              </a:spcAft>
            </a:pPr>
            <a:r>
              <a:rPr sz="1200" b="1">
                <a:solidFill>
                  <a:srgbClr val="17233A"/>
                </a:solidFill>
                <a:latin typeface="Segoe UI"/>
              </a:rPr>
              <a:t>Clean output</a:t>
            </a:r>
          </a:p>
        </p:txBody>
      </p:sp>
      <p:sp>
        <p:nvSpPr>
          <p:cNvPr id="68" name="TextBox 67"/>
          <p:cNvSpPr txBox="1"/>
          <p:nvPr/>
        </p:nvSpPr>
        <p:spPr>
          <a:xfrm>
            <a:off x="8458200" y="4882896"/>
            <a:ext cx="2999232" cy="283463"/>
          </a:xfrm>
          <a:prstGeom prst="rect">
            <a:avLst/>
          </a:prstGeom>
          <a:noFill/>
        </p:spPr>
        <p:txBody>
          <a:bodyPr wrap="square" lIns="36576" rIns="36576" tIns="36576" bIns="36576" anchor="t">
            <a:noAutofit/>
          </a:bodyPr>
          <a:lstStyle/>
          <a:p>
            <a:pPr algn="l">
              <a:spcBef>
                <a:spcPts val="0"/>
              </a:spcBef>
              <a:spcAft>
                <a:spcPts val="0"/>
              </a:spcAft>
            </a:pPr>
            <a:r>
              <a:rPr sz="850" b="0">
                <a:solidFill>
                  <a:srgbClr val="5E6D85"/>
                </a:solidFill>
                <a:latin typeface="Segoe UI"/>
              </a:rPr>
              <a:t>Download the actual PowerAI response as simple Markdown.</a:t>
            </a:r>
          </a:p>
        </p:txBody>
      </p:sp>
      <p:sp>
        <p:nvSpPr>
          <p:cNvPr id="69" name="TextBox 68"/>
          <p:cNvSpPr txBox="1"/>
          <p:nvPr/>
        </p:nvSpPr>
        <p:spPr>
          <a:xfrm>
            <a:off x="8302752" y="5385816"/>
            <a:ext cx="3246120" cy="274320"/>
          </a:xfrm>
          <a:prstGeom prst="rect">
            <a:avLst/>
          </a:prstGeom>
          <a:noFill/>
        </p:spPr>
        <p:txBody>
          <a:bodyPr wrap="square" lIns="36576" rIns="36576" tIns="36576" bIns="36576" anchor="ctr">
            <a:noAutofit/>
          </a:bodyPr>
          <a:lstStyle/>
          <a:p>
            <a:pPr algn="ctr">
              <a:spcBef>
                <a:spcPts val="0"/>
              </a:spcBef>
              <a:spcAft>
                <a:spcPts val="0"/>
              </a:spcAft>
            </a:pPr>
            <a:r>
              <a:rPr sz="869" b="1">
                <a:solidFill>
                  <a:srgbClr val="5E6D85"/>
                </a:solidFill>
                <a:latin typeface="Segoe UI"/>
              </a:rPr>
              <a:t>The app explains evidence; it does not invent lineage.</a:t>
            </a:r>
          </a:p>
        </p:txBody>
      </p:sp>
      <p:sp>
        <p:nvSpPr>
          <p:cNvPr id="70" name="Rounded Rectangle 69"/>
          <p:cNvSpPr/>
          <p:nvPr/>
        </p:nvSpPr>
        <p:spPr>
          <a:xfrm>
            <a:off x="530352" y="5989320"/>
            <a:ext cx="11036808" cy="420624"/>
          </a:xfrm>
          <a:prstGeom prst="roundRect">
            <a:avLst/>
          </a:prstGeom>
          <a:solidFill>
            <a:srgbClr val="10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13232" y="5989320"/>
            <a:ext cx="10671048" cy="420624"/>
          </a:xfrm>
          <a:prstGeom prst="rect">
            <a:avLst/>
          </a:prstGeom>
          <a:noFill/>
        </p:spPr>
        <p:txBody>
          <a:bodyPr wrap="square" lIns="0" rIns="0" tIns="0" bIns="0" anchor="ctr">
            <a:noAutofit/>
          </a:bodyPr>
          <a:lstStyle/>
          <a:p>
            <a:pPr algn="ctr">
              <a:spcBef>
                <a:spcPts val="0"/>
              </a:spcBef>
              <a:spcAft>
                <a:spcPts val="0"/>
              </a:spcAft>
            </a:pPr>
            <a:r>
              <a:rPr sz="1000" b="1">
                <a:solidFill>
                  <a:srgbClr val="FFFFFF"/>
                </a:solidFill>
                <a:latin typeface="Segoe UI"/>
              </a:rPr>
              <a:t>OUTCOME: FEWER MANUAL CHECKS. FASTER CONFIDENCE. SAFER BI CHANGES.</a:t>
            </a:r>
          </a:p>
        </p:txBody>
      </p:sp>
      <p:sp>
        <p:nvSpPr>
          <p:cNvPr id="72" name="TextBox 71"/>
          <p:cNvSpPr txBox="1"/>
          <p:nvPr/>
        </p:nvSpPr>
        <p:spPr>
          <a:xfrm>
            <a:off x="530352" y="6528816"/>
            <a:ext cx="4754880" cy="201168"/>
          </a:xfrm>
          <a:prstGeom prst="rect">
            <a:avLst/>
          </a:prstGeom>
          <a:noFill/>
        </p:spPr>
        <p:txBody>
          <a:bodyPr wrap="square" lIns="36576" rIns="36576" tIns="36576" bIns="36576" anchor="ctr">
            <a:noAutofit/>
          </a:bodyPr>
          <a:lstStyle/>
          <a:p>
            <a:pPr algn="l">
              <a:spcBef>
                <a:spcPts val="0"/>
              </a:spcBef>
              <a:spcAft>
                <a:spcPts val="0"/>
              </a:spcAft>
            </a:pPr>
            <a:r>
              <a:rPr sz="750" b="1">
                <a:solidFill>
                  <a:srgbClr val="5E6D85"/>
                </a:solidFill>
                <a:latin typeface="Segoe UI"/>
              </a:rPr>
              <a:t>PBI LINEAGE EXPLORER  |  POWER BI + FABRIC + XMLA + SNOWFLAKE</a:t>
            </a:r>
          </a:p>
        </p:txBody>
      </p:sp>
      <p:sp>
        <p:nvSpPr>
          <p:cNvPr id="73" name="TextBox 72"/>
          <p:cNvSpPr txBox="1"/>
          <p:nvPr/>
        </p:nvSpPr>
        <p:spPr>
          <a:xfrm>
            <a:off x="11320272" y="6528816"/>
            <a:ext cx="347472" cy="201168"/>
          </a:xfrm>
          <a:prstGeom prst="rect">
            <a:avLst/>
          </a:prstGeom>
          <a:noFill/>
        </p:spPr>
        <p:txBody>
          <a:bodyPr wrap="square" lIns="36576" rIns="36576" tIns="36576" bIns="36576" anchor="ctr">
            <a:noAutofit/>
          </a:bodyPr>
          <a:lstStyle/>
          <a:p>
            <a:pPr algn="r">
              <a:spcBef>
                <a:spcPts val="0"/>
              </a:spcBef>
              <a:spcAft>
                <a:spcPts val="0"/>
              </a:spcAft>
            </a:pPr>
            <a:r>
              <a:rPr sz="750" b="1">
                <a:solidFill>
                  <a:srgbClr val="5E6D85"/>
                </a:solidFill>
                <a:latin typeface="Segoe U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02920" y="310896"/>
            <a:ext cx="402336" cy="3657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402336" cy="365760"/>
          </a:xfrm>
          <a:prstGeom prst="rect">
            <a:avLst/>
          </a:prstGeom>
          <a:noFill/>
        </p:spPr>
        <p:txBody>
          <a:bodyPr wrap="square" lIns="0" rIns="0" tIns="0" bIns="0" anchor="ctr">
            <a:noAutofit/>
          </a:bodyPr>
          <a:lstStyle/>
          <a:p>
            <a:pPr algn="ctr">
              <a:spcBef>
                <a:spcPts val="0"/>
              </a:spcBef>
              <a:spcAft>
                <a:spcPts val="0"/>
              </a:spcAft>
            </a:pPr>
            <a:r>
              <a:rPr sz="900" b="1">
                <a:solidFill>
                  <a:srgbClr val="FFFFFF"/>
                </a:solidFill>
                <a:latin typeface="Segoe UI"/>
              </a:rPr>
              <a:t>PBI</a:t>
            </a:r>
          </a:p>
        </p:txBody>
      </p:sp>
      <p:sp>
        <p:nvSpPr>
          <p:cNvPr id="4" name="TextBox 3"/>
          <p:cNvSpPr txBox="1"/>
          <p:nvPr/>
        </p:nvSpPr>
        <p:spPr>
          <a:xfrm>
            <a:off x="987552" y="301752"/>
            <a:ext cx="2194560" cy="384048"/>
          </a:xfrm>
          <a:prstGeom prst="rect">
            <a:avLst/>
          </a:prstGeom>
          <a:noFill/>
        </p:spPr>
        <p:txBody>
          <a:bodyPr wrap="square" lIns="36576" rIns="36576" tIns="36576" bIns="36576" anchor="ctr">
            <a:noAutofit/>
          </a:bodyPr>
          <a:lstStyle/>
          <a:p>
            <a:pPr algn="l">
              <a:spcBef>
                <a:spcPts val="0"/>
              </a:spcBef>
              <a:spcAft>
                <a:spcPts val="0"/>
              </a:spcAft>
            </a:pPr>
            <a:r>
              <a:rPr sz="1500" b="1">
                <a:solidFill>
                  <a:srgbClr val="10213D"/>
                </a:solidFill>
                <a:latin typeface="Segoe UI"/>
              </a:rPr>
              <a:t>Lineage Explorer</a:t>
            </a:r>
          </a:p>
        </p:txBody>
      </p:sp>
      <p:sp>
        <p:nvSpPr>
          <p:cNvPr id="5" name="TextBox 4"/>
          <p:cNvSpPr txBox="1"/>
          <p:nvPr/>
        </p:nvSpPr>
        <p:spPr>
          <a:xfrm>
            <a:off x="8823960" y="338328"/>
            <a:ext cx="2606040" cy="274320"/>
          </a:xfrm>
          <a:prstGeom prst="rect">
            <a:avLst/>
          </a:prstGeom>
          <a:noFill/>
        </p:spPr>
        <p:txBody>
          <a:bodyPr wrap="square" lIns="36576" rIns="36576" tIns="36576" bIns="36576" anchor="ctr">
            <a:noAutofit/>
          </a:bodyPr>
          <a:lstStyle/>
          <a:p>
            <a:pPr algn="r">
              <a:spcBef>
                <a:spcPts val="0"/>
              </a:spcBef>
              <a:spcAft>
                <a:spcPts val="0"/>
              </a:spcAft>
            </a:pPr>
            <a:r>
              <a:rPr sz="850" b="1">
                <a:solidFill>
                  <a:srgbClr val="2563EB"/>
                </a:solidFill>
                <a:latin typeface="Segoe UI"/>
              </a:rPr>
              <a:t>02  /  ARCHITECTURE + BI USER FLOW</a:t>
            </a:r>
          </a:p>
        </p:txBody>
      </p:sp>
      <p:sp>
        <p:nvSpPr>
          <p:cNvPr id="6" name="TextBox 5"/>
          <p:cNvSpPr txBox="1"/>
          <p:nvPr/>
        </p:nvSpPr>
        <p:spPr>
          <a:xfrm>
            <a:off x="11457432" y="338328"/>
            <a:ext cx="228600" cy="274320"/>
          </a:xfrm>
          <a:prstGeom prst="rect">
            <a:avLst/>
          </a:prstGeom>
          <a:noFill/>
        </p:spPr>
        <p:txBody>
          <a:bodyPr wrap="square" lIns="36576" rIns="36576" tIns="36576" bIns="36576" anchor="ctr">
            <a:noAutofit/>
          </a:bodyPr>
          <a:lstStyle/>
          <a:p>
            <a:pPr algn="r">
              <a:spcBef>
                <a:spcPts val="0"/>
              </a:spcBef>
              <a:spcAft>
                <a:spcPts val="0"/>
              </a:spcAft>
            </a:pPr>
            <a:r>
              <a:rPr sz="850" b="1">
                <a:solidFill>
                  <a:srgbClr val="5E6D85"/>
                </a:solidFill>
                <a:latin typeface="Segoe UI"/>
              </a:rPr>
              <a:t>02</a:t>
            </a:r>
          </a:p>
        </p:txBody>
      </p:sp>
      <p:cxnSp>
        <p:nvCxnSpPr>
          <p:cNvPr id="7" name="Connector 6"/>
          <p:cNvCxnSpPr/>
          <p:nvPr/>
        </p:nvCxnSpPr>
        <p:spPr>
          <a:xfrm>
            <a:off x="502920" y="804672"/>
            <a:ext cx="11183112" cy="0"/>
          </a:xfrm>
          <a:prstGeom prst="line">
            <a:avLst/>
          </a:prstGeom>
          <a:ln w="10160">
            <a:solidFill>
              <a:srgbClr val="D7DF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1024128"/>
            <a:ext cx="10972800" cy="457200"/>
          </a:xfrm>
          <a:prstGeom prst="rect">
            <a:avLst/>
          </a:prstGeom>
          <a:noFill/>
        </p:spPr>
        <p:txBody>
          <a:bodyPr wrap="square" lIns="36576" rIns="36576" tIns="36576" bIns="36576" anchor="ctr">
            <a:noAutofit/>
          </a:bodyPr>
          <a:lstStyle/>
          <a:p>
            <a:pPr algn="l">
              <a:spcBef>
                <a:spcPts val="0"/>
              </a:spcBef>
              <a:spcAft>
                <a:spcPts val="0"/>
              </a:spcAft>
            </a:pPr>
            <a:r>
              <a:rPr sz="2700" b="1">
                <a:solidFill>
                  <a:srgbClr val="10213D"/>
                </a:solidFill>
                <a:latin typeface="Segoe UI"/>
              </a:rPr>
              <a:t>How each layer helps the BI user interact with lineage</a:t>
            </a:r>
          </a:p>
        </p:txBody>
      </p:sp>
      <p:sp>
        <p:nvSpPr>
          <p:cNvPr id="9" name="TextBox 8"/>
          <p:cNvSpPr txBox="1"/>
          <p:nvPr/>
        </p:nvSpPr>
        <p:spPr>
          <a:xfrm>
            <a:off x="530352" y="1536192"/>
            <a:ext cx="10881360" cy="347472"/>
          </a:xfrm>
          <a:prstGeom prst="rect">
            <a:avLst/>
          </a:prstGeom>
          <a:noFill/>
        </p:spPr>
        <p:txBody>
          <a:bodyPr wrap="square" lIns="36576" rIns="36576" tIns="36576" bIns="36576" anchor="ctr">
            <a:noAutofit/>
          </a:bodyPr>
          <a:lstStyle/>
          <a:p>
            <a:pPr algn="l">
              <a:spcBef>
                <a:spcPts val="0"/>
              </a:spcBef>
              <a:spcAft>
                <a:spcPts val="0"/>
              </a:spcAft>
            </a:pPr>
            <a:r>
              <a:rPr sz="1250" b="0">
                <a:solidFill>
                  <a:srgbClr val="5E6D85"/>
                </a:solidFill>
                <a:latin typeface="Segoe UI"/>
              </a:rPr>
              <a:t>The BI user stays in one Streamlit app while app-owned connectors collect evidence from Power BI, Fabric, XMLA, Snowflake and PowerAI.</a:t>
            </a:r>
          </a:p>
        </p:txBody>
      </p:sp>
      <p:sp>
        <p:nvSpPr>
          <p:cNvPr id="10" name="TextBox 9"/>
          <p:cNvSpPr txBox="1"/>
          <p:nvPr/>
        </p:nvSpPr>
        <p:spPr>
          <a:xfrm>
            <a:off x="530352" y="2112264"/>
            <a:ext cx="1207008" cy="210312"/>
          </a:xfrm>
          <a:prstGeom prst="rect">
            <a:avLst/>
          </a:prstGeom>
          <a:noFill/>
        </p:spPr>
        <p:txBody>
          <a:bodyPr wrap="square" lIns="36576" rIns="36576" tIns="36576" bIns="36576" anchor="t">
            <a:noAutofit/>
          </a:bodyPr>
          <a:lstStyle/>
          <a:p>
            <a:pPr algn="ctr">
              <a:spcBef>
                <a:spcPts val="0"/>
              </a:spcBef>
              <a:spcAft>
                <a:spcPts val="0"/>
              </a:spcAft>
            </a:pPr>
            <a:r>
              <a:rPr sz="800" b="1">
                <a:solidFill>
                  <a:srgbClr val="2563EB"/>
                </a:solidFill>
                <a:latin typeface="Segoe UI"/>
              </a:rPr>
              <a:t>PEOPLE</a:t>
            </a:r>
          </a:p>
        </p:txBody>
      </p:sp>
      <p:sp>
        <p:nvSpPr>
          <p:cNvPr id="11" name="Rounded Rectangle 10"/>
          <p:cNvSpPr/>
          <p:nvPr/>
        </p:nvSpPr>
        <p:spPr>
          <a:xfrm>
            <a:off x="530352" y="2441448"/>
            <a:ext cx="1207008" cy="1353312"/>
          </a:xfrm>
          <a:prstGeom prst="roundRect">
            <a:avLst/>
          </a:prstGeom>
          <a:solidFill>
            <a:srgbClr val="EAF2FF"/>
          </a:solidFill>
          <a:ln w="10160">
            <a:solidFill>
              <a:srgbClr val="BCD1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6112" y="2679192"/>
            <a:ext cx="475488"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79192"/>
            <a:ext cx="475488" cy="475488"/>
          </a:xfrm>
          <a:prstGeom prst="rect">
            <a:avLst/>
          </a:prstGeom>
          <a:noFill/>
        </p:spPr>
        <p:txBody>
          <a:bodyPr wrap="square" lIns="0" rIns="0" tIns="0" bIns="0" anchor="ctr">
            <a:noAutofit/>
          </a:bodyPr>
          <a:lstStyle/>
          <a:p>
            <a:pPr algn="ctr">
              <a:spcBef>
                <a:spcPts val="0"/>
              </a:spcBef>
              <a:spcAft>
                <a:spcPts val="0"/>
              </a:spcAft>
            </a:pPr>
            <a:r>
              <a:rPr sz="1200" b="1">
                <a:solidFill>
                  <a:srgbClr val="FFFFFF"/>
                </a:solidFill>
                <a:latin typeface="Segoe UI"/>
              </a:rPr>
              <a:t>U</a:t>
            </a:r>
          </a:p>
        </p:txBody>
      </p:sp>
      <p:sp>
        <p:nvSpPr>
          <p:cNvPr id="14" name="TextBox 13"/>
          <p:cNvSpPr txBox="1"/>
          <p:nvPr/>
        </p:nvSpPr>
        <p:spPr>
          <a:xfrm>
            <a:off x="585216" y="3255264"/>
            <a:ext cx="1097280" cy="210312"/>
          </a:xfrm>
          <a:prstGeom prst="rect">
            <a:avLst/>
          </a:prstGeom>
          <a:noFill/>
        </p:spPr>
        <p:txBody>
          <a:bodyPr wrap="square" lIns="36576" rIns="36576" tIns="36576" bIns="36576" anchor="t">
            <a:noAutofit/>
          </a:bodyPr>
          <a:lstStyle/>
          <a:p>
            <a:pPr algn="ctr">
              <a:spcBef>
                <a:spcPts val="0"/>
              </a:spcBef>
              <a:spcAft>
                <a:spcPts val="0"/>
              </a:spcAft>
            </a:pPr>
            <a:r>
              <a:rPr sz="810" b="1">
                <a:solidFill>
                  <a:srgbClr val="17233A"/>
                </a:solidFill>
                <a:latin typeface="Segoe UI"/>
              </a:rPr>
              <a:t>BI user / owner</a:t>
            </a:r>
          </a:p>
        </p:txBody>
      </p:sp>
      <p:sp>
        <p:nvSpPr>
          <p:cNvPr id="15" name="TextBox 14"/>
          <p:cNvSpPr txBox="1"/>
          <p:nvPr/>
        </p:nvSpPr>
        <p:spPr>
          <a:xfrm>
            <a:off x="621792" y="3511296"/>
            <a:ext cx="1024128" cy="182880"/>
          </a:xfrm>
          <a:prstGeom prst="rect">
            <a:avLst/>
          </a:prstGeom>
          <a:noFill/>
        </p:spPr>
        <p:txBody>
          <a:bodyPr wrap="square" lIns="36576" rIns="36576" tIns="36576" bIns="36576" anchor="t">
            <a:noAutofit/>
          </a:bodyPr>
          <a:lstStyle/>
          <a:p>
            <a:pPr algn="ctr">
              <a:spcBef>
                <a:spcPts val="0"/>
              </a:spcBef>
              <a:spcAft>
                <a:spcPts val="0"/>
              </a:spcAft>
            </a:pPr>
            <a:r>
              <a:rPr sz="730" b="0">
                <a:solidFill>
                  <a:srgbClr val="5E6D85"/>
                </a:solidFill>
                <a:latin typeface="Segoe UI"/>
              </a:rPr>
              <a:t>Search, explore, ask</a:t>
            </a:r>
          </a:p>
        </p:txBody>
      </p:sp>
      <p:sp>
        <p:nvSpPr>
          <p:cNvPr id="16" name="Right Arrow 15"/>
          <p:cNvSpPr/>
          <p:nvPr/>
        </p:nvSpPr>
        <p:spPr>
          <a:xfrm>
            <a:off x="1865376" y="2962656"/>
            <a:ext cx="274320" cy="256032"/>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0" y="2112264"/>
            <a:ext cx="3383280" cy="210312"/>
          </a:xfrm>
          <a:prstGeom prst="rect">
            <a:avLst/>
          </a:prstGeom>
          <a:noFill/>
        </p:spPr>
        <p:txBody>
          <a:bodyPr wrap="square" lIns="36576" rIns="36576" tIns="36576" bIns="36576" anchor="t">
            <a:noAutofit/>
          </a:bodyPr>
          <a:lstStyle/>
          <a:p>
            <a:pPr algn="ctr">
              <a:spcBef>
                <a:spcPts val="0"/>
              </a:spcBef>
              <a:spcAft>
                <a:spcPts val="0"/>
              </a:spcAft>
            </a:pPr>
            <a:r>
              <a:rPr sz="800" b="1">
                <a:solidFill>
                  <a:srgbClr val="2563EB"/>
                </a:solidFill>
                <a:latin typeface="Segoe UI"/>
              </a:rPr>
              <a:t>PBI LINEAGE EXPLORER</a:t>
            </a:r>
          </a:p>
        </p:txBody>
      </p:sp>
      <p:sp>
        <p:nvSpPr>
          <p:cNvPr id="18" name="Rounded Rectangle 17"/>
          <p:cNvSpPr/>
          <p:nvPr/>
        </p:nvSpPr>
        <p:spPr>
          <a:xfrm>
            <a:off x="2286000" y="2441448"/>
            <a:ext cx="3383280" cy="2724912"/>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86000" y="2441448"/>
            <a:ext cx="3383280" cy="402336"/>
          </a:xfrm>
          <a:prstGeom prst="rect">
            <a:avLst/>
          </a:prstGeom>
          <a:solidFill>
            <a:srgbClr val="10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32304" y="2441448"/>
            <a:ext cx="3090672" cy="402336"/>
          </a:xfrm>
          <a:prstGeom prst="rect">
            <a:avLst/>
          </a:prstGeom>
          <a:noFill/>
        </p:spPr>
        <p:txBody>
          <a:bodyPr wrap="square" lIns="0" rIns="0" tIns="0" bIns="0" anchor="ctr">
            <a:noAutofit/>
          </a:bodyPr>
          <a:lstStyle/>
          <a:p>
            <a:pPr algn="ctr">
              <a:spcBef>
                <a:spcPts val="0"/>
              </a:spcBef>
              <a:spcAft>
                <a:spcPts val="0"/>
              </a:spcAft>
            </a:pPr>
            <a:r>
              <a:rPr sz="900" b="1">
                <a:solidFill>
                  <a:srgbClr val="FFFFFF"/>
                </a:solidFill>
                <a:latin typeface="Segoe UI"/>
              </a:rPr>
              <a:t>STREAMLIT + PYTHON ORCHESTRATION</a:t>
            </a:r>
          </a:p>
        </p:txBody>
      </p:sp>
      <p:sp>
        <p:nvSpPr>
          <p:cNvPr id="21" name="Rounded Rectangle 20"/>
          <p:cNvSpPr/>
          <p:nvPr/>
        </p:nvSpPr>
        <p:spPr>
          <a:xfrm>
            <a:off x="2468880" y="2980944"/>
            <a:ext cx="347472"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68880" y="2980944"/>
            <a:ext cx="347472" cy="274320"/>
          </a:xfrm>
          <a:prstGeom prst="rect">
            <a:avLst/>
          </a:prstGeom>
          <a:noFill/>
        </p:spPr>
        <p:txBody>
          <a:bodyPr wrap="square" lIns="0" rIns="0" tIns="0" bIns="0" anchor="ctr">
            <a:noAutofit/>
          </a:bodyPr>
          <a:lstStyle/>
          <a:p>
            <a:pPr algn="ctr">
              <a:spcBef>
                <a:spcPts val="0"/>
              </a:spcBef>
              <a:spcAft>
                <a:spcPts val="0"/>
              </a:spcAft>
            </a:pPr>
            <a:r>
              <a:rPr sz="740" b="1">
                <a:solidFill>
                  <a:srgbClr val="FFFFFF"/>
                </a:solidFill>
                <a:latin typeface="Segoe UI"/>
              </a:rPr>
              <a:t>01</a:t>
            </a:r>
          </a:p>
        </p:txBody>
      </p:sp>
      <p:sp>
        <p:nvSpPr>
          <p:cNvPr id="23" name="TextBox 22"/>
          <p:cNvSpPr txBox="1"/>
          <p:nvPr/>
        </p:nvSpPr>
        <p:spPr>
          <a:xfrm>
            <a:off x="2916936" y="2962656"/>
            <a:ext cx="2514600" cy="219456"/>
          </a:xfrm>
          <a:prstGeom prst="rect">
            <a:avLst/>
          </a:prstGeom>
          <a:noFill/>
        </p:spPr>
        <p:txBody>
          <a:bodyPr wrap="square" lIns="36576" rIns="36576" tIns="36576" bIns="36576" anchor="t">
            <a:noAutofit/>
          </a:bodyPr>
          <a:lstStyle/>
          <a:p>
            <a:pPr algn="l">
              <a:spcBef>
                <a:spcPts val="0"/>
              </a:spcBef>
              <a:spcAft>
                <a:spcPts val="0"/>
              </a:spcAft>
            </a:pPr>
            <a:r>
              <a:rPr sz="919" b="1">
                <a:solidFill>
                  <a:srgbClr val="17233A"/>
                </a:solidFill>
                <a:latin typeface="Segoe UI"/>
              </a:rPr>
              <a:t>Search and navigation</a:t>
            </a:r>
          </a:p>
        </p:txBody>
      </p:sp>
      <p:sp>
        <p:nvSpPr>
          <p:cNvPr id="24" name="TextBox 23"/>
          <p:cNvSpPr txBox="1"/>
          <p:nvPr/>
        </p:nvSpPr>
        <p:spPr>
          <a:xfrm>
            <a:off x="2916936" y="3200400"/>
            <a:ext cx="2514600" cy="237744"/>
          </a:xfrm>
          <a:prstGeom prst="rect">
            <a:avLst/>
          </a:prstGeom>
          <a:noFill/>
        </p:spPr>
        <p:txBody>
          <a:bodyPr wrap="square" lIns="36576" rIns="36576" tIns="36576" bIns="36576" anchor="t">
            <a:noAutofit/>
          </a:bodyPr>
          <a:lstStyle/>
          <a:p>
            <a:pPr algn="l">
              <a:spcBef>
                <a:spcPts val="0"/>
              </a:spcBef>
              <a:spcAft>
                <a:spcPts val="0"/>
              </a:spcAft>
            </a:pPr>
            <a:r>
              <a:rPr sz="740" b="0">
                <a:solidFill>
                  <a:srgbClr val="5E6D85"/>
                </a:solidFill>
                <a:latin typeface="Segoe UI"/>
              </a:rPr>
              <a:t>Home, Explore, Report Lineage, Table/Measure Impact</a:t>
            </a:r>
          </a:p>
        </p:txBody>
      </p:sp>
      <p:cxnSp>
        <p:nvCxnSpPr>
          <p:cNvPr id="25" name="Connector 24"/>
          <p:cNvCxnSpPr/>
          <p:nvPr/>
        </p:nvCxnSpPr>
        <p:spPr>
          <a:xfrm>
            <a:off x="2468880" y="3456432"/>
            <a:ext cx="3017520" cy="0"/>
          </a:xfrm>
          <a:prstGeom prst="line">
            <a:avLst/>
          </a:prstGeom>
          <a:ln w="7620">
            <a:solidFill>
              <a:srgbClr val="D7DFEA"/>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468880" y="3547872"/>
            <a:ext cx="347472" cy="2743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68880" y="3547872"/>
            <a:ext cx="347472" cy="274320"/>
          </a:xfrm>
          <a:prstGeom prst="rect">
            <a:avLst/>
          </a:prstGeom>
          <a:noFill/>
        </p:spPr>
        <p:txBody>
          <a:bodyPr wrap="square" lIns="0" rIns="0" tIns="0" bIns="0" anchor="ctr">
            <a:noAutofit/>
          </a:bodyPr>
          <a:lstStyle/>
          <a:p>
            <a:pPr algn="ctr">
              <a:spcBef>
                <a:spcPts val="0"/>
              </a:spcBef>
              <a:spcAft>
                <a:spcPts val="0"/>
              </a:spcAft>
            </a:pPr>
            <a:r>
              <a:rPr sz="740" b="1">
                <a:solidFill>
                  <a:srgbClr val="FFFFFF"/>
                </a:solidFill>
                <a:latin typeface="Segoe UI"/>
              </a:rPr>
              <a:t>02</a:t>
            </a:r>
          </a:p>
        </p:txBody>
      </p:sp>
      <p:sp>
        <p:nvSpPr>
          <p:cNvPr id="28" name="TextBox 27"/>
          <p:cNvSpPr txBox="1"/>
          <p:nvPr/>
        </p:nvSpPr>
        <p:spPr>
          <a:xfrm>
            <a:off x="2916936" y="3529584"/>
            <a:ext cx="2514600" cy="219456"/>
          </a:xfrm>
          <a:prstGeom prst="rect">
            <a:avLst/>
          </a:prstGeom>
          <a:noFill/>
        </p:spPr>
        <p:txBody>
          <a:bodyPr wrap="square" lIns="36576" rIns="36576" tIns="36576" bIns="36576" anchor="t">
            <a:noAutofit/>
          </a:bodyPr>
          <a:lstStyle/>
          <a:p>
            <a:pPr algn="l">
              <a:spcBef>
                <a:spcPts val="0"/>
              </a:spcBef>
              <a:spcAft>
                <a:spcPts val="0"/>
              </a:spcAft>
            </a:pPr>
            <a:r>
              <a:rPr sz="919" b="1">
                <a:solidFill>
                  <a:srgbClr val="17233A"/>
                </a:solidFill>
                <a:latin typeface="Segoe UI"/>
              </a:rPr>
              <a:t>Session and permissions</a:t>
            </a:r>
          </a:p>
        </p:txBody>
      </p:sp>
      <p:sp>
        <p:nvSpPr>
          <p:cNvPr id="29" name="TextBox 28"/>
          <p:cNvSpPr txBox="1"/>
          <p:nvPr/>
        </p:nvSpPr>
        <p:spPr>
          <a:xfrm>
            <a:off x="2916936" y="3767328"/>
            <a:ext cx="2514600" cy="237744"/>
          </a:xfrm>
          <a:prstGeom prst="rect">
            <a:avLst/>
          </a:prstGeom>
          <a:noFill/>
        </p:spPr>
        <p:txBody>
          <a:bodyPr wrap="square" lIns="36576" rIns="36576" tIns="36576" bIns="36576" anchor="t">
            <a:noAutofit/>
          </a:bodyPr>
          <a:lstStyle/>
          <a:p>
            <a:pPr algn="l">
              <a:spcBef>
                <a:spcPts val="0"/>
              </a:spcBef>
              <a:spcAft>
                <a:spcPts val="0"/>
              </a:spcAft>
            </a:pPr>
            <a:r>
              <a:rPr sz="740" b="0">
                <a:solidFill>
                  <a:srgbClr val="5E6D85"/>
                </a:solidFill>
                <a:latin typeface="Segoe UI"/>
              </a:rPr>
              <a:t>Signed-in identity scopes every request</a:t>
            </a:r>
          </a:p>
        </p:txBody>
      </p:sp>
      <p:cxnSp>
        <p:nvCxnSpPr>
          <p:cNvPr id="30" name="Connector 29"/>
          <p:cNvCxnSpPr/>
          <p:nvPr/>
        </p:nvCxnSpPr>
        <p:spPr>
          <a:xfrm>
            <a:off x="2468880" y="4023360"/>
            <a:ext cx="3017520" cy="0"/>
          </a:xfrm>
          <a:prstGeom prst="line">
            <a:avLst/>
          </a:prstGeom>
          <a:ln w="7620">
            <a:solidFill>
              <a:srgbClr val="D7DFEA"/>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2468880" y="4114800"/>
            <a:ext cx="347472" cy="27432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68880" y="4114800"/>
            <a:ext cx="347472" cy="274320"/>
          </a:xfrm>
          <a:prstGeom prst="rect">
            <a:avLst/>
          </a:prstGeom>
          <a:noFill/>
        </p:spPr>
        <p:txBody>
          <a:bodyPr wrap="square" lIns="0" rIns="0" tIns="0" bIns="0" anchor="ctr">
            <a:noAutofit/>
          </a:bodyPr>
          <a:lstStyle/>
          <a:p>
            <a:pPr algn="ctr">
              <a:spcBef>
                <a:spcPts val="0"/>
              </a:spcBef>
              <a:spcAft>
                <a:spcPts val="0"/>
              </a:spcAft>
            </a:pPr>
            <a:r>
              <a:rPr sz="740" b="1">
                <a:solidFill>
                  <a:srgbClr val="FFFFFF"/>
                </a:solidFill>
                <a:latin typeface="Segoe UI"/>
              </a:rPr>
              <a:t>03</a:t>
            </a:r>
          </a:p>
        </p:txBody>
      </p:sp>
      <p:sp>
        <p:nvSpPr>
          <p:cNvPr id="33" name="TextBox 32"/>
          <p:cNvSpPr txBox="1"/>
          <p:nvPr/>
        </p:nvSpPr>
        <p:spPr>
          <a:xfrm>
            <a:off x="2916936" y="4096512"/>
            <a:ext cx="2514600" cy="219456"/>
          </a:xfrm>
          <a:prstGeom prst="rect">
            <a:avLst/>
          </a:prstGeom>
          <a:noFill/>
        </p:spPr>
        <p:txBody>
          <a:bodyPr wrap="square" lIns="36576" rIns="36576" tIns="36576" bIns="36576" anchor="t">
            <a:noAutofit/>
          </a:bodyPr>
          <a:lstStyle/>
          <a:p>
            <a:pPr algn="l">
              <a:spcBef>
                <a:spcPts val="0"/>
              </a:spcBef>
              <a:spcAft>
                <a:spcPts val="0"/>
              </a:spcAft>
            </a:pPr>
            <a:r>
              <a:rPr sz="919" b="1">
                <a:solidFill>
                  <a:srgbClr val="17233A"/>
                </a:solidFill>
                <a:latin typeface="Segoe UI"/>
              </a:rPr>
              <a:t>Lineage engine</a:t>
            </a:r>
          </a:p>
        </p:txBody>
      </p:sp>
      <p:sp>
        <p:nvSpPr>
          <p:cNvPr id="34" name="TextBox 33"/>
          <p:cNvSpPr txBox="1"/>
          <p:nvPr/>
        </p:nvSpPr>
        <p:spPr>
          <a:xfrm>
            <a:off x="2916936" y="4334256"/>
            <a:ext cx="2514600" cy="237744"/>
          </a:xfrm>
          <a:prstGeom prst="rect">
            <a:avLst/>
          </a:prstGeom>
          <a:noFill/>
        </p:spPr>
        <p:txBody>
          <a:bodyPr wrap="square" lIns="36576" rIns="36576" tIns="36576" bIns="36576" anchor="t">
            <a:noAutofit/>
          </a:bodyPr>
          <a:lstStyle/>
          <a:p>
            <a:pPr algn="l">
              <a:spcBef>
                <a:spcPts val="0"/>
              </a:spcBef>
              <a:spcAft>
                <a:spcPts val="0"/>
              </a:spcAft>
            </a:pPr>
            <a:r>
              <a:rPr sz="740" b="0">
                <a:solidFill>
                  <a:srgbClr val="5E6D85"/>
                </a:solidFill>
                <a:latin typeface="Segoe UI"/>
              </a:rPr>
              <a:t>Joins report, visual, DAX, model and source metadata</a:t>
            </a:r>
          </a:p>
        </p:txBody>
      </p:sp>
      <p:cxnSp>
        <p:nvCxnSpPr>
          <p:cNvPr id="35" name="Connector 34"/>
          <p:cNvCxnSpPr/>
          <p:nvPr/>
        </p:nvCxnSpPr>
        <p:spPr>
          <a:xfrm>
            <a:off x="2468880" y="4590288"/>
            <a:ext cx="3017520" cy="0"/>
          </a:xfrm>
          <a:prstGeom prst="line">
            <a:avLst/>
          </a:prstGeom>
          <a:ln w="7620">
            <a:solidFill>
              <a:srgbClr val="D7DFEA"/>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2468880" y="4681728"/>
            <a:ext cx="347472" cy="27432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468880" y="4681728"/>
            <a:ext cx="347472" cy="274320"/>
          </a:xfrm>
          <a:prstGeom prst="rect">
            <a:avLst/>
          </a:prstGeom>
          <a:noFill/>
        </p:spPr>
        <p:txBody>
          <a:bodyPr wrap="square" lIns="0" rIns="0" tIns="0" bIns="0" anchor="ctr">
            <a:noAutofit/>
          </a:bodyPr>
          <a:lstStyle/>
          <a:p>
            <a:pPr algn="ctr">
              <a:spcBef>
                <a:spcPts val="0"/>
              </a:spcBef>
              <a:spcAft>
                <a:spcPts val="0"/>
              </a:spcAft>
            </a:pPr>
            <a:r>
              <a:rPr sz="740" b="1">
                <a:solidFill>
                  <a:srgbClr val="FFFFFF"/>
                </a:solidFill>
                <a:latin typeface="Segoe UI"/>
              </a:rPr>
              <a:t>04</a:t>
            </a:r>
          </a:p>
        </p:txBody>
      </p:sp>
      <p:sp>
        <p:nvSpPr>
          <p:cNvPr id="38" name="TextBox 37"/>
          <p:cNvSpPr txBox="1"/>
          <p:nvPr/>
        </p:nvSpPr>
        <p:spPr>
          <a:xfrm>
            <a:off x="2916936" y="4663440"/>
            <a:ext cx="2514600" cy="219456"/>
          </a:xfrm>
          <a:prstGeom prst="rect">
            <a:avLst/>
          </a:prstGeom>
          <a:noFill/>
        </p:spPr>
        <p:txBody>
          <a:bodyPr wrap="square" lIns="36576" rIns="36576" tIns="36576" bIns="36576" anchor="t">
            <a:noAutofit/>
          </a:bodyPr>
          <a:lstStyle/>
          <a:p>
            <a:pPr algn="l">
              <a:spcBef>
                <a:spcPts val="0"/>
              </a:spcBef>
              <a:spcAft>
                <a:spcPts val="0"/>
              </a:spcAft>
            </a:pPr>
            <a:r>
              <a:rPr sz="919" b="1">
                <a:solidFill>
                  <a:srgbClr val="17233A"/>
                </a:solidFill>
                <a:latin typeface="Segoe UI"/>
              </a:rPr>
              <a:t>PowerAI and export</a:t>
            </a:r>
          </a:p>
        </p:txBody>
      </p:sp>
      <p:sp>
        <p:nvSpPr>
          <p:cNvPr id="39" name="TextBox 38"/>
          <p:cNvSpPr txBox="1"/>
          <p:nvPr/>
        </p:nvSpPr>
        <p:spPr>
          <a:xfrm>
            <a:off x="2916936" y="4901184"/>
            <a:ext cx="2514600" cy="237744"/>
          </a:xfrm>
          <a:prstGeom prst="rect">
            <a:avLst/>
          </a:prstGeom>
          <a:noFill/>
        </p:spPr>
        <p:txBody>
          <a:bodyPr wrap="square" lIns="36576" rIns="36576" tIns="36576" bIns="36576" anchor="t">
            <a:noAutofit/>
          </a:bodyPr>
          <a:lstStyle/>
          <a:p>
            <a:pPr algn="l">
              <a:spcBef>
                <a:spcPts val="0"/>
              </a:spcBef>
              <a:spcAft>
                <a:spcPts val="0"/>
              </a:spcAft>
            </a:pPr>
            <a:r>
              <a:rPr sz="740" b="0">
                <a:solidFill>
                  <a:srgbClr val="5E6D85"/>
                </a:solidFill>
                <a:latin typeface="Segoe UI"/>
              </a:rPr>
              <a:t>Explains evidence; Markdown download is answer-only</a:t>
            </a:r>
          </a:p>
        </p:txBody>
      </p:sp>
      <p:sp>
        <p:nvSpPr>
          <p:cNvPr id="40" name="Right Arrow 39"/>
          <p:cNvSpPr/>
          <p:nvPr/>
        </p:nvSpPr>
        <p:spPr>
          <a:xfrm>
            <a:off x="5806440" y="3429000"/>
            <a:ext cx="274320" cy="256032"/>
          </a:xfrm>
          <a:prstGeom prst="rightArrow">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72784" y="2112264"/>
            <a:ext cx="2852928" cy="210312"/>
          </a:xfrm>
          <a:prstGeom prst="rect">
            <a:avLst/>
          </a:prstGeom>
          <a:noFill/>
        </p:spPr>
        <p:txBody>
          <a:bodyPr wrap="square" lIns="36576" rIns="36576" tIns="36576" bIns="36576" anchor="t">
            <a:noAutofit/>
          </a:bodyPr>
          <a:lstStyle/>
          <a:p>
            <a:pPr algn="ctr">
              <a:spcBef>
                <a:spcPts val="0"/>
              </a:spcBef>
              <a:spcAft>
                <a:spcPts val="0"/>
              </a:spcAft>
            </a:pPr>
            <a:r>
              <a:rPr sz="800" b="1">
                <a:solidFill>
                  <a:srgbClr val="0F766E"/>
                </a:solidFill>
                <a:latin typeface="Segoe UI"/>
              </a:rPr>
              <a:t>PLATFORM METADATA</a:t>
            </a:r>
          </a:p>
        </p:txBody>
      </p:sp>
      <p:sp>
        <p:nvSpPr>
          <p:cNvPr id="42" name="Rounded Rectangle 41"/>
          <p:cNvSpPr/>
          <p:nvPr/>
        </p:nvSpPr>
        <p:spPr>
          <a:xfrm>
            <a:off x="6272784" y="2441448"/>
            <a:ext cx="2852928" cy="850392"/>
          </a:xfrm>
          <a:prstGeom prst="roundRect">
            <a:avLst/>
          </a:prstGeom>
          <a:solidFill>
            <a:srgbClr val="EAF2FF"/>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446520" y="2606040"/>
            <a:ext cx="438912" cy="4389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46520" y="2606040"/>
            <a:ext cx="438912" cy="438912"/>
          </a:xfrm>
          <a:prstGeom prst="rect">
            <a:avLst/>
          </a:prstGeom>
          <a:noFill/>
        </p:spPr>
        <p:txBody>
          <a:bodyPr wrap="square" lIns="0" rIns="0" tIns="0" bIns="0" anchor="ctr">
            <a:noAutofit/>
          </a:bodyPr>
          <a:lstStyle/>
          <a:p>
            <a:pPr algn="ctr">
              <a:spcBef>
                <a:spcPts val="0"/>
              </a:spcBef>
              <a:spcAft>
                <a:spcPts val="0"/>
              </a:spcAft>
            </a:pPr>
            <a:r>
              <a:rPr sz="800" b="1">
                <a:solidFill>
                  <a:srgbClr val="FFFFFF"/>
                </a:solidFill>
                <a:latin typeface="Segoe UI"/>
              </a:rPr>
              <a:t>API</a:t>
            </a:r>
          </a:p>
        </p:txBody>
      </p:sp>
      <p:sp>
        <p:nvSpPr>
          <p:cNvPr id="45" name="TextBox 44"/>
          <p:cNvSpPr txBox="1"/>
          <p:nvPr/>
        </p:nvSpPr>
        <p:spPr>
          <a:xfrm>
            <a:off x="7022592" y="2569464"/>
            <a:ext cx="1901952" cy="237744"/>
          </a:xfrm>
          <a:prstGeom prst="rect">
            <a:avLst/>
          </a:prstGeom>
          <a:noFill/>
        </p:spPr>
        <p:txBody>
          <a:bodyPr wrap="square" lIns="36576" rIns="36576" tIns="36576" bIns="36576" anchor="t">
            <a:noAutofit/>
          </a:bodyPr>
          <a:lstStyle/>
          <a:p>
            <a:pPr algn="l">
              <a:spcBef>
                <a:spcPts val="0"/>
              </a:spcBef>
              <a:spcAft>
                <a:spcPts val="0"/>
              </a:spcAft>
            </a:pPr>
            <a:r>
              <a:rPr sz="1019" b="1">
                <a:solidFill>
                  <a:srgbClr val="17233A"/>
                </a:solidFill>
                <a:latin typeface="Segoe UI"/>
              </a:rPr>
              <a:t>Power BI REST + Fabric</a:t>
            </a:r>
          </a:p>
        </p:txBody>
      </p:sp>
      <p:sp>
        <p:nvSpPr>
          <p:cNvPr id="46" name="TextBox 45"/>
          <p:cNvSpPr txBox="1"/>
          <p:nvPr/>
        </p:nvSpPr>
        <p:spPr>
          <a:xfrm>
            <a:off x="7022592" y="2852928"/>
            <a:ext cx="1901952" cy="274320"/>
          </a:xfrm>
          <a:prstGeom prst="rect">
            <a:avLst/>
          </a:prstGeom>
          <a:noFill/>
        </p:spPr>
        <p:txBody>
          <a:bodyPr wrap="square" lIns="36576" rIns="36576" tIns="36576" bIns="36576" anchor="t">
            <a:noAutofit/>
          </a:bodyPr>
          <a:lstStyle/>
          <a:p>
            <a:pPr algn="l">
              <a:spcBef>
                <a:spcPts val="0"/>
              </a:spcBef>
              <a:spcAft>
                <a:spcPts val="0"/>
              </a:spcAft>
            </a:pPr>
            <a:r>
              <a:rPr sz="780" b="0">
                <a:solidFill>
                  <a:srgbClr val="5E6D85"/>
                </a:solidFill>
                <a:latin typeface="Segoe UI"/>
              </a:rPr>
              <a:t>Workspaces, reports, pages, visuals and definitions</a:t>
            </a:r>
          </a:p>
        </p:txBody>
      </p:sp>
      <p:sp>
        <p:nvSpPr>
          <p:cNvPr id="47" name="Rounded Rectangle 46"/>
          <p:cNvSpPr/>
          <p:nvPr/>
        </p:nvSpPr>
        <p:spPr>
          <a:xfrm>
            <a:off x="6272784" y="3447288"/>
            <a:ext cx="2852928" cy="850392"/>
          </a:xfrm>
          <a:prstGeom prst="roundRect">
            <a:avLst/>
          </a:prstGeom>
          <a:solidFill>
            <a:srgbClr val="FFF0E8"/>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446520" y="3611880"/>
            <a:ext cx="438912" cy="43891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46520" y="3611880"/>
            <a:ext cx="438912" cy="438912"/>
          </a:xfrm>
          <a:prstGeom prst="rect">
            <a:avLst/>
          </a:prstGeom>
          <a:noFill/>
        </p:spPr>
        <p:txBody>
          <a:bodyPr wrap="square" lIns="0" rIns="0" tIns="0" bIns="0" anchor="ctr">
            <a:noAutofit/>
          </a:bodyPr>
          <a:lstStyle/>
          <a:p>
            <a:pPr algn="ctr">
              <a:spcBef>
                <a:spcPts val="0"/>
              </a:spcBef>
              <a:spcAft>
                <a:spcPts val="0"/>
              </a:spcAft>
            </a:pPr>
            <a:r>
              <a:rPr sz="800" b="1">
                <a:solidFill>
                  <a:srgbClr val="FFFFFF"/>
                </a:solidFill>
                <a:latin typeface="Segoe UI"/>
              </a:rPr>
              <a:t>X</a:t>
            </a:r>
          </a:p>
        </p:txBody>
      </p:sp>
      <p:sp>
        <p:nvSpPr>
          <p:cNvPr id="50" name="TextBox 49"/>
          <p:cNvSpPr txBox="1"/>
          <p:nvPr/>
        </p:nvSpPr>
        <p:spPr>
          <a:xfrm>
            <a:off x="7022592" y="3575304"/>
            <a:ext cx="1901952" cy="237744"/>
          </a:xfrm>
          <a:prstGeom prst="rect">
            <a:avLst/>
          </a:prstGeom>
          <a:noFill/>
        </p:spPr>
        <p:txBody>
          <a:bodyPr wrap="square" lIns="36576" rIns="36576" tIns="36576" bIns="36576" anchor="t">
            <a:noAutofit/>
          </a:bodyPr>
          <a:lstStyle/>
          <a:p>
            <a:pPr algn="l">
              <a:spcBef>
                <a:spcPts val="0"/>
              </a:spcBef>
              <a:spcAft>
                <a:spcPts val="0"/>
              </a:spcAft>
            </a:pPr>
            <a:r>
              <a:rPr sz="1019" b="1">
                <a:solidFill>
                  <a:srgbClr val="17233A"/>
                </a:solidFill>
                <a:latin typeface="Segoe UI"/>
              </a:rPr>
              <a:t>Windows XMLA path</a:t>
            </a:r>
          </a:p>
        </p:txBody>
      </p:sp>
      <p:sp>
        <p:nvSpPr>
          <p:cNvPr id="51" name="TextBox 50"/>
          <p:cNvSpPr txBox="1"/>
          <p:nvPr/>
        </p:nvSpPr>
        <p:spPr>
          <a:xfrm>
            <a:off x="7022592" y="3858768"/>
            <a:ext cx="1901952" cy="274320"/>
          </a:xfrm>
          <a:prstGeom prst="rect">
            <a:avLst/>
          </a:prstGeom>
          <a:noFill/>
        </p:spPr>
        <p:txBody>
          <a:bodyPr wrap="square" lIns="36576" rIns="36576" tIns="36576" bIns="36576" anchor="t">
            <a:noAutofit/>
          </a:bodyPr>
          <a:lstStyle/>
          <a:p>
            <a:pPr algn="l">
              <a:spcBef>
                <a:spcPts val="0"/>
              </a:spcBef>
              <a:spcAft>
                <a:spcPts val="0"/>
              </a:spcAft>
            </a:pPr>
            <a:r>
              <a:rPr sz="780" b="0">
                <a:solidFill>
                  <a:srgbClr val="5E6D85"/>
                </a:solidFill>
                <a:latin typeface="Segoe UI"/>
              </a:rPr>
              <a:t>Tables, columns, measures, DAX and dependencies</a:t>
            </a:r>
          </a:p>
        </p:txBody>
      </p:sp>
      <p:sp>
        <p:nvSpPr>
          <p:cNvPr id="52" name="Rounded Rectangle 51"/>
          <p:cNvSpPr/>
          <p:nvPr/>
        </p:nvSpPr>
        <p:spPr>
          <a:xfrm>
            <a:off x="6272784" y="4453128"/>
            <a:ext cx="2852928" cy="850392"/>
          </a:xfrm>
          <a:prstGeom prst="roundRect">
            <a:avLst/>
          </a:prstGeom>
          <a:solidFill>
            <a:srgbClr val="E8F7F5"/>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446520" y="4617720"/>
            <a:ext cx="438912" cy="438912"/>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46520" y="4617720"/>
            <a:ext cx="438912" cy="438912"/>
          </a:xfrm>
          <a:prstGeom prst="rect">
            <a:avLst/>
          </a:prstGeom>
          <a:noFill/>
        </p:spPr>
        <p:txBody>
          <a:bodyPr wrap="square" lIns="0" rIns="0" tIns="0" bIns="0" anchor="ctr">
            <a:noAutofit/>
          </a:bodyPr>
          <a:lstStyle/>
          <a:p>
            <a:pPr algn="ctr">
              <a:spcBef>
                <a:spcPts val="0"/>
              </a:spcBef>
              <a:spcAft>
                <a:spcPts val="0"/>
              </a:spcAft>
            </a:pPr>
            <a:r>
              <a:rPr sz="800" b="1">
                <a:solidFill>
                  <a:srgbClr val="FFFFFF"/>
                </a:solidFill>
                <a:latin typeface="Segoe UI"/>
              </a:rPr>
              <a:t>SF</a:t>
            </a:r>
          </a:p>
        </p:txBody>
      </p:sp>
      <p:sp>
        <p:nvSpPr>
          <p:cNvPr id="55" name="TextBox 54"/>
          <p:cNvSpPr txBox="1"/>
          <p:nvPr/>
        </p:nvSpPr>
        <p:spPr>
          <a:xfrm>
            <a:off x="7022592" y="4581144"/>
            <a:ext cx="1901952" cy="237744"/>
          </a:xfrm>
          <a:prstGeom prst="rect">
            <a:avLst/>
          </a:prstGeom>
          <a:noFill/>
        </p:spPr>
        <p:txBody>
          <a:bodyPr wrap="square" lIns="36576" rIns="36576" tIns="36576" bIns="36576" anchor="t">
            <a:noAutofit/>
          </a:bodyPr>
          <a:lstStyle/>
          <a:p>
            <a:pPr algn="l">
              <a:spcBef>
                <a:spcPts val="0"/>
              </a:spcBef>
              <a:spcAft>
                <a:spcPts val="0"/>
              </a:spcAft>
            </a:pPr>
            <a:r>
              <a:rPr sz="1019" b="1">
                <a:solidFill>
                  <a:srgbClr val="17233A"/>
                </a:solidFill>
                <a:latin typeface="Segoe UI"/>
              </a:rPr>
              <a:t>Snowflake lineage</a:t>
            </a:r>
          </a:p>
        </p:txBody>
      </p:sp>
      <p:sp>
        <p:nvSpPr>
          <p:cNvPr id="56" name="TextBox 55"/>
          <p:cNvSpPr txBox="1"/>
          <p:nvPr/>
        </p:nvSpPr>
        <p:spPr>
          <a:xfrm>
            <a:off x="7022592" y="4864608"/>
            <a:ext cx="1901952" cy="274320"/>
          </a:xfrm>
          <a:prstGeom prst="rect">
            <a:avLst/>
          </a:prstGeom>
          <a:noFill/>
        </p:spPr>
        <p:txBody>
          <a:bodyPr wrap="square" lIns="36576" rIns="36576" tIns="36576" bIns="36576" anchor="t">
            <a:noAutofit/>
          </a:bodyPr>
          <a:lstStyle/>
          <a:p>
            <a:pPr algn="l">
              <a:spcBef>
                <a:spcPts val="0"/>
              </a:spcBef>
              <a:spcAft>
                <a:spcPts val="0"/>
              </a:spcAft>
            </a:pPr>
            <a:r>
              <a:rPr sz="780" b="0">
                <a:solidFill>
                  <a:srgbClr val="5E6D85"/>
                </a:solidFill>
                <a:latin typeface="Segoe UI"/>
              </a:rPr>
              <a:t>Tables, columns, transformations and raw sources</a:t>
            </a:r>
          </a:p>
        </p:txBody>
      </p:sp>
      <p:sp>
        <p:nvSpPr>
          <p:cNvPr id="57" name="Right Arrow 56"/>
          <p:cNvSpPr/>
          <p:nvPr/>
        </p:nvSpPr>
        <p:spPr>
          <a:xfrm>
            <a:off x="9262872" y="3429000"/>
            <a:ext cx="274320" cy="256032"/>
          </a:xfrm>
          <a:prstGeom prst="rightArrow">
            <a:avLst/>
          </a:prstGeom>
          <a:solidFill>
            <a:srgbClr val="10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646920" y="2112264"/>
            <a:ext cx="1993392" cy="210312"/>
          </a:xfrm>
          <a:prstGeom prst="rect">
            <a:avLst/>
          </a:prstGeom>
          <a:noFill/>
        </p:spPr>
        <p:txBody>
          <a:bodyPr wrap="square" lIns="36576" rIns="36576" tIns="36576" bIns="36576" anchor="t">
            <a:noAutofit/>
          </a:bodyPr>
          <a:lstStyle/>
          <a:p>
            <a:pPr algn="ctr">
              <a:spcBef>
                <a:spcPts val="0"/>
              </a:spcBef>
              <a:spcAft>
                <a:spcPts val="0"/>
              </a:spcAft>
            </a:pPr>
            <a:r>
              <a:rPr sz="800" b="1">
                <a:solidFill>
                  <a:srgbClr val="10213D"/>
                </a:solidFill>
                <a:latin typeface="Segoe UI"/>
              </a:rPr>
              <a:t>BI USER SEES</a:t>
            </a:r>
          </a:p>
        </p:txBody>
      </p:sp>
      <p:sp>
        <p:nvSpPr>
          <p:cNvPr id="59" name="Rounded Rectangle 58"/>
          <p:cNvSpPr/>
          <p:nvPr/>
        </p:nvSpPr>
        <p:spPr>
          <a:xfrm>
            <a:off x="9646920" y="2441448"/>
            <a:ext cx="1993392" cy="1847088"/>
          </a:xfrm>
          <a:prstGeom prst="roundRect">
            <a:avLst/>
          </a:prstGeom>
          <a:solidFill>
            <a:srgbClr val="10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857232" y="2688336"/>
            <a:ext cx="1572768" cy="219456"/>
          </a:xfrm>
          <a:prstGeom prst="rect">
            <a:avLst/>
          </a:prstGeom>
          <a:noFill/>
        </p:spPr>
        <p:txBody>
          <a:bodyPr wrap="square" lIns="36576" rIns="36576" tIns="36576" bIns="36576" anchor="t">
            <a:noAutofit/>
          </a:bodyPr>
          <a:lstStyle/>
          <a:p>
            <a:pPr algn="ctr">
              <a:spcBef>
                <a:spcPts val="0"/>
              </a:spcBef>
              <a:spcAft>
                <a:spcPts val="0"/>
              </a:spcAft>
            </a:pPr>
            <a:r>
              <a:rPr sz="819" b="1">
                <a:solidFill>
                  <a:srgbClr val="8FB7FF"/>
                </a:solidFill>
                <a:latin typeface="Segoe UI"/>
              </a:rPr>
              <a:t>ASK ONCE</a:t>
            </a:r>
          </a:p>
        </p:txBody>
      </p:sp>
      <p:sp>
        <p:nvSpPr>
          <p:cNvPr id="61" name="TextBox 60"/>
          <p:cNvSpPr txBox="1"/>
          <p:nvPr/>
        </p:nvSpPr>
        <p:spPr>
          <a:xfrm>
            <a:off x="9857232" y="3063240"/>
            <a:ext cx="1572768" cy="256032"/>
          </a:xfrm>
          <a:prstGeom prst="rect">
            <a:avLst/>
          </a:prstGeom>
          <a:noFill/>
        </p:spPr>
        <p:txBody>
          <a:bodyPr wrap="square" lIns="36576" rIns="36576" tIns="36576" bIns="36576" anchor="t">
            <a:noAutofit/>
          </a:bodyPr>
          <a:lstStyle/>
          <a:p>
            <a:pPr algn="ctr">
              <a:spcBef>
                <a:spcPts val="0"/>
              </a:spcBef>
              <a:spcAft>
                <a:spcPts val="0"/>
              </a:spcAft>
            </a:pPr>
            <a:r>
              <a:rPr sz="1100" b="1">
                <a:solidFill>
                  <a:srgbClr val="FFFFFF"/>
                </a:solidFill>
                <a:latin typeface="Segoe UI"/>
              </a:rPr>
              <a:t>Reports affected</a:t>
            </a:r>
          </a:p>
        </p:txBody>
      </p:sp>
      <p:sp>
        <p:nvSpPr>
          <p:cNvPr id="62" name="TextBox 61"/>
          <p:cNvSpPr txBox="1"/>
          <p:nvPr/>
        </p:nvSpPr>
        <p:spPr>
          <a:xfrm>
            <a:off x="9857232" y="3401568"/>
            <a:ext cx="1572768" cy="256032"/>
          </a:xfrm>
          <a:prstGeom prst="rect">
            <a:avLst/>
          </a:prstGeom>
          <a:noFill/>
        </p:spPr>
        <p:txBody>
          <a:bodyPr wrap="square" lIns="36576" rIns="36576" tIns="36576" bIns="36576" anchor="t">
            <a:noAutofit/>
          </a:bodyPr>
          <a:lstStyle/>
          <a:p>
            <a:pPr algn="ctr">
              <a:spcBef>
                <a:spcPts val="0"/>
              </a:spcBef>
              <a:spcAft>
                <a:spcPts val="0"/>
              </a:spcAft>
            </a:pPr>
            <a:r>
              <a:rPr sz="1100" b="1">
                <a:solidFill>
                  <a:srgbClr val="FFFFFF"/>
                </a:solidFill>
                <a:latin typeface="Segoe UI"/>
              </a:rPr>
              <a:t>Model objects used</a:t>
            </a:r>
          </a:p>
        </p:txBody>
      </p:sp>
      <p:sp>
        <p:nvSpPr>
          <p:cNvPr id="63" name="TextBox 62"/>
          <p:cNvSpPr txBox="1"/>
          <p:nvPr/>
        </p:nvSpPr>
        <p:spPr>
          <a:xfrm>
            <a:off x="9857232" y="3739896"/>
            <a:ext cx="1572768" cy="256032"/>
          </a:xfrm>
          <a:prstGeom prst="rect">
            <a:avLst/>
          </a:prstGeom>
          <a:noFill/>
        </p:spPr>
        <p:txBody>
          <a:bodyPr wrap="square" lIns="36576" rIns="36576" tIns="36576" bIns="36576" anchor="t">
            <a:noAutofit/>
          </a:bodyPr>
          <a:lstStyle/>
          <a:p>
            <a:pPr algn="ctr">
              <a:spcBef>
                <a:spcPts val="0"/>
              </a:spcBef>
              <a:spcAft>
                <a:spcPts val="0"/>
              </a:spcAft>
            </a:pPr>
            <a:r>
              <a:rPr sz="1050" b="1">
                <a:solidFill>
                  <a:srgbClr val="FFFFFF"/>
                </a:solidFill>
                <a:latin typeface="Segoe UI"/>
              </a:rPr>
              <a:t>Source tables feeding it</a:t>
            </a:r>
          </a:p>
        </p:txBody>
      </p:sp>
      <p:sp>
        <p:nvSpPr>
          <p:cNvPr id="64" name="Rounded Rectangle 63"/>
          <p:cNvSpPr/>
          <p:nvPr/>
        </p:nvSpPr>
        <p:spPr>
          <a:xfrm>
            <a:off x="9646920" y="4462272"/>
            <a:ext cx="1993392" cy="704088"/>
          </a:xfrm>
          <a:prstGeom prst="roundRect">
            <a:avLst/>
          </a:prstGeom>
          <a:solidFill>
            <a:srgbClr val="FFF0E8"/>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02368" y="4553712"/>
            <a:ext cx="1682496" cy="164592"/>
          </a:xfrm>
          <a:prstGeom prst="rect">
            <a:avLst/>
          </a:prstGeom>
          <a:noFill/>
        </p:spPr>
        <p:txBody>
          <a:bodyPr wrap="square" lIns="36576" rIns="36576" tIns="36576" bIns="36576" anchor="t">
            <a:noAutofit/>
          </a:bodyPr>
          <a:lstStyle/>
          <a:p>
            <a:pPr algn="ctr">
              <a:spcBef>
                <a:spcPts val="0"/>
              </a:spcBef>
              <a:spcAft>
                <a:spcPts val="0"/>
              </a:spcAft>
            </a:pPr>
            <a:r>
              <a:rPr sz="780" b="1">
                <a:solidFill>
                  <a:srgbClr val="EA580C"/>
                </a:solidFill>
                <a:latin typeface="Segoe UI"/>
              </a:rPr>
              <a:t>POWERAI ASSISTANT</a:t>
            </a:r>
          </a:p>
        </p:txBody>
      </p:sp>
      <p:sp>
        <p:nvSpPr>
          <p:cNvPr id="66" name="TextBox 65"/>
          <p:cNvSpPr txBox="1"/>
          <p:nvPr/>
        </p:nvSpPr>
        <p:spPr>
          <a:xfrm>
            <a:off x="9802368" y="4754880"/>
            <a:ext cx="1682496" cy="274320"/>
          </a:xfrm>
          <a:prstGeom prst="rect">
            <a:avLst/>
          </a:prstGeom>
          <a:noFill/>
        </p:spPr>
        <p:txBody>
          <a:bodyPr wrap="square" lIns="36576" rIns="36576" tIns="36576" bIns="36576" anchor="t">
            <a:noAutofit/>
          </a:bodyPr>
          <a:lstStyle/>
          <a:p>
            <a:pPr algn="ctr">
              <a:spcBef>
                <a:spcPts val="0"/>
              </a:spcBef>
              <a:spcAft>
                <a:spcPts val="0"/>
              </a:spcAft>
            </a:pPr>
            <a:r>
              <a:rPr sz="819" b="1">
                <a:solidFill>
                  <a:srgbClr val="17233A"/>
                </a:solidFill>
                <a:latin typeface="Segoe UI"/>
              </a:rPr>
              <a:t>Floating modal answers using read-only app evidence</a:t>
            </a:r>
          </a:p>
        </p:txBody>
      </p:sp>
      <p:sp>
        <p:nvSpPr>
          <p:cNvPr id="67" name="Rounded Rectangle 66"/>
          <p:cNvSpPr/>
          <p:nvPr/>
        </p:nvSpPr>
        <p:spPr>
          <a:xfrm>
            <a:off x="530352" y="5614416"/>
            <a:ext cx="2130552" cy="658368"/>
          </a:xfrm>
          <a:prstGeom prst="roundRect">
            <a:avLst/>
          </a:prstGeom>
          <a:solidFill>
            <a:srgbClr val="FFFFFF"/>
          </a:solidFill>
          <a:ln w="889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30352" y="5614416"/>
            <a:ext cx="54864"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6656" y="5715000"/>
            <a:ext cx="1847088" cy="164592"/>
          </a:xfrm>
          <a:prstGeom prst="rect">
            <a:avLst/>
          </a:prstGeom>
          <a:noFill/>
        </p:spPr>
        <p:txBody>
          <a:bodyPr wrap="square" lIns="36576" rIns="36576" tIns="36576" bIns="36576" anchor="t">
            <a:noAutofit/>
          </a:bodyPr>
          <a:lstStyle/>
          <a:p>
            <a:pPr algn="l">
              <a:spcBef>
                <a:spcPts val="0"/>
              </a:spcBef>
              <a:spcAft>
                <a:spcPts val="0"/>
              </a:spcAft>
            </a:pPr>
            <a:r>
              <a:rPr sz="760" b="1">
                <a:solidFill>
                  <a:srgbClr val="2563EB"/>
                </a:solidFill>
                <a:latin typeface="Segoe UI"/>
              </a:rPr>
              <a:t>AUTHENTICATED USER</a:t>
            </a:r>
          </a:p>
        </p:txBody>
      </p:sp>
      <p:sp>
        <p:nvSpPr>
          <p:cNvPr id="70" name="TextBox 69"/>
          <p:cNvSpPr txBox="1"/>
          <p:nvPr/>
        </p:nvSpPr>
        <p:spPr>
          <a:xfrm>
            <a:off x="676656" y="5916168"/>
            <a:ext cx="1847088" cy="219456"/>
          </a:xfrm>
          <a:prstGeom prst="rect">
            <a:avLst/>
          </a:prstGeom>
          <a:noFill/>
        </p:spPr>
        <p:txBody>
          <a:bodyPr wrap="square" lIns="36576" rIns="36576" tIns="36576" bIns="36576" anchor="t">
            <a:noAutofit/>
          </a:bodyPr>
          <a:lstStyle/>
          <a:p>
            <a:pPr algn="l">
              <a:spcBef>
                <a:spcPts val="0"/>
              </a:spcBef>
              <a:spcAft>
                <a:spcPts val="0"/>
              </a:spcAft>
            </a:pPr>
            <a:r>
              <a:rPr sz="819" b="1">
                <a:solidFill>
                  <a:srgbClr val="17233A"/>
                </a:solidFill>
                <a:latin typeface="Segoe UI"/>
              </a:rPr>
              <a:t>Only authorized assets</a:t>
            </a:r>
          </a:p>
        </p:txBody>
      </p:sp>
      <p:sp>
        <p:nvSpPr>
          <p:cNvPr id="71" name="Rounded Rectangle 70"/>
          <p:cNvSpPr/>
          <p:nvPr/>
        </p:nvSpPr>
        <p:spPr>
          <a:xfrm>
            <a:off x="2779776" y="5614416"/>
            <a:ext cx="2130552" cy="658368"/>
          </a:xfrm>
          <a:prstGeom prst="roundRect">
            <a:avLst/>
          </a:prstGeom>
          <a:solidFill>
            <a:srgbClr val="FFFFFF"/>
          </a:solidFill>
          <a:ln w="889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779776" y="5614416"/>
            <a:ext cx="54864" cy="65836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26080" y="5715000"/>
            <a:ext cx="1847088" cy="164592"/>
          </a:xfrm>
          <a:prstGeom prst="rect">
            <a:avLst/>
          </a:prstGeom>
          <a:noFill/>
        </p:spPr>
        <p:txBody>
          <a:bodyPr wrap="square" lIns="36576" rIns="36576" tIns="36576" bIns="36576" anchor="t">
            <a:noAutofit/>
          </a:bodyPr>
          <a:lstStyle/>
          <a:p>
            <a:pPr algn="l">
              <a:spcBef>
                <a:spcPts val="0"/>
              </a:spcBef>
              <a:spcAft>
                <a:spcPts val="0"/>
              </a:spcAft>
            </a:pPr>
            <a:r>
              <a:rPr sz="760" b="1">
                <a:solidFill>
                  <a:srgbClr val="EA580C"/>
                </a:solidFill>
                <a:latin typeface="Segoe UI"/>
              </a:rPr>
              <a:t>CONNECTED METADATA</a:t>
            </a:r>
          </a:p>
        </p:txBody>
      </p:sp>
      <p:sp>
        <p:nvSpPr>
          <p:cNvPr id="74" name="TextBox 73"/>
          <p:cNvSpPr txBox="1"/>
          <p:nvPr/>
        </p:nvSpPr>
        <p:spPr>
          <a:xfrm>
            <a:off x="2926080" y="5916168"/>
            <a:ext cx="1847088" cy="219456"/>
          </a:xfrm>
          <a:prstGeom prst="rect">
            <a:avLst/>
          </a:prstGeom>
          <a:noFill/>
        </p:spPr>
        <p:txBody>
          <a:bodyPr wrap="square" lIns="36576" rIns="36576" tIns="36576" bIns="36576" anchor="t">
            <a:noAutofit/>
          </a:bodyPr>
          <a:lstStyle/>
          <a:p>
            <a:pPr algn="l">
              <a:spcBef>
                <a:spcPts val="0"/>
              </a:spcBef>
              <a:spcAft>
                <a:spcPts val="0"/>
              </a:spcAft>
            </a:pPr>
            <a:r>
              <a:rPr sz="819" b="1">
                <a:solidFill>
                  <a:srgbClr val="17233A"/>
                </a:solidFill>
                <a:latin typeface="Segoe UI"/>
              </a:rPr>
              <a:t>REST + Fabric + XMLA + Snowflake</a:t>
            </a:r>
          </a:p>
        </p:txBody>
      </p:sp>
      <p:sp>
        <p:nvSpPr>
          <p:cNvPr id="75" name="Rounded Rectangle 74"/>
          <p:cNvSpPr/>
          <p:nvPr/>
        </p:nvSpPr>
        <p:spPr>
          <a:xfrm>
            <a:off x="5029200" y="5614416"/>
            <a:ext cx="2130552" cy="658368"/>
          </a:xfrm>
          <a:prstGeom prst="roundRect">
            <a:avLst/>
          </a:prstGeom>
          <a:solidFill>
            <a:srgbClr val="FFFFFF"/>
          </a:solidFill>
          <a:ln w="889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5029200" y="5614416"/>
            <a:ext cx="54864" cy="65836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75504" y="5715000"/>
            <a:ext cx="1847088" cy="164592"/>
          </a:xfrm>
          <a:prstGeom prst="rect">
            <a:avLst/>
          </a:prstGeom>
          <a:noFill/>
        </p:spPr>
        <p:txBody>
          <a:bodyPr wrap="square" lIns="36576" rIns="36576" tIns="36576" bIns="36576" anchor="t">
            <a:noAutofit/>
          </a:bodyPr>
          <a:lstStyle/>
          <a:p>
            <a:pPr algn="l">
              <a:spcBef>
                <a:spcPts val="0"/>
              </a:spcBef>
              <a:spcAft>
                <a:spcPts val="0"/>
              </a:spcAft>
            </a:pPr>
            <a:r>
              <a:rPr sz="760" b="1">
                <a:solidFill>
                  <a:srgbClr val="0F766E"/>
                </a:solidFill>
                <a:latin typeface="Segoe UI"/>
              </a:rPr>
              <a:t>POWERAI MODAL</a:t>
            </a:r>
          </a:p>
        </p:txBody>
      </p:sp>
      <p:sp>
        <p:nvSpPr>
          <p:cNvPr id="78" name="TextBox 77"/>
          <p:cNvSpPr txBox="1"/>
          <p:nvPr/>
        </p:nvSpPr>
        <p:spPr>
          <a:xfrm>
            <a:off x="5175504" y="5916168"/>
            <a:ext cx="1847088" cy="219456"/>
          </a:xfrm>
          <a:prstGeom prst="rect">
            <a:avLst/>
          </a:prstGeom>
          <a:noFill/>
        </p:spPr>
        <p:txBody>
          <a:bodyPr wrap="square" lIns="36576" rIns="36576" tIns="36576" bIns="36576" anchor="t">
            <a:noAutofit/>
          </a:bodyPr>
          <a:lstStyle/>
          <a:p>
            <a:pPr algn="l">
              <a:spcBef>
                <a:spcPts val="0"/>
              </a:spcBef>
              <a:spcAft>
                <a:spcPts val="0"/>
              </a:spcAft>
            </a:pPr>
            <a:r>
              <a:rPr sz="819" b="1">
                <a:solidFill>
                  <a:srgbClr val="17233A"/>
                </a:solidFill>
                <a:latin typeface="Segoe UI"/>
              </a:rPr>
              <a:t>Ask without leaving page</a:t>
            </a:r>
          </a:p>
        </p:txBody>
      </p:sp>
      <p:sp>
        <p:nvSpPr>
          <p:cNvPr id="79" name="Rounded Rectangle 78"/>
          <p:cNvSpPr/>
          <p:nvPr/>
        </p:nvSpPr>
        <p:spPr>
          <a:xfrm>
            <a:off x="7278624" y="5614416"/>
            <a:ext cx="2130552" cy="658368"/>
          </a:xfrm>
          <a:prstGeom prst="roundRect">
            <a:avLst/>
          </a:prstGeom>
          <a:solidFill>
            <a:srgbClr val="FFFFFF"/>
          </a:solidFill>
          <a:ln w="889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278624" y="5614416"/>
            <a:ext cx="54864" cy="65836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424927" y="5715000"/>
            <a:ext cx="1847088" cy="164592"/>
          </a:xfrm>
          <a:prstGeom prst="rect">
            <a:avLst/>
          </a:prstGeom>
          <a:noFill/>
        </p:spPr>
        <p:txBody>
          <a:bodyPr wrap="square" lIns="36576" rIns="36576" tIns="36576" bIns="36576" anchor="t">
            <a:noAutofit/>
          </a:bodyPr>
          <a:lstStyle/>
          <a:p>
            <a:pPr algn="l">
              <a:spcBef>
                <a:spcPts val="0"/>
              </a:spcBef>
              <a:spcAft>
                <a:spcPts val="0"/>
              </a:spcAft>
            </a:pPr>
            <a:r>
              <a:rPr sz="760" b="1">
                <a:solidFill>
                  <a:srgbClr val="059669"/>
                </a:solidFill>
                <a:latin typeface="Segoe UI"/>
              </a:rPr>
              <a:t>ANSWER EXPORT</a:t>
            </a:r>
          </a:p>
        </p:txBody>
      </p:sp>
      <p:sp>
        <p:nvSpPr>
          <p:cNvPr id="82" name="TextBox 81"/>
          <p:cNvSpPr txBox="1"/>
          <p:nvPr/>
        </p:nvSpPr>
        <p:spPr>
          <a:xfrm>
            <a:off x="7424927" y="5916168"/>
            <a:ext cx="1847088" cy="219456"/>
          </a:xfrm>
          <a:prstGeom prst="rect">
            <a:avLst/>
          </a:prstGeom>
          <a:noFill/>
        </p:spPr>
        <p:txBody>
          <a:bodyPr wrap="square" lIns="36576" rIns="36576" tIns="36576" bIns="36576" anchor="t">
            <a:noAutofit/>
          </a:bodyPr>
          <a:lstStyle/>
          <a:p>
            <a:pPr algn="l">
              <a:spcBef>
                <a:spcPts val="0"/>
              </a:spcBef>
              <a:spcAft>
                <a:spcPts val="0"/>
              </a:spcAft>
            </a:pPr>
            <a:r>
              <a:rPr sz="819" b="1">
                <a:solidFill>
                  <a:srgbClr val="17233A"/>
                </a:solidFill>
                <a:latin typeface="Segoe UI"/>
              </a:rPr>
              <a:t>Clean .md output only</a:t>
            </a:r>
          </a:p>
        </p:txBody>
      </p:sp>
      <p:sp>
        <p:nvSpPr>
          <p:cNvPr id="83" name="TextBox 82"/>
          <p:cNvSpPr txBox="1"/>
          <p:nvPr/>
        </p:nvSpPr>
        <p:spPr>
          <a:xfrm>
            <a:off x="9646920" y="5623560"/>
            <a:ext cx="1993392" cy="640080"/>
          </a:xfrm>
          <a:prstGeom prst="rect">
            <a:avLst/>
          </a:prstGeom>
          <a:noFill/>
        </p:spPr>
        <p:txBody>
          <a:bodyPr wrap="square" lIns="36576" rIns="36576" tIns="36576" bIns="36576" anchor="ctr">
            <a:noAutofit/>
          </a:bodyPr>
          <a:lstStyle/>
          <a:p>
            <a:pPr algn="ctr">
              <a:spcBef>
                <a:spcPts val="0"/>
              </a:spcBef>
              <a:spcAft>
                <a:spcPts val="0"/>
              </a:spcAft>
            </a:pPr>
            <a:r>
              <a:rPr sz="800" b="1">
                <a:solidFill>
                  <a:srgbClr val="5E6D85"/>
                </a:solidFill>
                <a:latin typeface="Segoe UI"/>
              </a:rPr>
              <a:t>Every answer is tied to app-collected metadata;
PowerAI explains but does not change data.</a:t>
            </a:r>
          </a:p>
        </p:txBody>
      </p:sp>
      <p:sp>
        <p:nvSpPr>
          <p:cNvPr id="84" name="TextBox 83"/>
          <p:cNvSpPr txBox="1"/>
          <p:nvPr/>
        </p:nvSpPr>
        <p:spPr>
          <a:xfrm>
            <a:off x="530352" y="6528816"/>
            <a:ext cx="4754880" cy="201168"/>
          </a:xfrm>
          <a:prstGeom prst="rect">
            <a:avLst/>
          </a:prstGeom>
          <a:noFill/>
        </p:spPr>
        <p:txBody>
          <a:bodyPr wrap="square" lIns="36576" rIns="36576" tIns="36576" bIns="36576" anchor="ctr">
            <a:noAutofit/>
          </a:bodyPr>
          <a:lstStyle/>
          <a:p>
            <a:pPr algn="l">
              <a:spcBef>
                <a:spcPts val="0"/>
              </a:spcBef>
              <a:spcAft>
                <a:spcPts val="0"/>
              </a:spcAft>
            </a:pPr>
            <a:r>
              <a:rPr sz="750" b="1">
                <a:solidFill>
                  <a:srgbClr val="5E6D85"/>
                </a:solidFill>
                <a:latin typeface="Segoe UI"/>
              </a:rPr>
              <a:t>PBI LINEAGE EXPLORER  |  POWER BI + FABRIC + XMLA + SNOWFLAKE</a:t>
            </a:r>
          </a:p>
        </p:txBody>
      </p:sp>
      <p:sp>
        <p:nvSpPr>
          <p:cNvPr id="85" name="TextBox 84"/>
          <p:cNvSpPr txBox="1"/>
          <p:nvPr/>
        </p:nvSpPr>
        <p:spPr>
          <a:xfrm>
            <a:off x="11320272" y="6528816"/>
            <a:ext cx="347472" cy="201168"/>
          </a:xfrm>
          <a:prstGeom prst="rect">
            <a:avLst/>
          </a:prstGeom>
          <a:noFill/>
        </p:spPr>
        <p:txBody>
          <a:bodyPr wrap="square" lIns="36576" rIns="36576" tIns="36576" bIns="36576" anchor="ctr">
            <a:noAutofit/>
          </a:bodyPr>
          <a:lstStyle/>
          <a:p>
            <a:pPr algn="r">
              <a:spcBef>
                <a:spcPts val="0"/>
              </a:spcBef>
              <a:spcAft>
                <a:spcPts val="0"/>
              </a:spcAft>
            </a:pPr>
            <a:r>
              <a:rPr sz="750" b="1">
                <a:solidFill>
                  <a:srgbClr val="5E6D85"/>
                </a:solidFill>
                <a:latin typeface="Segoe UI"/>
              </a:rPr>
              <a:t>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PBI Lineage Explorer: User Value and Architecture</dc:title>
  <dc:subject>Two-slide user value and architecture overview</dc:subject>
  <dc:creator>PBI Lineage Explorer</dc:creator>
  <cp:keywords>Power BI, Snowflake, lineage, architecture, impact analysis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