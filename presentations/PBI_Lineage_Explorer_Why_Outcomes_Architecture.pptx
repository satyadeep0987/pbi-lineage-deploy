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human question on the left. Teams are not asking for APIs or DMVs; they want to know what will be affected by a change. Explain that the application connects the report, visual, measure, semantic model and Snowflake source into one evidence trail. Close with the three outcomes: faster answers, safer changes and evidence that can be shared. Avoid claiming that AI or the app creates lineage; the platform metadata remains the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from left to right. The user stays in one Streamlit experience. The middle layer keeps the authenticated session, joins metadata by stable IDs and runs impact analysis. The platform boxes show why more than one connector is required: REST and Fabric provide inventory and visual definitions, XMLA provides semantic-model detail and requires the Windows execution path, and Snowflake provides physical source lineage. Highlight the four delivered changes along the bottom. The Claude box is clearly a proposed next step: it can explain and investigate the evidence through read-only tools, but it must not replace the lineage engines or make unapproved 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02920" y="310896"/>
            <a:ext cx="402336"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402336" cy="365760"/>
          </a:xfrm>
          <a:prstGeom prst="rect">
            <a:avLst/>
          </a:prstGeom>
          <a:noFill/>
        </p:spPr>
        <p:txBody>
          <a:bodyPr wrap="square" lIns="0" rIns="0" tIns="0" bIns="0" anchor="ctr">
            <a:noAutofit/>
          </a:bodyPr>
          <a:lstStyle/>
          <a:p>
            <a:pPr algn="ctr">
              <a:spcBef>
                <a:spcPts val="0"/>
              </a:spcBef>
              <a:spcAft>
                <a:spcPts val="0"/>
              </a:spcAft>
            </a:pPr>
            <a:r>
              <a:rPr sz="900" b="1">
                <a:solidFill>
                  <a:srgbClr val="FFFFFF"/>
                </a:solidFill>
                <a:latin typeface="Segoe UI"/>
              </a:rPr>
              <a:t>PBI</a:t>
            </a:r>
          </a:p>
        </p:txBody>
      </p:sp>
      <p:sp>
        <p:nvSpPr>
          <p:cNvPr id="4" name="TextBox 3"/>
          <p:cNvSpPr txBox="1"/>
          <p:nvPr/>
        </p:nvSpPr>
        <p:spPr>
          <a:xfrm>
            <a:off x="987552" y="301752"/>
            <a:ext cx="2194560" cy="384048"/>
          </a:xfrm>
          <a:prstGeom prst="rect">
            <a:avLst/>
          </a:prstGeom>
          <a:noFill/>
        </p:spPr>
        <p:txBody>
          <a:bodyPr wrap="square" lIns="36576" rIns="36576" tIns="36576" bIns="36576" anchor="ctr">
            <a:noAutofit/>
          </a:bodyPr>
          <a:lstStyle/>
          <a:p>
            <a:pPr algn="l">
              <a:spcBef>
                <a:spcPts val="0"/>
              </a:spcBef>
              <a:spcAft>
                <a:spcPts val="0"/>
              </a:spcAft>
            </a:pPr>
            <a:r>
              <a:rPr sz="1500" b="1">
                <a:solidFill>
                  <a:srgbClr val="10213D"/>
                </a:solidFill>
                <a:latin typeface="Segoe UI"/>
              </a:rPr>
              <a:t>Lineage Explorer</a:t>
            </a:r>
          </a:p>
        </p:txBody>
      </p:sp>
      <p:sp>
        <p:nvSpPr>
          <p:cNvPr id="5" name="TextBox 4"/>
          <p:cNvSpPr txBox="1"/>
          <p:nvPr/>
        </p:nvSpPr>
        <p:spPr>
          <a:xfrm>
            <a:off x="8823960" y="338328"/>
            <a:ext cx="260604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2563EB"/>
                </a:solidFill>
                <a:latin typeface="Segoe UI"/>
              </a:rPr>
              <a:t>01  /  WHY THIS APP</a:t>
            </a:r>
          </a:p>
        </p:txBody>
      </p:sp>
      <p:sp>
        <p:nvSpPr>
          <p:cNvPr id="6" name="TextBox 5"/>
          <p:cNvSpPr txBox="1"/>
          <p:nvPr/>
        </p:nvSpPr>
        <p:spPr>
          <a:xfrm>
            <a:off x="11457432" y="338328"/>
            <a:ext cx="22860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5E6D85"/>
                </a:solidFill>
                <a:latin typeface="Segoe UI"/>
              </a:rPr>
              <a:t>01</a:t>
            </a:r>
          </a:p>
        </p:txBody>
      </p:sp>
      <p:cxnSp>
        <p:nvCxnSpPr>
          <p:cNvPr id="7" name="Connector 6"/>
          <p:cNvCxnSpPr/>
          <p:nvPr/>
        </p:nvCxnSpPr>
        <p:spPr>
          <a:xfrm>
            <a:off x="502920" y="804672"/>
            <a:ext cx="11183112" cy="0"/>
          </a:xfrm>
          <a:prstGeom prst="line">
            <a:avLst/>
          </a:prstGeom>
          <a:ln w="1016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1024128"/>
            <a:ext cx="10972800" cy="457200"/>
          </a:xfrm>
          <a:prstGeom prst="rect">
            <a:avLst/>
          </a:prstGeom>
          <a:noFill/>
        </p:spPr>
        <p:txBody>
          <a:bodyPr wrap="square" lIns="36576" rIns="36576" tIns="36576" bIns="36576" anchor="ctr">
            <a:noAutofit/>
          </a:bodyPr>
          <a:lstStyle/>
          <a:p>
            <a:pPr algn="l">
              <a:spcBef>
                <a:spcPts val="0"/>
              </a:spcBef>
              <a:spcAft>
                <a:spcPts val="0"/>
              </a:spcAft>
            </a:pPr>
            <a:r>
              <a:rPr sz="2700" b="1">
                <a:solidFill>
                  <a:srgbClr val="10213D"/>
                </a:solidFill>
                <a:latin typeface="Segoe UI"/>
              </a:rPr>
              <a:t>From scattered metadata to one trusted impact story</a:t>
            </a:r>
          </a:p>
        </p:txBody>
      </p:sp>
      <p:sp>
        <p:nvSpPr>
          <p:cNvPr id="9" name="TextBox 8"/>
          <p:cNvSpPr txBox="1"/>
          <p:nvPr/>
        </p:nvSpPr>
        <p:spPr>
          <a:xfrm>
            <a:off x="530352" y="1536192"/>
            <a:ext cx="10789920" cy="347472"/>
          </a:xfrm>
          <a:prstGeom prst="rect">
            <a:avLst/>
          </a:prstGeom>
          <a:noFill/>
        </p:spPr>
        <p:txBody>
          <a:bodyPr wrap="square" lIns="36576" rIns="36576" tIns="36576" bIns="36576" anchor="ctr">
            <a:noAutofit/>
          </a:bodyPr>
          <a:lstStyle/>
          <a:p>
            <a:pPr algn="l">
              <a:spcBef>
                <a:spcPts val="0"/>
              </a:spcBef>
              <a:spcAft>
                <a:spcPts val="0"/>
              </a:spcAft>
            </a:pPr>
            <a:r>
              <a:rPr sz="1300" b="0">
                <a:solidFill>
                  <a:srgbClr val="5E6D85"/>
                </a:solidFill>
                <a:latin typeface="Segoe UI"/>
              </a:rPr>
              <a:t>A clear answer to one human question: if something changes, what else is affected?</a:t>
            </a:r>
          </a:p>
        </p:txBody>
      </p:sp>
      <p:sp>
        <p:nvSpPr>
          <p:cNvPr id="10" name="Rounded Rectangle 9"/>
          <p:cNvSpPr/>
          <p:nvPr/>
        </p:nvSpPr>
        <p:spPr>
          <a:xfrm>
            <a:off x="530352" y="2084831"/>
            <a:ext cx="2852928" cy="3584448"/>
          </a:xfrm>
          <a:prstGeom prst="round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13432"/>
            <a:ext cx="2377440" cy="228600"/>
          </a:xfrm>
          <a:prstGeom prst="rect">
            <a:avLst/>
          </a:prstGeom>
          <a:noFill/>
        </p:spPr>
        <p:txBody>
          <a:bodyPr wrap="square" lIns="36576" rIns="36576" tIns="36576" bIns="36576" anchor="t">
            <a:noAutofit/>
          </a:bodyPr>
          <a:lstStyle/>
          <a:p>
            <a:pPr algn="l">
              <a:spcBef>
                <a:spcPts val="0"/>
              </a:spcBef>
              <a:spcAft>
                <a:spcPts val="0"/>
              </a:spcAft>
            </a:pPr>
            <a:r>
              <a:rPr sz="850" b="1">
                <a:solidFill>
                  <a:srgbClr val="8FB7FF"/>
                </a:solidFill>
                <a:latin typeface="Segoe UI"/>
              </a:rPr>
              <a:t>THE REAL QUESTION</a:t>
            </a:r>
          </a:p>
        </p:txBody>
      </p:sp>
      <p:sp>
        <p:nvSpPr>
          <p:cNvPr id="12" name="TextBox 11"/>
          <p:cNvSpPr txBox="1"/>
          <p:nvPr/>
        </p:nvSpPr>
        <p:spPr>
          <a:xfrm>
            <a:off x="768096" y="2660904"/>
            <a:ext cx="2304288" cy="1444752"/>
          </a:xfrm>
          <a:prstGeom prst="rect">
            <a:avLst/>
          </a:prstGeom>
          <a:noFill/>
        </p:spPr>
        <p:txBody>
          <a:bodyPr wrap="square" lIns="36576" rIns="36576" tIns="36576" bIns="36576" anchor="ctr">
            <a:noAutofit/>
          </a:bodyPr>
          <a:lstStyle/>
          <a:p>
            <a:pPr algn="l">
              <a:spcBef>
                <a:spcPts val="0"/>
              </a:spcBef>
              <a:spcAft>
                <a:spcPts val="0"/>
              </a:spcAft>
            </a:pPr>
            <a:r>
              <a:rPr sz="1700" b="1">
                <a:solidFill>
                  <a:srgbClr val="FFFFFF"/>
                </a:solidFill>
                <a:latin typeface="Segoe UI"/>
              </a:rPr>
              <a:t>"If this column or measure changes, what reports and decisions are affected?"</a:t>
            </a:r>
          </a:p>
        </p:txBody>
      </p:sp>
      <p:cxnSp>
        <p:nvCxnSpPr>
          <p:cNvPr id="13" name="Connector 12"/>
          <p:cNvCxnSpPr/>
          <p:nvPr/>
        </p:nvCxnSpPr>
        <p:spPr>
          <a:xfrm>
            <a:off x="768096" y="4169663"/>
            <a:ext cx="2322576" cy="0"/>
          </a:xfrm>
          <a:prstGeom prst="line">
            <a:avLst/>
          </a:prstGeom>
          <a:ln w="10160">
            <a:solidFill>
              <a:srgbClr val="40506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 y="4315968"/>
            <a:ext cx="2286000" cy="347472"/>
          </a:xfrm>
          <a:prstGeom prst="rect">
            <a:avLst/>
          </a:prstGeom>
          <a:noFill/>
        </p:spPr>
        <p:txBody>
          <a:bodyPr wrap="square" lIns="36576" rIns="36576" tIns="36576" bIns="36576" anchor="t">
            <a:noAutofit/>
          </a:bodyPr>
          <a:lstStyle/>
          <a:p>
            <a:pPr algn="l">
              <a:spcBef>
                <a:spcPts val="0"/>
              </a:spcBef>
              <a:spcAft>
                <a:spcPts val="0"/>
              </a:spcAft>
            </a:pPr>
            <a:r>
              <a:rPr sz="950" b="0">
                <a:solidFill>
                  <a:srgbClr val="D9E3F1"/>
                </a:solidFill>
                <a:latin typeface="Segoe UI"/>
              </a:rPr>
              <a:t>Today the clues live in separate places:</a:t>
            </a:r>
          </a:p>
        </p:txBody>
      </p:sp>
      <p:sp>
        <p:nvSpPr>
          <p:cNvPr id="15" name="Rounded Rectangle 14"/>
          <p:cNvSpPr/>
          <p:nvPr/>
        </p:nvSpPr>
        <p:spPr>
          <a:xfrm>
            <a:off x="768096" y="475488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75488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POWER BI</a:t>
            </a:r>
          </a:p>
        </p:txBody>
      </p:sp>
      <p:sp>
        <p:nvSpPr>
          <p:cNvPr id="17" name="Rounded Rectangle 16"/>
          <p:cNvSpPr/>
          <p:nvPr/>
        </p:nvSpPr>
        <p:spPr>
          <a:xfrm>
            <a:off x="1874519" y="475488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74519" y="475488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FABRIC</a:t>
            </a:r>
          </a:p>
        </p:txBody>
      </p:sp>
      <p:sp>
        <p:nvSpPr>
          <p:cNvPr id="19" name="Rounded Rectangle 18"/>
          <p:cNvSpPr/>
          <p:nvPr/>
        </p:nvSpPr>
        <p:spPr>
          <a:xfrm>
            <a:off x="768096" y="512064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512064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XMLA</a:t>
            </a:r>
          </a:p>
        </p:txBody>
      </p:sp>
      <p:sp>
        <p:nvSpPr>
          <p:cNvPr id="21" name="Rounded Rectangle 20"/>
          <p:cNvSpPr/>
          <p:nvPr/>
        </p:nvSpPr>
        <p:spPr>
          <a:xfrm>
            <a:off x="1874519" y="5120640"/>
            <a:ext cx="987552" cy="265176"/>
          </a:xfrm>
          <a:prstGeom prst="roundRect">
            <a:avLst/>
          </a:prstGeom>
          <a:solidFill>
            <a:srgbClr val="243653"/>
          </a:solidFill>
          <a:ln w="7620">
            <a:solidFill>
              <a:srgbClr val="405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74519" y="5120640"/>
            <a:ext cx="987552" cy="265176"/>
          </a:xfrm>
          <a:prstGeom prst="rect">
            <a:avLst/>
          </a:prstGeom>
          <a:noFill/>
        </p:spPr>
        <p:txBody>
          <a:bodyPr wrap="square" lIns="0" rIns="0" tIns="0" bIns="0" anchor="ctr">
            <a:noAutofit/>
          </a:bodyPr>
          <a:lstStyle/>
          <a:p>
            <a:pPr algn="ctr">
              <a:spcBef>
                <a:spcPts val="0"/>
              </a:spcBef>
              <a:spcAft>
                <a:spcPts val="0"/>
              </a:spcAft>
            </a:pPr>
            <a:r>
              <a:rPr sz="730" b="1">
                <a:solidFill>
                  <a:srgbClr val="FFFFFF"/>
                </a:solidFill>
                <a:latin typeface="Segoe UI"/>
              </a:rPr>
              <a:t>SNOWFLAKE</a:t>
            </a:r>
          </a:p>
        </p:txBody>
      </p:sp>
      <p:sp>
        <p:nvSpPr>
          <p:cNvPr id="23" name="TextBox 22"/>
          <p:cNvSpPr txBox="1"/>
          <p:nvPr/>
        </p:nvSpPr>
        <p:spPr>
          <a:xfrm>
            <a:off x="3675887" y="2121408"/>
            <a:ext cx="4297680" cy="310896"/>
          </a:xfrm>
          <a:prstGeom prst="rect">
            <a:avLst/>
          </a:prstGeom>
          <a:noFill/>
        </p:spPr>
        <p:txBody>
          <a:bodyPr wrap="square" lIns="36576" rIns="36576" tIns="36576" bIns="36576" anchor="t">
            <a:noAutofit/>
          </a:bodyPr>
          <a:lstStyle/>
          <a:p>
            <a:pPr algn="l">
              <a:spcBef>
                <a:spcPts val="0"/>
              </a:spcBef>
              <a:spcAft>
                <a:spcPts val="0"/>
              </a:spcAft>
            </a:pPr>
            <a:r>
              <a:rPr sz="1400" b="1">
                <a:solidFill>
                  <a:srgbClr val="10213D"/>
                </a:solidFill>
                <a:latin typeface="Segoe UI"/>
              </a:rPr>
              <a:t>The application connects the trail</a:t>
            </a:r>
          </a:p>
        </p:txBody>
      </p:sp>
      <p:sp>
        <p:nvSpPr>
          <p:cNvPr id="24" name="TextBox 23"/>
          <p:cNvSpPr txBox="1"/>
          <p:nvPr/>
        </p:nvSpPr>
        <p:spPr>
          <a:xfrm>
            <a:off x="3675887" y="2459736"/>
            <a:ext cx="4251960" cy="384048"/>
          </a:xfrm>
          <a:prstGeom prst="rect">
            <a:avLst/>
          </a:prstGeom>
          <a:noFill/>
        </p:spPr>
        <p:txBody>
          <a:bodyPr wrap="square" lIns="36576" rIns="36576" tIns="36576" bIns="36576" anchor="t">
            <a:noAutofit/>
          </a:bodyPr>
          <a:lstStyle/>
          <a:p>
            <a:pPr algn="l">
              <a:spcBef>
                <a:spcPts val="0"/>
              </a:spcBef>
              <a:spcAft>
                <a:spcPts val="0"/>
              </a:spcAft>
            </a:pPr>
            <a:r>
              <a:rPr sz="950" b="0">
                <a:solidFill>
                  <a:srgbClr val="5E6D85"/>
                </a:solidFill>
                <a:latin typeface="Segoe UI"/>
              </a:rPr>
              <a:t>Every step remains tied to platform metadata, IDs and source definitions.</a:t>
            </a:r>
          </a:p>
        </p:txBody>
      </p:sp>
      <p:sp>
        <p:nvSpPr>
          <p:cNvPr id="25" name="Rounded Rectangle 24"/>
          <p:cNvSpPr/>
          <p:nvPr/>
        </p:nvSpPr>
        <p:spPr>
          <a:xfrm>
            <a:off x="3694176" y="2990088"/>
            <a:ext cx="1170432" cy="841248"/>
          </a:xfrm>
          <a:prstGeom prst="roundRect">
            <a:avLst/>
          </a:prstGeom>
          <a:solidFill>
            <a:srgbClr val="EAF2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03904" y="3118104"/>
            <a:ext cx="29260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03904" y="3118104"/>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R</a:t>
            </a:r>
          </a:p>
        </p:txBody>
      </p:sp>
      <p:sp>
        <p:nvSpPr>
          <p:cNvPr id="28" name="TextBox 27"/>
          <p:cNvSpPr txBox="1"/>
          <p:nvPr/>
        </p:nvSpPr>
        <p:spPr>
          <a:xfrm>
            <a:off x="3803904" y="3493008"/>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Report</a:t>
            </a:r>
          </a:p>
        </p:txBody>
      </p:sp>
      <p:sp>
        <p:nvSpPr>
          <p:cNvPr id="29" name="Rounded Rectangle 28"/>
          <p:cNvSpPr/>
          <p:nvPr/>
        </p:nvSpPr>
        <p:spPr>
          <a:xfrm>
            <a:off x="5184648" y="2990088"/>
            <a:ext cx="1170432" cy="841248"/>
          </a:xfrm>
          <a:prstGeom prst="roundRect">
            <a:avLst/>
          </a:prstGeom>
          <a:solidFill>
            <a:srgbClr val="E8F7F1"/>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294376" y="3118104"/>
            <a:ext cx="292608" cy="29260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4376" y="3118104"/>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V</a:t>
            </a:r>
          </a:p>
        </p:txBody>
      </p:sp>
      <p:sp>
        <p:nvSpPr>
          <p:cNvPr id="32" name="TextBox 31"/>
          <p:cNvSpPr txBox="1"/>
          <p:nvPr/>
        </p:nvSpPr>
        <p:spPr>
          <a:xfrm>
            <a:off x="5294376" y="3493008"/>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Visual</a:t>
            </a:r>
          </a:p>
        </p:txBody>
      </p:sp>
      <p:sp>
        <p:nvSpPr>
          <p:cNvPr id="33" name="Rounded Rectangle 32"/>
          <p:cNvSpPr/>
          <p:nvPr/>
        </p:nvSpPr>
        <p:spPr>
          <a:xfrm>
            <a:off x="6675120" y="2990088"/>
            <a:ext cx="1170432" cy="841248"/>
          </a:xfrm>
          <a:prstGeom prst="roundRect">
            <a:avLst/>
          </a:prstGeom>
          <a:solidFill>
            <a:srgbClr val="FFF0E8"/>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784848" y="3118104"/>
            <a:ext cx="29260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84848" y="3118104"/>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M</a:t>
            </a:r>
          </a:p>
        </p:txBody>
      </p:sp>
      <p:sp>
        <p:nvSpPr>
          <p:cNvPr id="36" name="TextBox 35"/>
          <p:cNvSpPr txBox="1"/>
          <p:nvPr/>
        </p:nvSpPr>
        <p:spPr>
          <a:xfrm>
            <a:off x="6784848" y="3493008"/>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Measure</a:t>
            </a:r>
          </a:p>
        </p:txBody>
      </p:sp>
      <p:sp>
        <p:nvSpPr>
          <p:cNvPr id="37" name="Right Arrow 36"/>
          <p:cNvSpPr/>
          <p:nvPr/>
        </p:nvSpPr>
        <p:spPr>
          <a:xfrm>
            <a:off x="4910328" y="3300984"/>
            <a:ext cx="201168" cy="164592"/>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Arrow 37"/>
          <p:cNvSpPr/>
          <p:nvPr/>
        </p:nvSpPr>
        <p:spPr>
          <a:xfrm>
            <a:off x="6400800" y="3300984"/>
            <a:ext cx="201168" cy="164592"/>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694176" y="4279392"/>
            <a:ext cx="1170432" cy="841248"/>
          </a:xfrm>
          <a:prstGeom prst="roundRect">
            <a:avLst/>
          </a:prstGeom>
          <a:solidFill>
            <a:srgbClr val="E8F7F1"/>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803904" y="4407407"/>
            <a:ext cx="292608" cy="29260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03904" y="4407407"/>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01</a:t>
            </a:r>
          </a:p>
        </p:txBody>
      </p:sp>
      <p:sp>
        <p:nvSpPr>
          <p:cNvPr id="42" name="TextBox 41"/>
          <p:cNvSpPr txBox="1"/>
          <p:nvPr/>
        </p:nvSpPr>
        <p:spPr>
          <a:xfrm>
            <a:off x="3803904" y="4782312"/>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Raw columns</a:t>
            </a:r>
          </a:p>
        </p:txBody>
      </p:sp>
      <p:sp>
        <p:nvSpPr>
          <p:cNvPr id="43" name="Rounded Rectangle 42"/>
          <p:cNvSpPr/>
          <p:nvPr/>
        </p:nvSpPr>
        <p:spPr>
          <a:xfrm>
            <a:off x="5184648" y="4279392"/>
            <a:ext cx="1170432" cy="841248"/>
          </a:xfrm>
          <a:prstGeom prst="roundRect">
            <a:avLst/>
          </a:prstGeom>
          <a:solidFill>
            <a:srgbClr val="E8F7F5"/>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294376" y="4407407"/>
            <a:ext cx="292608" cy="292608"/>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94376" y="4407407"/>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DB</a:t>
            </a:r>
          </a:p>
        </p:txBody>
      </p:sp>
      <p:sp>
        <p:nvSpPr>
          <p:cNvPr id="46" name="TextBox 45"/>
          <p:cNvSpPr txBox="1"/>
          <p:nvPr/>
        </p:nvSpPr>
        <p:spPr>
          <a:xfrm>
            <a:off x="5294376" y="4782312"/>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Snowflake</a:t>
            </a:r>
          </a:p>
        </p:txBody>
      </p:sp>
      <p:sp>
        <p:nvSpPr>
          <p:cNvPr id="47" name="Rounded Rectangle 46"/>
          <p:cNvSpPr/>
          <p:nvPr/>
        </p:nvSpPr>
        <p:spPr>
          <a:xfrm>
            <a:off x="6675120" y="4279392"/>
            <a:ext cx="1170432" cy="841248"/>
          </a:xfrm>
          <a:prstGeom prst="roundRect">
            <a:avLst/>
          </a:prstGeom>
          <a:solidFill>
            <a:srgbClr val="EAF2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784848" y="4407407"/>
            <a:ext cx="29260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84848" y="4407407"/>
            <a:ext cx="292608" cy="292608"/>
          </a:xfrm>
          <a:prstGeom prst="rect">
            <a:avLst/>
          </a:prstGeom>
          <a:noFill/>
        </p:spPr>
        <p:txBody>
          <a:bodyPr wrap="square" lIns="0" rIns="0" tIns="0" bIns="0" anchor="ctr">
            <a:noAutofit/>
          </a:bodyPr>
          <a:lstStyle/>
          <a:p>
            <a:pPr algn="ctr">
              <a:spcBef>
                <a:spcPts val="0"/>
              </a:spcBef>
              <a:spcAft>
                <a:spcPts val="0"/>
              </a:spcAft>
            </a:pPr>
            <a:r>
              <a:rPr sz="850" b="1">
                <a:solidFill>
                  <a:srgbClr val="FFFFFF"/>
                </a:solidFill>
                <a:latin typeface="Segoe UI"/>
              </a:rPr>
              <a:t>S</a:t>
            </a:r>
          </a:p>
        </p:txBody>
      </p:sp>
      <p:sp>
        <p:nvSpPr>
          <p:cNvPr id="50" name="TextBox 49"/>
          <p:cNvSpPr txBox="1"/>
          <p:nvPr/>
        </p:nvSpPr>
        <p:spPr>
          <a:xfrm>
            <a:off x="6784848" y="4782312"/>
            <a:ext cx="950976" cy="219456"/>
          </a:xfrm>
          <a:prstGeom prst="rect">
            <a:avLst/>
          </a:prstGeom>
          <a:noFill/>
        </p:spPr>
        <p:txBody>
          <a:bodyPr wrap="square" lIns="0" rIns="0" tIns="0" bIns="0" anchor="ctr">
            <a:noAutofit/>
          </a:bodyPr>
          <a:lstStyle/>
          <a:p>
            <a:pPr algn="ctr">
              <a:spcBef>
                <a:spcPts val="0"/>
              </a:spcBef>
              <a:spcAft>
                <a:spcPts val="0"/>
              </a:spcAft>
            </a:pPr>
            <a:r>
              <a:rPr sz="919" b="1">
                <a:solidFill>
                  <a:srgbClr val="17233A"/>
                </a:solidFill>
                <a:latin typeface="Segoe UI"/>
              </a:rPr>
              <a:t>Model</a:t>
            </a:r>
          </a:p>
        </p:txBody>
      </p:sp>
      <p:sp>
        <p:nvSpPr>
          <p:cNvPr id="51" name="Down Arrow 50"/>
          <p:cNvSpPr/>
          <p:nvPr/>
        </p:nvSpPr>
        <p:spPr>
          <a:xfrm>
            <a:off x="7132320" y="3913632"/>
            <a:ext cx="256032" cy="27432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Arrow 51"/>
          <p:cNvSpPr/>
          <p:nvPr/>
        </p:nvSpPr>
        <p:spPr>
          <a:xfrm>
            <a:off x="6400800" y="4590288"/>
            <a:ext cx="201168" cy="164592"/>
          </a:xfrm>
          <a:prstGeom prst="lef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eft Arrow 52"/>
          <p:cNvSpPr/>
          <p:nvPr/>
        </p:nvSpPr>
        <p:spPr>
          <a:xfrm>
            <a:off x="4910328" y="4590288"/>
            <a:ext cx="201168" cy="164592"/>
          </a:xfrm>
          <a:prstGeom prst="lef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675887" y="5321808"/>
            <a:ext cx="4178808" cy="347472"/>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75887" y="5321808"/>
            <a:ext cx="4178808" cy="347472"/>
          </a:xfrm>
          <a:prstGeom prst="rect">
            <a:avLst/>
          </a:prstGeom>
          <a:noFill/>
        </p:spPr>
        <p:txBody>
          <a:bodyPr wrap="square" lIns="0" rIns="0" tIns="0" bIns="0" anchor="ctr">
            <a:noAutofit/>
          </a:bodyPr>
          <a:lstStyle/>
          <a:p>
            <a:pPr algn="ctr">
              <a:spcBef>
                <a:spcPts val="0"/>
              </a:spcBef>
              <a:spcAft>
                <a:spcPts val="0"/>
              </a:spcAft>
            </a:pPr>
            <a:r>
              <a:rPr sz="800" b="1">
                <a:solidFill>
                  <a:srgbClr val="10213D"/>
                </a:solidFill>
                <a:latin typeface="Segoe UI"/>
              </a:rPr>
              <a:t>ONE SEARCH  |  ONE CONNECTED EVIDENCE TRAIL</a:t>
            </a:r>
          </a:p>
        </p:txBody>
      </p:sp>
      <p:sp>
        <p:nvSpPr>
          <p:cNvPr id="56" name="TextBox 55"/>
          <p:cNvSpPr txBox="1"/>
          <p:nvPr/>
        </p:nvSpPr>
        <p:spPr>
          <a:xfrm>
            <a:off x="8275320" y="2121408"/>
            <a:ext cx="3291840" cy="310896"/>
          </a:xfrm>
          <a:prstGeom prst="rect">
            <a:avLst/>
          </a:prstGeom>
          <a:noFill/>
        </p:spPr>
        <p:txBody>
          <a:bodyPr wrap="square" lIns="36576" rIns="36576" tIns="36576" bIns="36576" anchor="t">
            <a:noAutofit/>
          </a:bodyPr>
          <a:lstStyle/>
          <a:p>
            <a:pPr algn="l">
              <a:spcBef>
                <a:spcPts val="0"/>
              </a:spcBef>
              <a:spcAft>
                <a:spcPts val="0"/>
              </a:spcAft>
            </a:pPr>
            <a:r>
              <a:rPr sz="1400" b="1">
                <a:solidFill>
                  <a:srgbClr val="10213D"/>
                </a:solidFill>
                <a:latin typeface="Segoe UI"/>
              </a:rPr>
              <a:t>What people gain</a:t>
            </a:r>
          </a:p>
        </p:txBody>
      </p:sp>
      <p:sp>
        <p:nvSpPr>
          <p:cNvPr id="57" name="Rounded Rectangle 56"/>
          <p:cNvSpPr/>
          <p:nvPr/>
        </p:nvSpPr>
        <p:spPr>
          <a:xfrm>
            <a:off x="8275320" y="2633472"/>
            <a:ext cx="3291840" cy="768096"/>
          </a:xfrm>
          <a:prstGeom prst="roundRect">
            <a:avLst/>
          </a:prstGeom>
          <a:solidFill>
            <a:srgbClr val="FFFF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275320" y="2633472"/>
            <a:ext cx="64008" cy="7680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58200" y="2743200"/>
            <a:ext cx="2999232" cy="237744"/>
          </a:xfrm>
          <a:prstGeom prst="rect">
            <a:avLst/>
          </a:prstGeom>
          <a:noFill/>
        </p:spPr>
        <p:txBody>
          <a:bodyPr wrap="square" lIns="36576" rIns="36576" tIns="36576" bIns="36576" anchor="t">
            <a:noAutofit/>
          </a:bodyPr>
          <a:lstStyle/>
          <a:p>
            <a:pPr algn="l">
              <a:spcBef>
                <a:spcPts val="0"/>
              </a:spcBef>
              <a:spcAft>
                <a:spcPts val="0"/>
              </a:spcAft>
            </a:pPr>
            <a:r>
              <a:rPr sz="1200" b="1">
                <a:solidFill>
                  <a:srgbClr val="17233A"/>
                </a:solidFill>
                <a:latin typeface="Segoe UI"/>
              </a:rPr>
              <a:t>Faster answers</a:t>
            </a:r>
          </a:p>
        </p:txBody>
      </p:sp>
      <p:sp>
        <p:nvSpPr>
          <p:cNvPr id="60" name="TextBox 59"/>
          <p:cNvSpPr txBox="1"/>
          <p:nvPr/>
        </p:nvSpPr>
        <p:spPr>
          <a:xfrm>
            <a:off x="8458200" y="3035808"/>
            <a:ext cx="2999232" cy="283463"/>
          </a:xfrm>
          <a:prstGeom prst="rect">
            <a:avLst/>
          </a:prstGeom>
          <a:noFill/>
        </p:spPr>
        <p:txBody>
          <a:bodyPr wrap="square" lIns="36576" rIns="36576" tIns="36576" bIns="36576" anchor="t">
            <a:noAutofit/>
          </a:bodyPr>
          <a:lstStyle/>
          <a:p>
            <a:pPr algn="l">
              <a:spcBef>
                <a:spcPts val="0"/>
              </a:spcBef>
              <a:spcAft>
                <a:spcPts val="0"/>
              </a:spcAft>
            </a:pPr>
            <a:r>
              <a:rPr sz="850" b="0">
                <a:solidFill>
                  <a:srgbClr val="5E6D85"/>
                </a:solidFill>
                <a:latin typeface="Segoe UI"/>
              </a:rPr>
              <a:t>Move from a business question to the right report, measure and source.</a:t>
            </a:r>
          </a:p>
        </p:txBody>
      </p:sp>
      <p:sp>
        <p:nvSpPr>
          <p:cNvPr id="61" name="Rounded Rectangle 60"/>
          <p:cNvSpPr/>
          <p:nvPr/>
        </p:nvSpPr>
        <p:spPr>
          <a:xfrm>
            <a:off x="8275320" y="3557016"/>
            <a:ext cx="3291840" cy="768096"/>
          </a:xfrm>
          <a:prstGeom prst="roundRect">
            <a:avLst/>
          </a:prstGeom>
          <a:solidFill>
            <a:srgbClr val="FFFF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275320" y="3557016"/>
            <a:ext cx="64008" cy="76809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58200" y="3666744"/>
            <a:ext cx="2999232" cy="237744"/>
          </a:xfrm>
          <a:prstGeom prst="rect">
            <a:avLst/>
          </a:prstGeom>
          <a:noFill/>
        </p:spPr>
        <p:txBody>
          <a:bodyPr wrap="square" lIns="36576" rIns="36576" tIns="36576" bIns="36576" anchor="t">
            <a:noAutofit/>
          </a:bodyPr>
          <a:lstStyle/>
          <a:p>
            <a:pPr algn="l">
              <a:spcBef>
                <a:spcPts val="0"/>
              </a:spcBef>
              <a:spcAft>
                <a:spcPts val="0"/>
              </a:spcAft>
            </a:pPr>
            <a:r>
              <a:rPr sz="1200" b="1">
                <a:solidFill>
                  <a:srgbClr val="17233A"/>
                </a:solidFill>
                <a:latin typeface="Segoe UI"/>
              </a:rPr>
              <a:t>Safer changes</a:t>
            </a:r>
          </a:p>
        </p:txBody>
      </p:sp>
      <p:sp>
        <p:nvSpPr>
          <p:cNvPr id="64" name="TextBox 63"/>
          <p:cNvSpPr txBox="1"/>
          <p:nvPr/>
        </p:nvSpPr>
        <p:spPr>
          <a:xfrm>
            <a:off x="8458200" y="3959352"/>
            <a:ext cx="2999232" cy="283463"/>
          </a:xfrm>
          <a:prstGeom prst="rect">
            <a:avLst/>
          </a:prstGeom>
          <a:noFill/>
        </p:spPr>
        <p:txBody>
          <a:bodyPr wrap="square" lIns="36576" rIns="36576" tIns="36576" bIns="36576" anchor="t">
            <a:noAutofit/>
          </a:bodyPr>
          <a:lstStyle/>
          <a:p>
            <a:pPr algn="l">
              <a:spcBef>
                <a:spcPts val="0"/>
              </a:spcBef>
              <a:spcAft>
                <a:spcPts val="0"/>
              </a:spcAft>
            </a:pPr>
            <a:r>
              <a:rPr sz="850" b="0">
                <a:solidFill>
                  <a:srgbClr val="5E6D85"/>
                </a:solidFill>
                <a:latin typeface="Segoe UI"/>
              </a:rPr>
              <a:t>See downstream impact before changing a column, table or DAX measure.</a:t>
            </a:r>
          </a:p>
        </p:txBody>
      </p:sp>
      <p:sp>
        <p:nvSpPr>
          <p:cNvPr id="65" name="Rounded Rectangle 64"/>
          <p:cNvSpPr/>
          <p:nvPr/>
        </p:nvSpPr>
        <p:spPr>
          <a:xfrm>
            <a:off x="8275320" y="4480560"/>
            <a:ext cx="3291840" cy="768096"/>
          </a:xfrm>
          <a:prstGeom prst="roundRect">
            <a:avLst/>
          </a:prstGeom>
          <a:solidFill>
            <a:srgbClr val="FFFF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275320" y="4480560"/>
            <a:ext cx="64008" cy="76809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58200" y="4590288"/>
            <a:ext cx="2999232" cy="237744"/>
          </a:xfrm>
          <a:prstGeom prst="rect">
            <a:avLst/>
          </a:prstGeom>
          <a:noFill/>
        </p:spPr>
        <p:txBody>
          <a:bodyPr wrap="square" lIns="36576" rIns="36576" tIns="36576" bIns="36576" anchor="t">
            <a:noAutofit/>
          </a:bodyPr>
          <a:lstStyle/>
          <a:p>
            <a:pPr algn="l">
              <a:spcBef>
                <a:spcPts val="0"/>
              </a:spcBef>
              <a:spcAft>
                <a:spcPts val="0"/>
              </a:spcAft>
            </a:pPr>
            <a:r>
              <a:rPr sz="1200" b="1">
                <a:solidFill>
                  <a:srgbClr val="17233A"/>
                </a:solidFill>
                <a:latin typeface="Segoe UI"/>
              </a:rPr>
              <a:t>Evidence people can share</a:t>
            </a:r>
          </a:p>
        </p:txBody>
      </p:sp>
      <p:sp>
        <p:nvSpPr>
          <p:cNvPr id="68" name="TextBox 67"/>
          <p:cNvSpPr txBox="1"/>
          <p:nvPr/>
        </p:nvSpPr>
        <p:spPr>
          <a:xfrm>
            <a:off x="8458200" y="4882896"/>
            <a:ext cx="2999232" cy="283463"/>
          </a:xfrm>
          <a:prstGeom prst="rect">
            <a:avLst/>
          </a:prstGeom>
          <a:noFill/>
        </p:spPr>
        <p:txBody>
          <a:bodyPr wrap="square" lIns="36576" rIns="36576" tIns="36576" bIns="36576" anchor="t">
            <a:noAutofit/>
          </a:bodyPr>
          <a:lstStyle/>
          <a:p>
            <a:pPr algn="l">
              <a:spcBef>
                <a:spcPts val="0"/>
              </a:spcBef>
              <a:spcAft>
                <a:spcPts val="0"/>
              </a:spcAft>
            </a:pPr>
            <a:r>
              <a:rPr sz="850" b="0">
                <a:solidFill>
                  <a:srgbClr val="5E6D85"/>
                </a:solidFill>
                <a:latin typeface="Segoe UI"/>
              </a:rPr>
              <a:t>Export a repeatable explanation for review, audit and handover.</a:t>
            </a:r>
          </a:p>
        </p:txBody>
      </p:sp>
      <p:sp>
        <p:nvSpPr>
          <p:cNvPr id="69" name="TextBox 68"/>
          <p:cNvSpPr txBox="1"/>
          <p:nvPr/>
        </p:nvSpPr>
        <p:spPr>
          <a:xfrm>
            <a:off x="8302752" y="5385816"/>
            <a:ext cx="3246120" cy="274320"/>
          </a:xfrm>
          <a:prstGeom prst="rect">
            <a:avLst/>
          </a:prstGeom>
          <a:noFill/>
        </p:spPr>
        <p:txBody>
          <a:bodyPr wrap="square" lIns="36576" rIns="36576" tIns="36576" bIns="36576" anchor="ctr">
            <a:noAutofit/>
          </a:bodyPr>
          <a:lstStyle/>
          <a:p>
            <a:pPr algn="ctr">
              <a:spcBef>
                <a:spcPts val="0"/>
              </a:spcBef>
              <a:spcAft>
                <a:spcPts val="0"/>
              </a:spcAft>
            </a:pPr>
            <a:r>
              <a:rPr sz="869" b="1">
                <a:solidFill>
                  <a:srgbClr val="5E6D85"/>
                </a:solidFill>
                <a:latin typeface="Segoe UI"/>
              </a:rPr>
              <a:t>The app explains evidence; it does not invent lineage.</a:t>
            </a:r>
          </a:p>
        </p:txBody>
      </p:sp>
      <p:sp>
        <p:nvSpPr>
          <p:cNvPr id="70" name="Rounded Rectangle 69"/>
          <p:cNvSpPr/>
          <p:nvPr/>
        </p:nvSpPr>
        <p:spPr>
          <a:xfrm>
            <a:off x="530352" y="5989320"/>
            <a:ext cx="11036808" cy="420624"/>
          </a:xfrm>
          <a:prstGeom prst="round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3232" y="5989320"/>
            <a:ext cx="10671048" cy="420624"/>
          </a:xfrm>
          <a:prstGeom prst="rect">
            <a:avLst/>
          </a:prstGeom>
          <a:noFill/>
        </p:spPr>
        <p:txBody>
          <a:bodyPr wrap="square" lIns="0" rIns="0" tIns="0" bIns="0" anchor="ctr">
            <a:noAutofit/>
          </a:bodyPr>
          <a:lstStyle/>
          <a:p>
            <a:pPr algn="ctr">
              <a:spcBef>
                <a:spcPts val="0"/>
              </a:spcBef>
              <a:spcAft>
                <a:spcPts val="0"/>
              </a:spcAft>
            </a:pPr>
            <a:r>
              <a:rPr sz="1000" b="1">
                <a:solidFill>
                  <a:srgbClr val="FFFFFF"/>
                </a:solidFill>
                <a:latin typeface="Segoe UI"/>
              </a:rPr>
              <a:t>OUTCOME: ASK ONCE. TRACE END TO END. EXPLAIN WITH CONFIDENCE.</a:t>
            </a:r>
          </a:p>
        </p:txBody>
      </p:sp>
      <p:sp>
        <p:nvSpPr>
          <p:cNvPr id="72" name="TextBox 71"/>
          <p:cNvSpPr txBox="1"/>
          <p:nvPr/>
        </p:nvSpPr>
        <p:spPr>
          <a:xfrm>
            <a:off x="530352" y="6528816"/>
            <a:ext cx="4754880" cy="201168"/>
          </a:xfrm>
          <a:prstGeom prst="rect">
            <a:avLst/>
          </a:prstGeom>
          <a:noFill/>
        </p:spPr>
        <p:txBody>
          <a:bodyPr wrap="square" lIns="36576" rIns="36576" tIns="36576" bIns="36576" anchor="ctr">
            <a:noAutofit/>
          </a:bodyPr>
          <a:lstStyle/>
          <a:p>
            <a:pPr algn="l">
              <a:spcBef>
                <a:spcPts val="0"/>
              </a:spcBef>
              <a:spcAft>
                <a:spcPts val="0"/>
              </a:spcAft>
            </a:pPr>
            <a:r>
              <a:rPr sz="750" b="1">
                <a:solidFill>
                  <a:srgbClr val="5E6D85"/>
                </a:solidFill>
                <a:latin typeface="Segoe UI"/>
              </a:rPr>
              <a:t>PBI LINEAGE EXPLORER  |  POWER BI + FABRIC + XMLA + SNOWFLAKE</a:t>
            </a:r>
          </a:p>
        </p:txBody>
      </p:sp>
      <p:sp>
        <p:nvSpPr>
          <p:cNvPr id="73" name="TextBox 72"/>
          <p:cNvSpPr txBox="1"/>
          <p:nvPr/>
        </p:nvSpPr>
        <p:spPr>
          <a:xfrm>
            <a:off x="11320272" y="6528816"/>
            <a:ext cx="347472" cy="201168"/>
          </a:xfrm>
          <a:prstGeom prst="rect">
            <a:avLst/>
          </a:prstGeom>
          <a:noFill/>
        </p:spPr>
        <p:txBody>
          <a:bodyPr wrap="square" lIns="36576" rIns="36576" tIns="36576" bIns="36576" anchor="ctr">
            <a:noAutofit/>
          </a:bodyPr>
          <a:lstStyle/>
          <a:p>
            <a:pPr algn="r">
              <a:spcBef>
                <a:spcPts val="0"/>
              </a:spcBef>
              <a:spcAft>
                <a:spcPts val="0"/>
              </a:spcAft>
            </a:pPr>
            <a:r>
              <a:rPr sz="750" b="1">
                <a:solidFill>
                  <a:srgbClr val="5E6D85"/>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02920" y="310896"/>
            <a:ext cx="402336" cy="3657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402336" cy="365760"/>
          </a:xfrm>
          <a:prstGeom prst="rect">
            <a:avLst/>
          </a:prstGeom>
          <a:noFill/>
        </p:spPr>
        <p:txBody>
          <a:bodyPr wrap="square" lIns="0" rIns="0" tIns="0" bIns="0" anchor="ctr">
            <a:noAutofit/>
          </a:bodyPr>
          <a:lstStyle/>
          <a:p>
            <a:pPr algn="ctr">
              <a:spcBef>
                <a:spcPts val="0"/>
              </a:spcBef>
              <a:spcAft>
                <a:spcPts val="0"/>
              </a:spcAft>
            </a:pPr>
            <a:r>
              <a:rPr sz="900" b="1">
                <a:solidFill>
                  <a:srgbClr val="FFFFFF"/>
                </a:solidFill>
                <a:latin typeface="Segoe UI"/>
              </a:rPr>
              <a:t>PBI</a:t>
            </a:r>
          </a:p>
        </p:txBody>
      </p:sp>
      <p:sp>
        <p:nvSpPr>
          <p:cNvPr id="4" name="TextBox 3"/>
          <p:cNvSpPr txBox="1"/>
          <p:nvPr/>
        </p:nvSpPr>
        <p:spPr>
          <a:xfrm>
            <a:off x="987552" y="301752"/>
            <a:ext cx="2194560" cy="384048"/>
          </a:xfrm>
          <a:prstGeom prst="rect">
            <a:avLst/>
          </a:prstGeom>
          <a:noFill/>
        </p:spPr>
        <p:txBody>
          <a:bodyPr wrap="square" lIns="36576" rIns="36576" tIns="36576" bIns="36576" anchor="ctr">
            <a:noAutofit/>
          </a:bodyPr>
          <a:lstStyle/>
          <a:p>
            <a:pPr algn="l">
              <a:spcBef>
                <a:spcPts val="0"/>
              </a:spcBef>
              <a:spcAft>
                <a:spcPts val="0"/>
              </a:spcAft>
            </a:pPr>
            <a:r>
              <a:rPr sz="1500" b="1">
                <a:solidFill>
                  <a:srgbClr val="10213D"/>
                </a:solidFill>
                <a:latin typeface="Segoe UI"/>
              </a:rPr>
              <a:t>Lineage Explorer</a:t>
            </a:r>
          </a:p>
        </p:txBody>
      </p:sp>
      <p:sp>
        <p:nvSpPr>
          <p:cNvPr id="5" name="TextBox 4"/>
          <p:cNvSpPr txBox="1"/>
          <p:nvPr/>
        </p:nvSpPr>
        <p:spPr>
          <a:xfrm>
            <a:off x="8823960" y="338328"/>
            <a:ext cx="260604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2563EB"/>
                </a:solidFill>
                <a:latin typeface="Segoe UI"/>
              </a:rPr>
              <a:t>02  /  ARCHITECTURE CHANGES</a:t>
            </a:r>
          </a:p>
        </p:txBody>
      </p:sp>
      <p:sp>
        <p:nvSpPr>
          <p:cNvPr id="6" name="TextBox 5"/>
          <p:cNvSpPr txBox="1"/>
          <p:nvPr/>
        </p:nvSpPr>
        <p:spPr>
          <a:xfrm>
            <a:off x="11457432" y="338328"/>
            <a:ext cx="228600" cy="274320"/>
          </a:xfrm>
          <a:prstGeom prst="rect">
            <a:avLst/>
          </a:prstGeom>
          <a:noFill/>
        </p:spPr>
        <p:txBody>
          <a:bodyPr wrap="square" lIns="36576" rIns="36576" tIns="36576" bIns="36576" anchor="ctr">
            <a:noAutofit/>
          </a:bodyPr>
          <a:lstStyle/>
          <a:p>
            <a:pPr algn="r">
              <a:spcBef>
                <a:spcPts val="0"/>
              </a:spcBef>
              <a:spcAft>
                <a:spcPts val="0"/>
              </a:spcAft>
            </a:pPr>
            <a:r>
              <a:rPr sz="850" b="1">
                <a:solidFill>
                  <a:srgbClr val="5E6D85"/>
                </a:solidFill>
                <a:latin typeface="Segoe UI"/>
              </a:rPr>
              <a:t>02</a:t>
            </a:r>
          </a:p>
        </p:txBody>
      </p:sp>
      <p:cxnSp>
        <p:nvCxnSpPr>
          <p:cNvPr id="7" name="Connector 6"/>
          <p:cNvCxnSpPr/>
          <p:nvPr/>
        </p:nvCxnSpPr>
        <p:spPr>
          <a:xfrm>
            <a:off x="502920" y="804672"/>
            <a:ext cx="11183112" cy="0"/>
          </a:xfrm>
          <a:prstGeom prst="line">
            <a:avLst/>
          </a:prstGeom>
          <a:ln w="1016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1024128"/>
            <a:ext cx="10972800" cy="457200"/>
          </a:xfrm>
          <a:prstGeom prst="rect">
            <a:avLst/>
          </a:prstGeom>
          <a:noFill/>
        </p:spPr>
        <p:txBody>
          <a:bodyPr wrap="square" lIns="36576" rIns="36576" tIns="36576" bIns="36576" anchor="ctr">
            <a:noAutofit/>
          </a:bodyPr>
          <a:lstStyle/>
          <a:p>
            <a:pPr algn="l">
              <a:spcBef>
                <a:spcPts val="0"/>
              </a:spcBef>
              <a:spcAft>
                <a:spcPts val="0"/>
              </a:spcAft>
            </a:pPr>
            <a:r>
              <a:rPr sz="2700" b="1">
                <a:solidFill>
                  <a:srgbClr val="10213D"/>
                </a:solidFill>
                <a:latin typeface="Segoe UI"/>
              </a:rPr>
              <a:t>What changed to make end-to-end lineage possible</a:t>
            </a:r>
          </a:p>
        </p:txBody>
      </p:sp>
      <p:sp>
        <p:nvSpPr>
          <p:cNvPr id="9" name="TextBox 8"/>
          <p:cNvSpPr txBox="1"/>
          <p:nvPr/>
        </p:nvSpPr>
        <p:spPr>
          <a:xfrm>
            <a:off x="530352" y="1536192"/>
            <a:ext cx="10881360" cy="347472"/>
          </a:xfrm>
          <a:prstGeom prst="rect">
            <a:avLst/>
          </a:prstGeom>
          <a:noFill/>
        </p:spPr>
        <p:txBody>
          <a:bodyPr wrap="square" lIns="36576" rIns="36576" tIns="36576" bIns="36576" anchor="ctr">
            <a:noAutofit/>
          </a:bodyPr>
          <a:lstStyle/>
          <a:p>
            <a:pPr algn="l">
              <a:spcBef>
                <a:spcPts val="0"/>
              </a:spcBef>
              <a:spcAft>
                <a:spcPts val="0"/>
              </a:spcAft>
            </a:pPr>
            <a:r>
              <a:rPr sz="1250" b="0">
                <a:solidFill>
                  <a:srgbClr val="5E6D85"/>
                </a:solidFill>
                <a:latin typeface="Segoe UI"/>
              </a:rPr>
              <a:t>One experience coordinates each platform's strongest metadata path, while isolating the Windows-only work.</a:t>
            </a:r>
          </a:p>
        </p:txBody>
      </p:sp>
      <p:sp>
        <p:nvSpPr>
          <p:cNvPr id="10" name="TextBox 9"/>
          <p:cNvSpPr txBox="1"/>
          <p:nvPr/>
        </p:nvSpPr>
        <p:spPr>
          <a:xfrm>
            <a:off x="530352" y="2112264"/>
            <a:ext cx="1207008"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2563EB"/>
                </a:solidFill>
                <a:latin typeface="Segoe UI"/>
              </a:rPr>
              <a:t>PEOPLE</a:t>
            </a:r>
          </a:p>
        </p:txBody>
      </p:sp>
      <p:sp>
        <p:nvSpPr>
          <p:cNvPr id="11" name="Rounded Rectangle 10"/>
          <p:cNvSpPr/>
          <p:nvPr/>
        </p:nvSpPr>
        <p:spPr>
          <a:xfrm>
            <a:off x="530352" y="2441448"/>
            <a:ext cx="1207008" cy="1353312"/>
          </a:xfrm>
          <a:prstGeom prst="roundRect">
            <a:avLst/>
          </a:prstGeom>
          <a:solidFill>
            <a:srgbClr val="EAF2FF"/>
          </a:solidFill>
          <a:ln w="10160">
            <a:solidFill>
              <a:srgbClr val="BCD1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112" y="2679192"/>
            <a:ext cx="475488"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79192"/>
            <a:ext cx="475488" cy="475488"/>
          </a:xfrm>
          <a:prstGeom prst="rect">
            <a:avLst/>
          </a:prstGeom>
          <a:noFill/>
        </p:spPr>
        <p:txBody>
          <a:bodyPr wrap="square" lIns="0" rIns="0" tIns="0" bIns="0" anchor="ctr">
            <a:noAutofit/>
          </a:bodyPr>
          <a:lstStyle/>
          <a:p>
            <a:pPr algn="ctr">
              <a:spcBef>
                <a:spcPts val="0"/>
              </a:spcBef>
              <a:spcAft>
                <a:spcPts val="0"/>
              </a:spcAft>
            </a:pPr>
            <a:r>
              <a:rPr sz="1200" b="1">
                <a:solidFill>
                  <a:srgbClr val="FFFFFF"/>
                </a:solidFill>
                <a:latin typeface="Segoe UI"/>
              </a:rPr>
              <a:t>U</a:t>
            </a:r>
          </a:p>
        </p:txBody>
      </p:sp>
      <p:sp>
        <p:nvSpPr>
          <p:cNvPr id="14" name="TextBox 13"/>
          <p:cNvSpPr txBox="1"/>
          <p:nvPr/>
        </p:nvSpPr>
        <p:spPr>
          <a:xfrm>
            <a:off x="585216" y="3255264"/>
            <a:ext cx="1097280" cy="210312"/>
          </a:xfrm>
          <a:prstGeom prst="rect">
            <a:avLst/>
          </a:prstGeom>
          <a:noFill/>
        </p:spPr>
        <p:txBody>
          <a:bodyPr wrap="square" lIns="36576" rIns="36576" tIns="36576" bIns="36576" anchor="t">
            <a:noAutofit/>
          </a:bodyPr>
          <a:lstStyle/>
          <a:p>
            <a:pPr algn="ctr">
              <a:spcBef>
                <a:spcPts val="0"/>
              </a:spcBef>
              <a:spcAft>
                <a:spcPts val="0"/>
              </a:spcAft>
            </a:pPr>
            <a:r>
              <a:rPr sz="810" b="1">
                <a:solidFill>
                  <a:srgbClr val="17233A"/>
                </a:solidFill>
                <a:latin typeface="Segoe UI"/>
              </a:rPr>
              <a:t>Analyst / owner</a:t>
            </a:r>
          </a:p>
        </p:txBody>
      </p:sp>
      <p:sp>
        <p:nvSpPr>
          <p:cNvPr id="15" name="TextBox 14"/>
          <p:cNvSpPr txBox="1"/>
          <p:nvPr/>
        </p:nvSpPr>
        <p:spPr>
          <a:xfrm>
            <a:off x="640080" y="3511296"/>
            <a:ext cx="987552" cy="182880"/>
          </a:xfrm>
          <a:prstGeom prst="rect">
            <a:avLst/>
          </a:prstGeom>
          <a:noFill/>
        </p:spPr>
        <p:txBody>
          <a:bodyPr wrap="square" lIns="36576" rIns="36576" tIns="36576" bIns="36576" anchor="t">
            <a:noAutofit/>
          </a:bodyPr>
          <a:lstStyle/>
          <a:p>
            <a:pPr algn="ctr">
              <a:spcBef>
                <a:spcPts val="0"/>
              </a:spcBef>
              <a:spcAft>
                <a:spcPts val="0"/>
              </a:spcAft>
            </a:pPr>
            <a:r>
              <a:rPr sz="750" b="0">
                <a:solidFill>
                  <a:srgbClr val="5E6D85"/>
                </a:solidFill>
                <a:latin typeface="Segoe UI"/>
              </a:rPr>
              <a:t>Browser access</a:t>
            </a:r>
          </a:p>
        </p:txBody>
      </p:sp>
      <p:sp>
        <p:nvSpPr>
          <p:cNvPr id="16" name="Right Arrow 15"/>
          <p:cNvSpPr/>
          <p:nvPr/>
        </p:nvSpPr>
        <p:spPr>
          <a:xfrm>
            <a:off x="1865376" y="2962656"/>
            <a:ext cx="274320" cy="256032"/>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2112264"/>
            <a:ext cx="3383280"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2563EB"/>
                </a:solidFill>
                <a:latin typeface="Segoe UI"/>
              </a:rPr>
              <a:t>PBI LINEAGE EXPLORER</a:t>
            </a:r>
          </a:p>
        </p:txBody>
      </p:sp>
      <p:sp>
        <p:nvSpPr>
          <p:cNvPr id="18" name="Rounded Rectangle 17"/>
          <p:cNvSpPr/>
          <p:nvPr/>
        </p:nvSpPr>
        <p:spPr>
          <a:xfrm>
            <a:off x="2286000" y="2441448"/>
            <a:ext cx="3383280" cy="2724912"/>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2441448"/>
            <a:ext cx="3383280" cy="402336"/>
          </a:xfrm>
          <a:prstGeom prst="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2304" y="2441448"/>
            <a:ext cx="3090672" cy="402336"/>
          </a:xfrm>
          <a:prstGeom prst="rect">
            <a:avLst/>
          </a:prstGeom>
          <a:noFill/>
        </p:spPr>
        <p:txBody>
          <a:bodyPr wrap="square" lIns="0" rIns="0" tIns="0" bIns="0" anchor="ctr">
            <a:noAutofit/>
          </a:bodyPr>
          <a:lstStyle/>
          <a:p>
            <a:pPr algn="ctr">
              <a:spcBef>
                <a:spcPts val="0"/>
              </a:spcBef>
              <a:spcAft>
                <a:spcPts val="0"/>
              </a:spcAft>
            </a:pPr>
            <a:r>
              <a:rPr sz="900" b="1">
                <a:solidFill>
                  <a:srgbClr val="FFFFFF"/>
                </a:solidFill>
                <a:latin typeface="Segoe UI"/>
              </a:rPr>
              <a:t>STREAMLIT + PYTHON ORCHESTRATION</a:t>
            </a:r>
          </a:p>
        </p:txBody>
      </p:sp>
      <p:sp>
        <p:nvSpPr>
          <p:cNvPr id="21" name="Rounded Rectangle 20"/>
          <p:cNvSpPr/>
          <p:nvPr/>
        </p:nvSpPr>
        <p:spPr>
          <a:xfrm>
            <a:off x="2468880" y="2980944"/>
            <a:ext cx="347472"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2980944"/>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01</a:t>
            </a:r>
          </a:p>
        </p:txBody>
      </p:sp>
      <p:sp>
        <p:nvSpPr>
          <p:cNvPr id="23" name="TextBox 22"/>
          <p:cNvSpPr txBox="1"/>
          <p:nvPr/>
        </p:nvSpPr>
        <p:spPr>
          <a:xfrm>
            <a:off x="2916936" y="2962656"/>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Search and navigation</a:t>
            </a:r>
          </a:p>
        </p:txBody>
      </p:sp>
      <p:sp>
        <p:nvSpPr>
          <p:cNvPr id="24" name="TextBox 23"/>
          <p:cNvSpPr txBox="1"/>
          <p:nvPr/>
        </p:nvSpPr>
        <p:spPr>
          <a:xfrm>
            <a:off x="2916936" y="3200400"/>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One place for report, measure and impact workflows</a:t>
            </a:r>
          </a:p>
        </p:txBody>
      </p:sp>
      <p:cxnSp>
        <p:nvCxnSpPr>
          <p:cNvPr id="25" name="Connector 24"/>
          <p:cNvCxnSpPr/>
          <p:nvPr/>
        </p:nvCxnSpPr>
        <p:spPr>
          <a:xfrm>
            <a:off x="2468880" y="3456432"/>
            <a:ext cx="3017520" cy="0"/>
          </a:xfrm>
          <a:prstGeom prst="line">
            <a:avLst/>
          </a:prstGeom>
          <a:ln w="7620">
            <a:solidFill>
              <a:srgbClr val="D7DFEA"/>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468880" y="3547872"/>
            <a:ext cx="347472"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80" y="3547872"/>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02</a:t>
            </a:r>
          </a:p>
        </p:txBody>
      </p:sp>
      <p:sp>
        <p:nvSpPr>
          <p:cNvPr id="28" name="TextBox 27"/>
          <p:cNvSpPr txBox="1"/>
          <p:nvPr/>
        </p:nvSpPr>
        <p:spPr>
          <a:xfrm>
            <a:off x="2916936" y="3529584"/>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Session and permissions</a:t>
            </a:r>
          </a:p>
        </p:txBody>
      </p:sp>
      <p:sp>
        <p:nvSpPr>
          <p:cNvPr id="29" name="TextBox 28"/>
          <p:cNvSpPr txBox="1"/>
          <p:nvPr/>
        </p:nvSpPr>
        <p:spPr>
          <a:xfrm>
            <a:off x="2916936" y="3767328"/>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Delegated identity retained until logout or expiry</a:t>
            </a:r>
          </a:p>
        </p:txBody>
      </p:sp>
      <p:cxnSp>
        <p:nvCxnSpPr>
          <p:cNvPr id="30" name="Connector 29"/>
          <p:cNvCxnSpPr/>
          <p:nvPr/>
        </p:nvCxnSpPr>
        <p:spPr>
          <a:xfrm>
            <a:off x="2468880" y="4023360"/>
            <a:ext cx="3017520" cy="0"/>
          </a:xfrm>
          <a:prstGeom prst="line">
            <a:avLst/>
          </a:prstGeom>
          <a:ln w="7620">
            <a:solidFill>
              <a:srgbClr val="D7DFE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468880" y="4114800"/>
            <a:ext cx="347472" cy="2743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68880" y="4114800"/>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03</a:t>
            </a:r>
          </a:p>
        </p:txBody>
      </p:sp>
      <p:sp>
        <p:nvSpPr>
          <p:cNvPr id="33" name="TextBox 32"/>
          <p:cNvSpPr txBox="1"/>
          <p:nvPr/>
        </p:nvSpPr>
        <p:spPr>
          <a:xfrm>
            <a:off x="2916936" y="4096512"/>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Metadata join and lineage engine</a:t>
            </a:r>
          </a:p>
        </p:txBody>
      </p:sp>
      <p:sp>
        <p:nvSpPr>
          <p:cNvPr id="34" name="TextBox 33"/>
          <p:cNvSpPr txBox="1"/>
          <p:nvPr/>
        </p:nvSpPr>
        <p:spPr>
          <a:xfrm>
            <a:off x="2916936" y="4334256"/>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IDs, semantic objects, source columns and recursive hops</a:t>
            </a:r>
          </a:p>
        </p:txBody>
      </p:sp>
      <p:cxnSp>
        <p:nvCxnSpPr>
          <p:cNvPr id="35" name="Connector 34"/>
          <p:cNvCxnSpPr/>
          <p:nvPr/>
        </p:nvCxnSpPr>
        <p:spPr>
          <a:xfrm>
            <a:off x="2468880" y="4590288"/>
            <a:ext cx="3017520" cy="0"/>
          </a:xfrm>
          <a:prstGeom prst="line">
            <a:avLst/>
          </a:prstGeom>
          <a:ln w="7620">
            <a:solidFill>
              <a:srgbClr val="D7DFE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2468880" y="4681728"/>
            <a:ext cx="347472" cy="2743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68880" y="4681728"/>
            <a:ext cx="347472" cy="274320"/>
          </a:xfrm>
          <a:prstGeom prst="rect">
            <a:avLst/>
          </a:prstGeom>
          <a:noFill/>
        </p:spPr>
        <p:txBody>
          <a:bodyPr wrap="square" lIns="0" rIns="0" tIns="0" bIns="0" anchor="ctr">
            <a:noAutofit/>
          </a:bodyPr>
          <a:lstStyle/>
          <a:p>
            <a:pPr algn="ctr">
              <a:spcBef>
                <a:spcPts val="0"/>
              </a:spcBef>
              <a:spcAft>
                <a:spcPts val="0"/>
              </a:spcAft>
            </a:pPr>
            <a:r>
              <a:rPr sz="740" b="1">
                <a:solidFill>
                  <a:srgbClr val="FFFFFF"/>
                </a:solidFill>
                <a:latin typeface="Segoe UI"/>
              </a:rPr>
              <a:t>04</a:t>
            </a:r>
          </a:p>
        </p:txBody>
      </p:sp>
      <p:sp>
        <p:nvSpPr>
          <p:cNvPr id="38" name="TextBox 37"/>
          <p:cNvSpPr txBox="1"/>
          <p:nvPr/>
        </p:nvSpPr>
        <p:spPr>
          <a:xfrm>
            <a:off x="2916936" y="4663440"/>
            <a:ext cx="2514600" cy="219456"/>
          </a:xfrm>
          <a:prstGeom prst="rect">
            <a:avLst/>
          </a:prstGeom>
          <a:noFill/>
        </p:spPr>
        <p:txBody>
          <a:bodyPr wrap="square" lIns="36576" rIns="36576" tIns="36576" bIns="36576" anchor="t">
            <a:noAutofit/>
          </a:bodyPr>
          <a:lstStyle/>
          <a:p>
            <a:pPr algn="l">
              <a:spcBef>
                <a:spcPts val="0"/>
              </a:spcBef>
              <a:spcAft>
                <a:spcPts val="0"/>
              </a:spcAft>
            </a:pPr>
            <a:r>
              <a:rPr sz="919" b="1">
                <a:solidFill>
                  <a:srgbClr val="17233A"/>
                </a:solidFill>
                <a:latin typeface="Segoe UI"/>
              </a:rPr>
              <a:t>Evidence and exports</a:t>
            </a:r>
          </a:p>
        </p:txBody>
      </p:sp>
      <p:sp>
        <p:nvSpPr>
          <p:cNvPr id="39" name="TextBox 38"/>
          <p:cNvSpPr txBox="1"/>
          <p:nvPr/>
        </p:nvSpPr>
        <p:spPr>
          <a:xfrm>
            <a:off x="2916936" y="4901184"/>
            <a:ext cx="2514600" cy="237744"/>
          </a:xfrm>
          <a:prstGeom prst="rect">
            <a:avLst/>
          </a:prstGeom>
          <a:noFill/>
        </p:spPr>
        <p:txBody>
          <a:bodyPr wrap="square" lIns="36576" rIns="36576" tIns="36576" bIns="36576" anchor="t">
            <a:noAutofit/>
          </a:bodyPr>
          <a:lstStyle/>
          <a:p>
            <a:pPr algn="l">
              <a:spcBef>
                <a:spcPts val="0"/>
              </a:spcBef>
              <a:spcAft>
                <a:spcPts val="0"/>
              </a:spcAft>
            </a:pPr>
            <a:r>
              <a:rPr sz="740" b="0">
                <a:solidFill>
                  <a:srgbClr val="5E6D85"/>
                </a:solidFill>
                <a:latin typeface="Segoe UI"/>
              </a:rPr>
              <a:t>Visual confirmation, diagrams and downloadable results</a:t>
            </a:r>
          </a:p>
        </p:txBody>
      </p:sp>
      <p:sp>
        <p:nvSpPr>
          <p:cNvPr id="40" name="Right Arrow 39"/>
          <p:cNvSpPr/>
          <p:nvPr/>
        </p:nvSpPr>
        <p:spPr>
          <a:xfrm>
            <a:off x="5806440" y="3429000"/>
            <a:ext cx="274320" cy="256032"/>
          </a:xfrm>
          <a:prstGeom prst="righ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2784" y="2112264"/>
            <a:ext cx="2852928"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0F766E"/>
                </a:solidFill>
                <a:latin typeface="Segoe UI"/>
              </a:rPr>
              <a:t>PLATFORM METADATA</a:t>
            </a:r>
          </a:p>
        </p:txBody>
      </p:sp>
      <p:sp>
        <p:nvSpPr>
          <p:cNvPr id="42" name="Rounded Rectangle 41"/>
          <p:cNvSpPr/>
          <p:nvPr/>
        </p:nvSpPr>
        <p:spPr>
          <a:xfrm>
            <a:off x="6272784" y="2441448"/>
            <a:ext cx="2852928" cy="850392"/>
          </a:xfrm>
          <a:prstGeom prst="roundRect">
            <a:avLst/>
          </a:prstGeom>
          <a:solidFill>
            <a:srgbClr val="EAF2FF"/>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46520" y="2606040"/>
            <a:ext cx="438912"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2606040"/>
            <a:ext cx="438912" cy="438912"/>
          </a:xfrm>
          <a:prstGeom prst="rect">
            <a:avLst/>
          </a:prstGeom>
          <a:noFill/>
        </p:spPr>
        <p:txBody>
          <a:bodyPr wrap="square" lIns="0" rIns="0" tIns="0" bIns="0" anchor="ctr">
            <a:noAutofit/>
          </a:bodyPr>
          <a:lstStyle/>
          <a:p>
            <a:pPr algn="ctr">
              <a:spcBef>
                <a:spcPts val="0"/>
              </a:spcBef>
              <a:spcAft>
                <a:spcPts val="0"/>
              </a:spcAft>
            </a:pPr>
            <a:r>
              <a:rPr sz="800" b="1">
                <a:solidFill>
                  <a:srgbClr val="FFFFFF"/>
                </a:solidFill>
                <a:latin typeface="Segoe UI"/>
              </a:rPr>
              <a:t>API</a:t>
            </a:r>
          </a:p>
        </p:txBody>
      </p:sp>
      <p:sp>
        <p:nvSpPr>
          <p:cNvPr id="45" name="TextBox 44"/>
          <p:cNvSpPr txBox="1"/>
          <p:nvPr/>
        </p:nvSpPr>
        <p:spPr>
          <a:xfrm>
            <a:off x="7022592" y="2569464"/>
            <a:ext cx="1901952" cy="237744"/>
          </a:xfrm>
          <a:prstGeom prst="rect">
            <a:avLst/>
          </a:prstGeom>
          <a:noFill/>
        </p:spPr>
        <p:txBody>
          <a:bodyPr wrap="square" lIns="36576" rIns="36576" tIns="36576" bIns="36576" anchor="t">
            <a:noAutofit/>
          </a:bodyPr>
          <a:lstStyle/>
          <a:p>
            <a:pPr algn="l">
              <a:spcBef>
                <a:spcPts val="0"/>
              </a:spcBef>
              <a:spcAft>
                <a:spcPts val="0"/>
              </a:spcAft>
            </a:pPr>
            <a:r>
              <a:rPr sz="1019" b="1">
                <a:solidFill>
                  <a:srgbClr val="17233A"/>
                </a:solidFill>
                <a:latin typeface="Segoe UI"/>
              </a:rPr>
              <a:t>Power BI REST + Fabric</a:t>
            </a:r>
          </a:p>
        </p:txBody>
      </p:sp>
      <p:sp>
        <p:nvSpPr>
          <p:cNvPr id="46" name="TextBox 45"/>
          <p:cNvSpPr txBox="1"/>
          <p:nvPr/>
        </p:nvSpPr>
        <p:spPr>
          <a:xfrm>
            <a:off x="7022592" y="2852928"/>
            <a:ext cx="1901952" cy="274320"/>
          </a:xfrm>
          <a:prstGeom prst="rect">
            <a:avLst/>
          </a:prstGeom>
          <a:noFill/>
        </p:spPr>
        <p:txBody>
          <a:bodyPr wrap="square" lIns="36576" rIns="36576" tIns="36576" bIns="36576" anchor="t">
            <a:noAutofit/>
          </a:bodyPr>
          <a:lstStyle/>
          <a:p>
            <a:pPr algn="l">
              <a:spcBef>
                <a:spcPts val="0"/>
              </a:spcBef>
              <a:spcAft>
                <a:spcPts val="0"/>
              </a:spcAft>
            </a:pPr>
            <a:r>
              <a:rPr sz="780" b="0">
                <a:solidFill>
                  <a:srgbClr val="5E6D85"/>
                </a:solidFill>
                <a:latin typeface="Segoe UI"/>
              </a:rPr>
              <a:t>Workspaces, reports, pages and visuals</a:t>
            </a:r>
          </a:p>
        </p:txBody>
      </p:sp>
      <p:sp>
        <p:nvSpPr>
          <p:cNvPr id="47" name="Rounded Rectangle 46"/>
          <p:cNvSpPr/>
          <p:nvPr/>
        </p:nvSpPr>
        <p:spPr>
          <a:xfrm>
            <a:off x="6272784" y="3447288"/>
            <a:ext cx="2852928" cy="850392"/>
          </a:xfrm>
          <a:prstGeom prst="roundRect">
            <a:avLst/>
          </a:prstGeom>
          <a:solidFill>
            <a:srgbClr val="FFF0E8"/>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446520" y="3611880"/>
            <a:ext cx="438912" cy="43891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6520" y="3611880"/>
            <a:ext cx="438912" cy="438912"/>
          </a:xfrm>
          <a:prstGeom prst="rect">
            <a:avLst/>
          </a:prstGeom>
          <a:noFill/>
        </p:spPr>
        <p:txBody>
          <a:bodyPr wrap="square" lIns="0" rIns="0" tIns="0" bIns="0" anchor="ctr">
            <a:noAutofit/>
          </a:bodyPr>
          <a:lstStyle/>
          <a:p>
            <a:pPr algn="ctr">
              <a:spcBef>
                <a:spcPts val="0"/>
              </a:spcBef>
              <a:spcAft>
                <a:spcPts val="0"/>
              </a:spcAft>
            </a:pPr>
            <a:r>
              <a:rPr sz="800" b="1">
                <a:solidFill>
                  <a:srgbClr val="FFFFFF"/>
                </a:solidFill>
                <a:latin typeface="Segoe UI"/>
              </a:rPr>
              <a:t>X</a:t>
            </a:r>
          </a:p>
        </p:txBody>
      </p:sp>
      <p:sp>
        <p:nvSpPr>
          <p:cNvPr id="50" name="TextBox 49"/>
          <p:cNvSpPr txBox="1"/>
          <p:nvPr/>
        </p:nvSpPr>
        <p:spPr>
          <a:xfrm>
            <a:off x="7022592" y="3575304"/>
            <a:ext cx="1901952" cy="237744"/>
          </a:xfrm>
          <a:prstGeom prst="rect">
            <a:avLst/>
          </a:prstGeom>
          <a:noFill/>
        </p:spPr>
        <p:txBody>
          <a:bodyPr wrap="square" lIns="36576" rIns="36576" tIns="36576" bIns="36576" anchor="t">
            <a:noAutofit/>
          </a:bodyPr>
          <a:lstStyle/>
          <a:p>
            <a:pPr algn="l">
              <a:spcBef>
                <a:spcPts val="0"/>
              </a:spcBef>
              <a:spcAft>
                <a:spcPts val="0"/>
              </a:spcAft>
            </a:pPr>
            <a:r>
              <a:rPr sz="1019" b="1">
                <a:solidFill>
                  <a:srgbClr val="17233A"/>
                </a:solidFill>
                <a:latin typeface="Segoe UI"/>
              </a:rPr>
              <a:t>Windows XMLA path</a:t>
            </a:r>
          </a:p>
        </p:txBody>
      </p:sp>
      <p:sp>
        <p:nvSpPr>
          <p:cNvPr id="51" name="TextBox 50"/>
          <p:cNvSpPr txBox="1"/>
          <p:nvPr/>
        </p:nvSpPr>
        <p:spPr>
          <a:xfrm>
            <a:off x="7022592" y="3858768"/>
            <a:ext cx="1901952" cy="274320"/>
          </a:xfrm>
          <a:prstGeom prst="rect">
            <a:avLst/>
          </a:prstGeom>
          <a:noFill/>
        </p:spPr>
        <p:txBody>
          <a:bodyPr wrap="square" lIns="36576" rIns="36576" tIns="36576" bIns="36576" anchor="t">
            <a:noAutofit/>
          </a:bodyPr>
          <a:lstStyle/>
          <a:p>
            <a:pPr algn="l">
              <a:spcBef>
                <a:spcPts val="0"/>
              </a:spcBef>
              <a:spcAft>
                <a:spcPts val="0"/>
              </a:spcAft>
            </a:pPr>
            <a:r>
              <a:rPr sz="780" b="0">
                <a:solidFill>
                  <a:srgbClr val="5E6D85"/>
                </a:solidFill>
                <a:latin typeface="Segoe UI"/>
              </a:rPr>
              <a:t>Tables, measures, DAX and dependencies</a:t>
            </a:r>
          </a:p>
        </p:txBody>
      </p:sp>
      <p:sp>
        <p:nvSpPr>
          <p:cNvPr id="52" name="Rounded Rectangle 51"/>
          <p:cNvSpPr/>
          <p:nvPr/>
        </p:nvSpPr>
        <p:spPr>
          <a:xfrm>
            <a:off x="6272784" y="4453128"/>
            <a:ext cx="2852928" cy="850392"/>
          </a:xfrm>
          <a:prstGeom prst="roundRect">
            <a:avLst/>
          </a:prstGeom>
          <a:solidFill>
            <a:srgbClr val="E8F7F5"/>
          </a:solidFill>
          <a:ln w="1016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446520" y="4617720"/>
            <a:ext cx="438912" cy="438912"/>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46520" y="4617720"/>
            <a:ext cx="438912" cy="438912"/>
          </a:xfrm>
          <a:prstGeom prst="rect">
            <a:avLst/>
          </a:prstGeom>
          <a:noFill/>
        </p:spPr>
        <p:txBody>
          <a:bodyPr wrap="square" lIns="0" rIns="0" tIns="0" bIns="0" anchor="ctr">
            <a:noAutofit/>
          </a:bodyPr>
          <a:lstStyle/>
          <a:p>
            <a:pPr algn="ctr">
              <a:spcBef>
                <a:spcPts val="0"/>
              </a:spcBef>
              <a:spcAft>
                <a:spcPts val="0"/>
              </a:spcAft>
            </a:pPr>
            <a:r>
              <a:rPr sz="800" b="1">
                <a:solidFill>
                  <a:srgbClr val="FFFFFF"/>
                </a:solidFill>
                <a:latin typeface="Segoe UI"/>
              </a:rPr>
              <a:t>SF</a:t>
            </a:r>
          </a:p>
        </p:txBody>
      </p:sp>
      <p:sp>
        <p:nvSpPr>
          <p:cNvPr id="55" name="TextBox 54"/>
          <p:cNvSpPr txBox="1"/>
          <p:nvPr/>
        </p:nvSpPr>
        <p:spPr>
          <a:xfrm>
            <a:off x="7022592" y="4581144"/>
            <a:ext cx="1901952" cy="237744"/>
          </a:xfrm>
          <a:prstGeom prst="rect">
            <a:avLst/>
          </a:prstGeom>
          <a:noFill/>
        </p:spPr>
        <p:txBody>
          <a:bodyPr wrap="square" lIns="36576" rIns="36576" tIns="36576" bIns="36576" anchor="t">
            <a:noAutofit/>
          </a:bodyPr>
          <a:lstStyle/>
          <a:p>
            <a:pPr algn="l">
              <a:spcBef>
                <a:spcPts val="0"/>
              </a:spcBef>
              <a:spcAft>
                <a:spcPts val="0"/>
              </a:spcAft>
            </a:pPr>
            <a:r>
              <a:rPr sz="1019" b="1">
                <a:solidFill>
                  <a:srgbClr val="17233A"/>
                </a:solidFill>
                <a:latin typeface="Segoe UI"/>
              </a:rPr>
              <a:t>Snowflake lineage</a:t>
            </a:r>
          </a:p>
        </p:txBody>
      </p:sp>
      <p:sp>
        <p:nvSpPr>
          <p:cNvPr id="56" name="TextBox 55"/>
          <p:cNvSpPr txBox="1"/>
          <p:nvPr/>
        </p:nvSpPr>
        <p:spPr>
          <a:xfrm>
            <a:off x="7022592" y="4864608"/>
            <a:ext cx="1901952" cy="274320"/>
          </a:xfrm>
          <a:prstGeom prst="rect">
            <a:avLst/>
          </a:prstGeom>
          <a:noFill/>
        </p:spPr>
        <p:txBody>
          <a:bodyPr wrap="square" lIns="36576" rIns="36576" tIns="36576" bIns="36576" anchor="t">
            <a:noAutofit/>
          </a:bodyPr>
          <a:lstStyle/>
          <a:p>
            <a:pPr algn="l">
              <a:spcBef>
                <a:spcPts val="0"/>
              </a:spcBef>
              <a:spcAft>
                <a:spcPts val="0"/>
              </a:spcAft>
            </a:pPr>
            <a:r>
              <a:rPr sz="780" b="0">
                <a:solidFill>
                  <a:srgbClr val="5E6D85"/>
                </a:solidFill>
                <a:latin typeface="Segoe UI"/>
              </a:rPr>
              <a:t>Tables, columns, transformations and raw sources</a:t>
            </a:r>
          </a:p>
        </p:txBody>
      </p:sp>
      <p:sp>
        <p:nvSpPr>
          <p:cNvPr id="57" name="Right Arrow 56"/>
          <p:cNvSpPr/>
          <p:nvPr/>
        </p:nvSpPr>
        <p:spPr>
          <a:xfrm>
            <a:off x="9262872" y="3429000"/>
            <a:ext cx="274320" cy="256032"/>
          </a:xfrm>
          <a:prstGeom prst="rightArrow">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46920" y="2112264"/>
            <a:ext cx="1993392" cy="210312"/>
          </a:xfrm>
          <a:prstGeom prst="rect">
            <a:avLst/>
          </a:prstGeom>
          <a:noFill/>
        </p:spPr>
        <p:txBody>
          <a:bodyPr wrap="square" lIns="36576" rIns="36576" tIns="36576" bIns="36576" anchor="t">
            <a:noAutofit/>
          </a:bodyPr>
          <a:lstStyle/>
          <a:p>
            <a:pPr algn="ctr">
              <a:spcBef>
                <a:spcPts val="0"/>
              </a:spcBef>
              <a:spcAft>
                <a:spcPts val="0"/>
              </a:spcAft>
            </a:pPr>
            <a:r>
              <a:rPr sz="800" b="1">
                <a:solidFill>
                  <a:srgbClr val="10213D"/>
                </a:solidFill>
                <a:latin typeface="Segoe UI"/>
              </a:rPr>
              <a:t>ONE EVIDENCE VIEW</a:t>
            </a:r>
          </a:p>
        </p:txBody>
      </p:sp>
      <p:sp>
        <p:nvSpPr>
          <p:cNvPr id="59" name="Rounded Rectangle 58"/>
          <p:cNvSpPr/>
          <p:nvPr/>
        </p:nvSpPr>
        <p:spPr>
          <a:xfrm>
            <a:off x="9646920" y="2441448"/>
            <a:ext cx="1993392" cy="1847088"/>
          </a:xfrm>
          <a:prstGeom prst="roundRect">
            <a:avLst/>
          </a:prstGeom>
          <a:solidFill>
            <a:srgbClr val="10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57232" y="2688336"/>
            <a:ext cx="1572768" cy="219456"/>
          </a:xfrm>
          <a:prstGeom prst="rect">
            <a:avLst/>
          </a:prstGeom>
          <a:noFill/>
        </p:spPr>
        <p:txBody>
          <a:bodyPr wrap="square" lIns="36576" rIns="36576" tIns="36576" bIns="36576" anchor="t">
            <a:noAutofit/>
          </a:bodyPr>
          <a:lstStyle/>
          <a:p>
            <a:pPr algn="ctr">
              <a:spcBef>
                <a:spcPts val="0"/>
              </a:spcBef>
              <a:spcAft>
                <a:spcPts val="0"/>
              </a:spcAft>
            </a:pPr>
            <a:r>
              <a:rPr sz="819" b="1">
                <a:solidFill>
                  <a:srgbClr val="8FB7FF"/>
                </a:solidFill>
                <a:latin typeface="Segoe UI"/>
              </a:rPr>
              <a:t>WHAT CHANGES?</a:t>
            </a:r>
          </a:p>
        </p:txBody>
      </p:sp>
      <p:sp>
        <p:nvSpPr>
          <p:cNvPr id="61" name="TextBox 60"/>
          <p:cNvSpPr txBox="1"/>
          <p:nvPr/>
        </p:nvSpPr>
        <p:spPr>
          <a:xfrm>
            <a:off x="9857232" y="3063240"/>
            <a:ext cx="1572768" cy="256032"/>
          </a:xfrm>
          <a:prstGeom prst="rect">
            <a:avLst/>
          </a:prstGeom>
          <a:noFill/>
        </p:spPr>
        <p:txBody>
          <a:bodyPr wrap="square" lIns="36576" rIns="36576" tIns="36576" bIns="36576" anchor="t">
            <a:noAutofit/>
          </a:bodyPr>
          <a:lstStyle/>
          <a:p>
            <a:pPr algn="ctr">
              <a:spcBef>
                <a:spcPts val="0"/>
              </a:spcBef>
              <a:spcAft>
                <a:spcPts val="0"/>
              </a:spcAft>
            </a:pPr>
            <a:r>
              <a:rPr sz="1100" b="1">
                <a:solidFill>
                  <a:srgbClr val="FFFFFF"/>
                </a:solidFill>
                <a:latin typeface="Segoe UI"/>
              </a:rPr>
              <a:t>What is affected</a:t>
            </a:r>
          </a:p>
        </p:txBody>
      </p:sp>
      <p:sp>
        <p:nvSpPr>
          <p:cNvPr id="62" name="TextBox 61"/>
          <p:cNvSpPr txBox="1"/>
          <p:nvPr/>
        </p:nvSpPr>
        <p:spPr>
          <a:xfrm>
            <a:off x="9857232" y="3401568"/>
            <a:ext cx="1572768" cy="256032"/>
          </a:xfrm>
          <a:prstGeom prst="rect">
            <a:avLst/>
          </a:prstGeom>
          <a:noFill/>
        </p:spPr>
        <p:txBody>
          <a:bodyPr wrap="square" lIns="36576" rIns="36576" tIns="36576" bIns="36576" anchor="t">
            <a:noAutofit/>
          </a:bodyPr>
          <a:lstStyle/>
          <a:p>
            <a:pPr algn="ctr">
              <a:spcBef>
                <a:spcPts val="0"/>
              </a:spcBef>
              <a:spcAft>
                <a:spcPts val="0"/>
              </a:spcAft>
            </a:pPr>
            <a:r>
              <a:rPr sz="1100" b="1">
                <a:solidFill>
                  <a:srgbClr val="FFFFFF"/>
                </a:solidFill>
                <a:latin typeface="Segoe UI"/>
              </a:rPr>
              <a:t>Why it is connected</a:t>
            </a:r>
          </a:p>
        </p:txBody>
      </p:sp>
      <p:sp>
        <p:nvSpPr>
          <p:cNvPr id="63" name="TextBox 62"/>
          <p:cNvSpPr txBox="1"/>
          <p:nvPr/>
        </p:nvSpPr>
        <p:spPr>
          <a:xfrm>
            <a:off x="9857232" y="3739896"/>
            <a:ext cx="1572768" cy="256032"/>
          </a:xfrm>
          <a:prstGeom prst="rect">
            <a:avLst/>
          </a:prstGeom>
          <a:noFill/>
        </p:spPr>
        <p:txBody>
          <a:bodyPr wrap="square" lIns="36576" rIns="36576" tIns="36576" bIns="36576" anchor="t">
            <a:noAutofit/>
          </a:bodyPr>
          <a:lstStyle/>
          <a:p>
            <a:pPr algn="ctr">
              <a:spcBef>
                <a:spcPts val="0"/>
              </a:spcBef>
              <a:spcAft>
                <a:spcPts val="0"/>
              </a:spcAft>
            </a:pPr>
            <a:r>
              <a:rPr sz="1100" b="1">
                <a:solidFill>
                  <a:srgbClr val="FFFFFF"/>
                </a:solidFill>
                <a:latin typeface="Segoe UI"/>
              </a:rPr>
              <a:t>Where to investigate</a:t>
            </a:r>
          </a:p>
        </p:txBody>
      </p:sp>
      <p:sp>
        <p:nvSpPr>
          <p:cNvPr id="64" name="Rounded Rectangle 63"/>
          <p:cNvSpPr/>
          <p:nvPr/>
        </p:nvSpPr>
        <p:spPr>
          <a:xfrm>
            <a:off x="9646920" y="4462272"/>
            <a:ext cx="1993392" cy="704088"/>
          </a:xfrm>
          <a:prstGeom prst="roundRect">
            <a:avLst/>
          </a:prstGeom>
          <a:solidFill>
            <a:srgbClr val="FFF0E8"/>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02368" y="4553712"/>
            <a:ext cx="1682496" cy="164592"/>
          </a:xfrm>
          <a:prstGeom prst="rect">
            <a:avLst/>
          </a:prstGeom>
          <a:noFill/>
        </p:spPr>
        <p:txBody>
          <a:bodyPr wrap="square" lIns="36576" rIns="36576" tIns="36576" bIns="36576" anchor="t">
            <a:noAutofit/>
          </a:bodyPr>
          <a:lstStyle/>
          <a:p>
            <a:pPr algn="ctr">
              <a:spcBef>
                <a:spcPts val="0"/>
              </a:spcBef>
              <a:spcAft>
                <a:spcPts val="0"/>
              </a:spcAft>
            </a:pPr>
            <a:r>
              <a:rPr sz="780" b="1">
                <a:solidFill>
                  <a:srgbClr val="EA580C"/>
                </a:solidFill>
                <a:latin typeface="Segoe UI"/>
              </a:rPr>
              <a:t>NEXT: CLAUDE ASSISTANT</a:t>
            </a:r>
          </a:p>
        </p:txBody>
      </p:sp>
      <p:sp>
        <p:nvSpPr>
          <p:cNvPr id="66" name="TextBox 65"/>
          <p:cNvSpPr txBox="1"/>
          <p:nvPr/>
        </p:nvSpPr>
        <p:spPr>
          <a:xfrm>
            <a:off x="9802368" y="4754880"/>
            <a:ext cx="1682496" cy="274320"/>
          </a:xfrm>
          <a:prstGeom prst="rect">
            <a:avLst/>
          </a:prstGeom>
          <a:noFill/>
        </p:spPr>
        <p:txBody>
          <a:bodyPr wrap="square" lIns="36576" rIns="36576" tIns="36576" bIns="36576" anchor="t">
            <a:noAutofit/>
          </a:bodyPr>
          <a:lstStyle/>
          <a:p>
            <a:pPr algn="ctr">
              <a:spcBef>
                <a:spcPts val="0"/>
              </a:spcBef>
              <a:spcAft>
                <a:spcPts val="0"/>
              </a:spcAft>
            </a:pPr>
            <a:r>
              <a:rPr sz="819" b="1">
                <a:solidFill>
                  <a:srgbClr val="17233A"/>
                </a:solidFill>
                <a:latin typeface="Segoe UI"/>
              </a:rPr>
              <a:t>Explain + investigate using read-only evidence</a:t>
            </a:r>
          </a:p>
        </p:txBody>
      </p:sp>
      <p:sp>
        <p:nvSpPr>
          <p:cNvPr id="67" name="Rounded Rectangle 66"/>
          <p:cNvSpPr/>
          <p:nvPr/>
        </p:nvSpPr>
        <p:spPr>
          <a:xfrm>
            <a:off x="530352"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30352" y="5614416"/>
            <a:ext cx="54864"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6656"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2563EB"/>
                </a:solidFill>
                <a:latin typeface="Segoe UI"/>
              </a:rPr>
              <a:t>JOINED METADATA</a:t>
            </a:r>
          </a:p>
        </p:txBody>
      </p:sp>
      <p:sp>
        <p:nvSpPr>
          <p:cNvPr id="70" name="TextBox 69"/>
          <p:cNvSpPr txBox="1"/>
          <p:nvPr/>
        </p:nvSpPr>
        <p:spPr>
          <a:xfrm>
            <a:off x="676656"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Connected by IDs, not guesses</a:t>
            </a:r>
          </a:p>
        </p:txBody>
      </p:sp>
      <p:sp>
        <p:nvSpPr>
          <p:cNvPr id="71" name="Rounded Rectangle 70"/>
          <p:cNvSpPr/>
          <p:nvPr/>
        </p:nvSpPr>
        <p:spPr>
          <a:xfrm>
            <a:off x="2779776"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779776" y="5614416"/>
            <a:ext cx="54864" cy="65836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26080"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EA580C"/>
                </a:solidFill>
                <a:latin typeface="Segoe UI"/>
              </a:rPr>
              <a:t>WINDOWS PATH</a:t>
            </a:r>
          </a:p>
        </p:txBody>
      </p:sp>
      <p:sp>
        <p:nvSpPr>
          <p:cNvPr id="74" name="TextBox 73"/>
          <p:cNvSpPr txBox="1"/>
          <p:nvPr/>
        </p:nvSpPr>
        <p:spPr>
          <a:xfrm>
            <a:off x="2926080"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XMLA dependency made explicit</a:t>
            </a:r>
          </a:p>
        </p:txBody>
      </p:sp>
      <p:sp>
        <p:nvSpPr>
          <p:cNvPr id="75" name="Rounded Rectangle 74"/>
          <p:cNvSpPr/>
          <p:nvPr/>
        </p:nvSpPr>
        <p:spPr>
          <a:xfrm>
            <a:off x="5029200"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029200" y="5614416"/>
            <a:ext cx="54864" cy="6583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75504"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0F766E"/>
                </a:solidFill>
                <a:latin typeface="Segoe UI"/>
              </a:rPr>
              <a:t>DEEP LINEAGE</a:t>
            </a:r>
          </a:p>
        </p:txBody>
      </p:sp>
      <p:sp>
        <p:nvSpPr>
          <p:cNvPr id="78" name="TextBox 77"/>
          <p:cNvSpPr txBox="1"/>
          <p:nvPr/>
        </p:nvSpPr>
        <p:spPr>
          <a:xfrm>
            <a:off x="5175504"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5-hop calls continued to 10 levels</a:t>
            </a:r>
          </a:p>
        </p:txBody>
      </p:sp>
      <p:sp>
        <p:nvSpPr>
          <p:cNvPr id="79" name="Rounded Rectangle 78"/>
          <p:cNvSpPr/>
          <p:nvPr/>
        </p:nvSpPr>
        <p:spPr>
          <a:xfrm>
            <a:off x="7278624" y="5614416"/>
            <a:ext cx="2130552" cy="658368"/>
          </a:xfrm>
          <a:prstGeom prst="roundRect">
            <a:avLst/>
          </a:prstGeom>
          <a:solidFill>
            <a:srgbClr val="FFFFFF"/>
          </a:solidFill>
          <a:ln w="889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278624" y="5614416"/>
            <a:ext cx="54864"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24927" y="5715000"/>
            <a:ext cx="1847088" cy="164592"/>
          </a:xfrm>
          <a:prstGeom prst="rect">
            <a:avLst/>
          </a:prstGeom>
          <a:noFill/>
        </p:spPr>
        <p:txBody>
          <a:bodyPr wrap="square" lIns="36576" rIns="36576" tIns="36576" bIns="36576" anchor="t">
            <a:noAutofit/>
          </a:bodyPr>
          <a:lstStyle/>
          <a:p>
            <a:pPr algn="l">
              <a:spcBef>
                <a:spcPts val="0"/>
              </a:spcBef>
              <a:spcAft>
                <a:spcPts val="0"/>
              </a:spcAft>
            </a:pPr>
            <a:r>
              <a:rPr sz="760" b="1">
                <a:solidFill>
                  <a:srgbClr val="059669"/>
                </a:solidFill>
                <a:latin typeface="Segoe UI"/>
              </a:rPr>
              <a:t>SESSION CONTINUITY</a:t>
            </a:r>
          </a:p>
        </p:txBody>
      </p:sp>
      <p:sp>
        <p:nvSpPr>
          <p:cNvPr id="82" name="TextBox 81"/>
          <p:cNvSpPr txBox="1"/>
          <p:nvPr/>
        </p:nvSpPr>
        <p:spPr>
          <a:xfrm>
            <a:off x="7424927" y="5916168"/>
            <a:ext cx="1847088" cy="219456"/>
          </a:xfrm>
          <a:prstGeom prst="rect">
            <a:avLst/>
          </a:prstGeom>
          <a:noFill/>
        </p:spPr>
        <p:txBody>
          <a:bodyPr wrap="square" lIns="36576" rIns="36576" tIns="36576" bIns="36576" anchor="t">
            <a:noAutofit/>
          </a:bodyPr>
          <a:lstStyle/>
          <a:p>
            <a:pPr algn="l">
              <a:spcBef>
                <a:spcPts val="0"/>
              </a:spcBef>
              <a:spcAft>
                <a:spcPts val="0"/>
              </a:spcAft>
            </a:pPr>
            <a:r>
              <a:rPr sz="819" b="1">
                <a:solidFill>
                  <a:srgbClr val="17233A"/>
                </a:solidFill>
                <a:latin typeface="Segoe UI"/>
              </a:rPr>
              <a:t>Kept until logout or expiry</a:t>
            </a:r>
          </a:p>
        </p:txBody>
      </p:sp>
      <p:sp>
        <p:nvSpPr>
          <p:cNvPr id="83" name="TextBox 82"/>
          <p:cNvSpPr txBox="1"/>
          <p:nvPr/>
        </p:nvSpPr>
        <p:spPr>
          <a:xfrm>
            <a:off x="9646920" y="5623560"/>
            <a:ext cx="1993392" cy="640080"/>
          </a:xfrm>
          <a:prstGeom prst="rect">
            <a:avLst/>
          </a:prstGeom>
          <a:noFill/>
        </p:spPr>
        <p:txBody>
          <a:bodyPr wrap="square" lIns="36576" rIns="36576" tIns="36576" bIns="36576" anchor="ctr">
            <a:noAutofit/>
          </a:bodyPr>
          <a:lstStyle/>
          <a:p>
            <a:pPr algn="ctr">
              <a:spcBef>
                <a:spcPts val="0"/>
              </a:spcBef>
              <a:spcAft>
                <a:spcPts val="0"/>
              </a:spcAft>
            </a:pPr>
            <a:r>
              <a:rPr sz="800" b="1">
                <a:solidFill>
                  <a:srgbClr val="5E6D85"/>
                </a:solidFill>
                <a:latin typeface="Segoe UI"/>
              </a:rPr>
              <a:t>Solid boxes: delivered
Orange next step: proposed, not yet implemented</a:t>
            </a:r>
          </a:p>
        </p:txBody>
      </p:sp>
      <p:sp>
        <p:nvSpPr>
          <p:cNvPr id="84" name="TextBox 83"/>
          <p:cNvSpPr txBox="1"/>
          <p:nvPr/>
        </p:nvSpPr>
        <p:spPr>
          <a:xfrm>
            <a:off x="530352" y="6528816"/>
            <a:ext cx="4754880" cy="201168"/>
          </a:xfrm>
          <a:prstGeom prst="rect">
            <a:avLst/>
          </a:prstGeom>
          <a:noFill/>
        </p:spPr>
        <p:txBody>
          <a:bodyPr wrap="square" lIns="36576" rIns="36576" tIns="36576" bIns="36576" anchor="ctr">
            <a:noAutofit/>
          </a:bodyPr>
          <a:lstStyle/>
          <a:p>
            <a:pPr algn="l">
              <a:spcBef>
                <a:spcPts val="0"/>
              </a:spcBef>
              <a:spcAft>
                <a:spcPts val="0"/>
              </a:spcAft>
            </a:pPr>
            <a:r>
              <a:rPr sz="750" b="1">
                <a:solidFill>
                  <a:srgbClr val="5E6D85"/>
                </a:solidFill>
                <a:latin typeface="Segoe UI"/>
              </a:rPr>
              <a:t>PBI LINEAGE EXPLORER  |  POWER BI + FABRIC + XMLA + SNOWFLAKE</a:t>
            </a:r>
          </a:p>
        </p:txBody>
      </p:sp>
      <p:sp>
        <p:nvSpPr>
          <p:cNvPr id="85" name="TextBox 84"/>
          <p:cNvSpPr txBox="1"/>
          <p:nvPr/>
        </p:nvSpPr>
        <p:spPr>
          <a:xfrm>
            <a:off x="11320272" y="6528816"/>
            <a:ext cx="347472" cy="201168"/>
          </a:xfrm>
          <a:prstGeom prst="rect">
            <a:avLst/>
          </a:prstGeom>
          <a:noFill/>
        </p:spPr>
        <p:txBody>
          <a:bodyPr wrap="square" lIns="36576" rIns="36576" tIns="36576" bIns="36576" anchor="ctr">
            <a:noAutofit/>
          </a:bodyPr>
          <a:lstStyle/>
          <a:p>
            <a:pPr algn="r">
              <a:spcBef>
                <a:spcPts val="0"/>
              </a:spcBef>
              <a:spcAft>
                <a:spcPts val="0"/>
              </a:spcAft>
            </a:pPr>
            <a:r>
              <a:rPr sz="750" b="1">
                <a:solidFill>
                  <a:srgbClr val="5E6D85"/>
                </a:solidFill>
                <a:latin typeface="Segoe UI"/>
              </a:rPr>
              <a: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PBI Lineage Explorer: Why, Outcomes and Architecture</dc:title>
  <dc:subject>Two-slide executive overview</dc:subject>
  <dc:creator>PBI Lineage Explorer</dc:creator>
  <cp:keywords>Power BI, Snowflake, lineage, architecture, impact analysis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