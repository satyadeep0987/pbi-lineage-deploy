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402336" cy="3657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40233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PBI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13D"/>
                </a:solidFill>
                <a:latin typeface="Segoe UI"/>
              </a:rPr>
              <a:t>Lineage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93776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E6D85"/>
                </a:solidFill>
                <a:latin typeface="Segoe UI"/>
              </a:rPr>
              <a:t>Explorer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356616"/>
            <a:ext cx="1783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5E6D85"/>
                </a:solidFill>
                <a:latin typeface="Segoe UI"/>
              </a:rPr>
              <a:t>03  /  FUTURE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04672"/>
            <a:ext cx="11173968" cy="9144"/>
          </a:xfrm>
          <a:prstGeom prst="rect">
            <a:avLst/>
          </a:prstGeom>
          <a:solidFill>
            <a:srgbClr val="D7DFEA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06070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0213D"/>
                </a:solidFill>
                <a:latin typeface="Segoe UI"/>
              </a:rPr>
              <a:t>Future scope: expand adoption with trusted Agentic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3619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E6D85"/>
                </a:solidFill>
                <a:latin typeface="Segoe UI"/>
              </a:rPr>
              <a:t>A staged roadmap to broaden access while keeping every answer secure, governed and grounded in authorized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901952"/>
            <a:ext cx="11137392" cy="25603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61388"/>
            <a:ext cx="109270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>
                <a:solidFill>
                  <a:srgbClr val="2563EB"/>
                </a:solidFill>
                <a:latin typeface="Segoe UI"/>
              </a:rPr>
              <a:t>START WITH THE EXISTING PERMISSIONED LINEAGE PLATFORM  →  EXPAND IN FOUR CONTROLLED DIMENSIONS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331720"/>
            <a:ext cx="2679192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331720"/>
            <a:ext cx="64008" cy="2606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" y="2551176"/>
            <a:ext cx="384048" cy="274320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83179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2563EB"/>
                </a:solidFill>
                <a:latin typeface="Segoe U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999232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213D"/>
                </a:solidFill>
                <a:latin typeface="Segoe UI"/>
              </a:rPr>
              <a:t>External user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11879"/>
            <a:ext cx="2267712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0">
                <a:solidFill>
                  <a:srgbClr val="5E6D85"/>
                </a:solidFill>
                <a:latin typeface="Segoe UI"/>
              </a:rPr>
              <a:t>Extend beyond the initial BI team through Entra groups and B2B guest access. Keep every search and export limited to the user’s existing Power BI permissions.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599431"/>
            <a:ext cx="22677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>
                <a:solidFill>
                  <a:srgbClr val="2563EB"/>
                </a:solidFill>
                <a:latin typeface="Segoe UI"/>
              </a:rPr>
              <a:t>Staged, evidence-led rollout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1568" y="2331720"/>
            <a:ext cx="2679192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2331720"/>
            <a:ext cx="64008" cy="260604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21024" y="2551176"/>
            <a:ext cx="384048" cy="274320"/>
          </a:xfrm>
          <a:prstGeom prst="roundRect">
            <a:avLst/>
          </a:prstGeom>
          <a:solidFill>
            <a:srgbClr val="E8F7F1"/>
          </a:solidFill>
          <a:ln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2583179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59669"/>
                </a:solidFill>
                <a:latin typeface="Segoe U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2999232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213D"/>
                </a:solidFill>
                <a:latin typeface="Segoe UI"/>
              </a:rPr>
              <a:t>Security and privacy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3611879"/>
            <a:ext cx="2267712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0">
                <a:solidFill>
                  <a:srgbClr val="5E6D85"/>
                </a:solidFill>
                <a:latin typeface="Segoe UI"/>
              </a:rPr>
              <a:t>Add least-privilege roles, MFA and Conditional Access, Key Vault secrets, encrypted traffic, private network paths, and audit logs for exports and investigations.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1024" y="4599431"/>
            <a:ext cx="22677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>
                <a:solidFill>
                  <a:srgbClr val="059669"/>
                </a:solidFill>
                <a:latin typeface="Segoe UI"/>
              </a:rPr>
              <a:t>Staged, evidence-led rollout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4" y="2331720"/>
            <a:ext cx="2679192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4" y="2331720"/>
            <a:ext cx="64008" cy="26060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92240" y="2551176"/>
            <a:ext cx="384048" cy="274320"/>
          </a:xfrm>
          <a:prstGeom prst="roundRect">
            <a:avLst/>
          </a:prstGeom>
          <a:solidFill>
            <a:srgbClr val="F3E8FF"/>
          </a:solidFill>
          <a:ln>
            <a:solidFill>
              <a:srgbClr val="F3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583179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7C3AED"/>
                </a:solidFill>
                <a:latin typeface="Segoe U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999232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213D"/>
                </a:solidFill>
                <a:latin typeface="Segoe UI"/>
              </a:rPr>
              <a:t>End-to-end Agentic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11879"/>
            <a:ext cx="2267712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0">
                <a:solidFill>
                  <a:srgbClr val="5E6D85"/>
                </a:solidFill>
                <a:latin typeface="Segoe UI"/>
              </a:rPr>
              <a:t>Use specialist agents to discover, trace, explain and validate impact across reports, DAX, visuals and Snowflake. Keep a human approval step for any future action.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599431"/>
            <a:ext cx="22677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>
                <a:solidFill>
                  <a:srgbClr val="7C3AED"/>
                </a:solidFill>
                <a:latin typeface="Segoe UI"/>
              </a:rPr>
              <a:t>Staged, evidence-led rollout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2331720"/>
            <a:ext cx="2679192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2331720"/>
            <a:ext cx="64008" cy="260604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363456" y="2551176"/>
            <a:ext cx="384048" cy="274320"/>
          </a:xfrm>
          <a:prstGeom prst="roundRect">
            <a:avLst/>
          </a:prstGeom>
          <a:solidFill>
            <a:srgbClr val="FFF0E8"/>
          </a:solidFill>
          <a:ln>
            <a:solidFill>
              <a:srgbClr val="FF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63456" y="2583179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EA580C"/>
                </a:solidFill>
                <a:latin typeface="Segoe U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456" y="2999232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213D"/>
                </a:solidFill>
                <a:latin typeface="Segoe UI"/>
              </a:rPr>
              <a:t>Governance and operations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3456" y="3611879"/>
            <a:ext cx="2267712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0">
                <a:solidFill>
                  <a:srgbClr val="5E6D85"/>
                </a:solidFill>
                <a:latin typeface="Segoe UI"/>
              </a:rPr>
              <a:t>Add certified assets, named owners, lineage-quality checks, retention rules, evidence and prompt audit trails, plus adoption, cost and service-health monitoring.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3456" y="4599431"/>
            <a:ext cx="22677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>
                <a:solidFill>
                  <a:srgbClr val="EA580C"/>
                </a:solidFill>
                <a:latin typeface="Segoe UI"/>
              </a:rPr>
              <a:t>Staged, evidence-led rollout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" y="5340096"/>
            <a:ext cx="11137392" cy="484632"/>
          </a:xfrm>
          <a:prstGeom prst="roundRect">
            <a:avLst/>
          </a:prstGeom>
          <a:solidFill>
            <a:srgbClr val="10213D"/>
          </a:solidFill>
          <a:ln>
            <a:solidFill>
              <a:srgbClr val="10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500116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Segoe UI"/>
              </a:rPr>
              <a:t>GUIDING PRINCIPLE: Expand access and automation only as quickly as identity, evidence, governance and controls mature.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007608"/>
            <a:ext cx="3931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5E6D85"/>
                </a:solidFill>
                <a:latin typeface="Segoe UI"/>
              </a:rPr>
              <a:t>PBI LINEAGE EXPLORER  |  FUTURE-SCOPE 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007608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5E6D85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