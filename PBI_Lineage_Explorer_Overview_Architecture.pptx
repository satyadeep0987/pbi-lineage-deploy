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PBI Lineage Explorer addresses a common metadata fragmentation problem. Power BI inventory and access come from REST APIs, visual definitions come from Fabric, semantic objects and dependencies come from XMLA, and deeper physical lineage comes from Snowflake. The application joins these layers into one report-centric workflow. The full semantic lineage path requires a Windows runtime with MSOLAP and pywin32; REST and Fabric capabilities can run in Linux cloud hosting.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browser interacts only with the Streamlit application. Authentication is handled through Microsoft Entra ID using delegated device-code sign-in. The app calls the Power BI REST API for inventory and access, the Fabric API for report definitions and visual metadata, and the XMLA endpoint for semantic objects and dependency DMVs. XMLA uses MSOLAP through Windows COM, which is why the full deployment requires Windows. Source object and column identifiers are then sent to Snowflake for recursive upstream lineage. Credentials are supplied through Streamlit secrets or environment variables, not Git.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solidFill>
              <a:srgbClr val="F4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30352" y="384048"/>
            <a:ext cx="1417320" cy="256032"/>
          </a:xfrm>
          <a:prstGeom prst="roundRect">
            <a:avLst>
              <a:gd name="adj" fmla="val 8000"/>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88620"/>
            <a:ext cx="1417320" cy="228600"/>
          </a:xfrm>
          <a:prstGeom prst="rect">
            <a:avLst/>
          </a:prstGeom>
          <a:noFill/>
        </p:spPr>
        <p:txBody>
          <a:bodyPr wrap="square" lIns="0" rIns="0" tIns="0" bIns="0" anchor="ctr">
            <a:spAutoFit/>
          </a:bodyPr>
          <a:lstStyle/>
          <a:p>
            <a:pPr algn="ctr">
              <a:spcBef>
                <a:spcPts val="0"/>
              </a:spcBef>
              <a:spcAft>
                <a:spcPts val="0"/>
              </a:spcAft>
            </a:pPr>
            <a:r>
              <a:rPr sz="819" b="1">
                <a:solidFill>
                  <a:srgbClr val="FFFFFF"/>
                </a:solidFill>
                <a:latin typeface="Aptos"/>
              </a:rPr>
              <a:t>EXECUTIVE OVERVIEW</a:t>
            </a:r>
          </a:p>
        </p:txBody>
      </p:sp>
      <p:sp>
        <p:nvSpPr>
          <p:cNvPr id="5" name="TextBox 4"/>
          <p:cNvSpPr txBox="1"/>
          <p:nvPr/>
        </p:nvSpPr>
        <p:spPr>
          <a:xfrm>
            <a:off x="530352" y="749808"/>
            <a:ext cx="10881360" cy="457200"/>
          </a:xfrm>
          <a:prstGeom prst="rect">
            <a:avLst/>
          </a:prstGeom>
          <a:noFill/>
        </p:spPr>
        <p:txBody>
          <a:bodyPr wrap="square" lIns="0" rIns="0" tIns="0" bIns="0" anchor="t">
            <a:spAutoFit/>
          </a:bodyPr>
          <a:lstStyle/>
          <a:p>
            <a:pPr algn="l">
              <a:spcBef>
                <a:spcPts val="0"/>
              </a:spcBef>
              <a:spcAft>
                <a:spcPts val="0"/>
              </a:spcAft>
            </a:pPr>
            <a:r>
              <a:rPr sz="2700" b="1">
                <a:solidFill>
                  <a:srgbClr val="10233F"/>
                </a:solidFill>
                <a:latin typeface="Aptos"/>
              </a:rPr>
              <a:t>One lineage view across Power BI and Snowflake</a:t>
            </a:r>
          </a:p>
        </p:txBody>
      </p:sp>
      <p:sp>
        <p:nvSpPr>
          <p:cNvPr id="6" name="TextBox 5"/>
          <p:cNvSpPr txBox="1"/>
          <p:nvPr/>
        </p:nvSpPr>
        <p:spPr>
          <a:xfrm>
            <a:off x="530352" y="1261872"/>
            <a:ext cx="10789920" cy="420624"/>
          </a:xfrm>
          <a:prstGeom prst="rect">
            <a:avLst/>
          </a:prstGeom>
          <a:noFill/>
        </p:spPr>
        <p:txBody>
          <a:bodyPr wrap="square" lIns="0" rIns="0" tIns="0" bIns="0" anchor="t">
            <a:spAutoFit/>
          </a:bodyPr>
          <a:lstStyle/>
          <a:p>
            <a:pPr algn="l">
              <a:spcBef>
                <a:spcPts val="0"/>
              </a:spcBef>
              <a:spcAft>
                <a:spcPts val="0"/>
              </a:spcAft>
            </a:pPr>
            <a:r>
              <a:rPr sz="1130" b="0">
                <a:solidFill>
                  <a:srgbClr val="52627A"/>
                </a:solidFill>
                <a:latin typeface="Aptos"/>
              </a:rPr>
              <a:t>PBI Lineage Explorer turns fragmented platform metadata into a searchable path from report and visual to measure, source query, table and column.</a:t>
            </a:r>
          </a:p>
        </p:txBody>
      </p:sp>
      <p:sp>
        <p:nvSpPr>
          <p:cNvPr id="7" name="Rounded Rectangle 6"/>
          <p:cNvSpPr/>
          <p:nvPr/>
        </p:nvSpPr>
        <p:spPr>
          <a:xfrm>
            <a:off x="530352" y="1847088"/>
            <a:ext cx="3355848" cy="4416552"/>
          </a:xfrm>
          <a:prstGeom prst="roundRect">
            <a:avLst>
              <a:gd name="adj" fmla="val 8000"/>
            </a:avLst>
          </a:prstGeom>
          <a:solidFill>
            <a:srgbClr val="FFFFFF"/>
          </a:solidFill>
          <a:ln w="10160">
            <a:solidFill>
              <a:srgbClr val="D9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30352" y="1847088"/>
            <a:ext cx="3355848" cy="82296"/>
          </a:xfrm>
          <a:prstGeom prst="rect">
            <a:avLst/>
          </a:prstGeom>
          <a:solidFill>
            <a:srgbClr val="D84A4A"/>
          </a:solidFill>
          <a:ln>
            <a:solidFill>
              <a:srgbClr val="D84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58952" y="2103120"/>
            <a:ext cx="1124712" cy="256032"/>
          </a:xfrm>
          <a:prstGeom prst="roundRect">
            <a:avLst>
              <a:gd name="adj" fmla="val 8000"/>
            </a:avLst>
          </a:prstGeom>
          <a:solidFill>
            <a:srgbClr val="FDEDED"/>
          </a:solidFill>
          <a:ln>
            <a:solidFill>
              <a:srgbClr val="FDED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107691"/>
            <a:ext cx="1124712" cy="228600"/>
          </a:xfrm>
          <a:prstGeom prst="rect">
            <a:avLst/>
          </a:prstGeom>
          <a:noFill/>
        </p:spPr>
        <p:txBody>
          <a:bodyPr wrap="square" lIns="0" rIns="0" tIns="0" bIns="0" anchor="ctr">
            <a:spAutoFit/>
          </a:bodyPr>
          <a:lstStyle/>
          <a:p>
            <a:pPr algn="ctr">
              <a:spcBef>
                <a:spcPts val="0"/>
              </a:spcBef>
              <a:spcAft>
                <a:spcPts val="0"/>
              </a:spcAft>
            </a:pPr>
            <a:r>
              <a:rPr sz="819" b="1">
                <a:solidFill>
                  <a:srgbClr val="D84A4A"/>
                </a:solidFill>
                <a:latin typeface="Aptos"/>
              </a:rPr>
              <a:t>WHY IT IS HARD</a:t>
            </a:r>
          </a:p>
        </p:txBody>
      </p:sp>
      <p:sp>
        <p:nvSpPr>
          <p:cNvPr id="11" name="TextBox 10"/>
          <p:cNvSpPr txBox="1"/>
          <p:nvPr/>
        </p:nvSpPr>
        <p:spPr>
          <a:xfrm>
            <a:off x="758952" y="2505456"/>
            <a:ext cx="2560320" cy="320040"/>
          </a:xfrm>
          <a:prstGeom prst="rect">
            <a:avLst/>
          </a:prstGeom>
          <a:noFill/>
        </p:spPr>
        <p:txBody>
          <a:bodyPr wrap="square" lIns="0" rIns="0" tIns="0" bIns="0" anchor="t">
            <a:spAutoFit/>
          </a:bodyPr>
          <a:lstStyle/>
          <a:p>
            <a:pPr algn="l">
              <a:spcBef>
                <a:spcPts val="0"/>
              </a:spcBef>
              <a:spcAft>
                <a:spcPts val="0"/>
              </a:spcAft>
            </a:pPr>
            <a:r>
              <a:rPr sz="1800" b="1">
                <a:solidFill>
                  <a:srgbClr val="10233F"/>
                </a:solidFill>
                <a:latin typeface="Aptos"/>
              </a:rPr>
              <a:t>Challenges</a:t>
            </a:r>
          </a:p>
        </p:txBody>
      </p:sp>
      <p:sp>
        <p:nvSpPr>
          <p:cNvPr id="12" name="Oval 11"/>
          <p:cNvSpPr/>
          <p:nvPr/>
        </p:nvSpPr>
        <p:spPr>
          <a:xfrm>
            <a:off x="758952" y="3008376"/>
            <a:ext cx="329184" cy="329184"/>
          </a:xfrm>
          <a:prstGeom prst="ellipse">
            <a:avLst/>
          </a:prstGeom>
          <a:solidFill>
            <a:srgbClr val="D84A4A"/>
          </a:solidFill>
          <a:ln>
            <a:solidFill>
              <a:srgbClr val="D84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3012948"/>
            <a:ext cx="329184" cy="292608"/>
          </a:xfrm>
          <a:prstGeom prst="rect">
            <a:avLst/>
          </a:prstGeom>
          <a:noFill/>
        </p:spPr>
        <p:txBody>
          <a:bodyPr wrap="square" lIns="0" rIns="0" tIns="0" bIns="0" anchor="ctr">
            <a:spAutoFit/>
          </a:bodyPr>
          <a:lstStyle/>
          <a:p>
            <a:pPr algn="ctr">
              <a:spcBef>
                <a:spcPts val="0"/>
              </a:spcBef>
              <a:spcAft>
                <a:spcPts val="0"/>
              </a:spcAft>
            </a:pPr>
            <a:r>
              <a:rPr sz="819" b="1">
                <a:solidFill>
                  <a:srgbClr val="FFFFFF"/>
                </a:solidFill>
                <a:latin typeface="Aptos"/>
              </a:rPr>
              <a:t>01</a:t>
            </a:r>
          </a:p>
        </p:txBody>
      </p:sp>
      <p:sp>
        <p:nvSpPr>
          <p:cNvPr id="14" name="TextBox 13"/>
          <p:cNvSpPr txBox="1"/>
          <p:nvPr/>
        </p:nvSpPr>
        <p:spPr>
          <a:xfrm>
            <a:off x="1197864" y="2990088"/>
            <a:ext cx="2414016" cy="246888"/>
          </a:xfrm>
          <a:prstGeom prst="rect">
            <a:avLst/>
          </a:prstGeom>
          <a:noFill/>
        </p:spPr>
        <p:txBody>
          <a:bodyPr wrap="square" lIns="0" rIns="0" tIns="0" bIns="0" anchor="t">
            <a:spAutoFit/>
          </a:bodyPr>
          <a:lstStyle/>
          <a:p>
            <a:pPr algn="l">
              <a:spcBef>
                <a:spcPts val="0"/>
              </a:spcBef>
              <a:spcAft>
                <a:spcPts val="0"/>
              </a:spcAft>
            </a:pPr>
            <a:r>
              <a:rPr sz="1120" b="1">
                <a:solidFill>
                  <a:srgbClr val="10233F"/>
                </a:solidFill>
                <a:latin typeface="Aptos"/>
              </a:rPr>
              <a:t>Fragmented metadata</a:t>
            </a:r>
          </a:p>
        </p:txBody>
      </p:sp>
      <p:sp>
        <p:nvSpPr>
          <p:cNvPr id="15" name="TextBox 14"/>
          <p:cNvSpPr txBox="1"/>
          <p:nvPr/>
        </p:nvSpPr>
        <p:spPr>
          <a:xfrm>
            <a:off x="1197864" y="3264408"/>
            <a:ext cx="2414016" cy="512064"/>
          </a:xfrm>
          <a:prstGeom prst="rect">
            <a:avLst/>
          </a:prstGeom>
          <a:noFill/>
        </p:spPr>
        <p:txBody>
          <a:bodyPr wrap="square" lIns="0" rIns="0" tIns="0" bIns="0" anchor="t">
            <a:spAutoFit/>
          </a:bodyPr>
          <a:lstStyle/>
          <a:p>
            <a:pPr algn="l">
              <a:spcBef>
                <a:spcPts val="0"/>
              </a:spcBef>
              <a:spcAft>
                <a:spcPts val="0"/>
              </a:spcAft>
            </a:pPr>
            <a:r>
              <a:rPr sz="915" b="0">
                <a:solidFill>
                  <a:srgbClr val="52627A"/>
                </a:solidFill>
                <a:latin typeface="Aptos"/>
              </a:rPr>
              <a:t>REST, Fabric definitions, XMLA DMVs and Snowflake each expose a different part of the story.</a:t>
            </a:r>
          </a:p>
        </p:txBody>
      </p:sp>
      <p:sp>
        <p:nvSpPr>
          <p:cNvPr id="16" name="Oval 15"/>
          <p:cNvSpPr/>
          <p:nvPr/>
        </p:nvSpPr>
        <p:spPr>
          <a:xfrm>
            <a:off x="758952" y="4078223"/>
            <a:ext cx="329184" cy="329184"/>
          </a:xfrm>
          <a:prstGeom prst="ellipse">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4082796"/>
            <a:ext cx="329184" cy="292608"/>
          </a:xfrm>
          <a:prstGeom prst="rect">
            <a:avLst/>
          </a:prstGeom>
          <a:noFill/>
        </p:spPr>
        <p:txBody>
          <a:bodyPr wrap="square" lIns="0" rIns="0" tIns="0" bIns="0" anchor="ctr">
            <a:spAutoFit/>
          </a:bodyPr>
          <a:lstStyle/>
          <a:p>
            <a:pPr algn="ctr">
              <a:spcBef>
                <a:spcPts val="0"/>
              </a:spcBef>
              <a:spcAft>
                <a:spcPts val="0"/>
              </a:spcAft>
            </a:pPr>
            <a:r>
              <a:rPr sz="819" b="1">
                <a:solidFill>
                  <a:srgbClr val="FFFFFF"/>
                </a:solidFill>
                <a:latin typeface="Aptos"/>
              </a:rPr>
              <a:t>02</a:t>
            </a:r>
          </a:p>
        </p:txBody>
      </p:sp>
      <p:sp>
        <p:nvSpPr>
          <p:cNvPr id="18" name="TextBox 17"/>
          <p:cNvSpPr txBox="1"/>
          <p:nvPr/>
        </p:nvSpPr>
        <p:spPr>
          <a:xfrm>
            <a:off x="1197864" y="4059935"/>
            <a:ext cx="2414016" cy="246888"/>
          </a:xfrm>
          <a:prstGeom prst="rect">
            <a:avLst/>
          </a:prstGeom>
          <a:noFill/>
        </p:spPr>
        <p:txBody>
          <a:bodyPr wrap="square" lIns="0" rIns="0" tIns="0" bIns="0" anchor="t">
            <a:spAutoFit/>
          </a:bodyPr>
          <a:lstStyle/>
          <a:p>
            <a:pPr algn="l">
              <a:spcBef>
                <a:spcPts val="0"/>
              </a:spcBef>
              <a:spcAft>
                <a:spcPts val="0"/>
              </a:spcAft>
            </a:pPr>
            <a:r>
              <a:rPr sz="1120" b="1">
                <a:solidFill>
                  <a:srgbClr val="10233F"/>
                </a:solidFill>
                <a:latin typeface="Aptos"/>
              </a:rPr>
              <a:t>Manual traceability</a:t>
            </a:r>
          </a:p>
        </p:txBody>
      </p:sp>
      <p:sp>
        <p:nvSpPr>
          <p:cNvPr id="19" name="TextBox 18"/>
          <p:cNvSpPr txBox="1"/>
          <p:nvPr/>
        </p:nvSpPr>
        <p:spPr>
          <a:xfrm>
            <a:off x="1197864" y="4334255"/>
            <a:ext cx="2414016" cy="512064"/>
          </a:xfrm>
          <a:prstGeom prst="rect">
            <a:avLst/>
          </a:prstGeom>
          <a:noFill/>
        </p:spPr>
        <p:txBody>
          <a:bodyPr wrap="square" lIns="0" rIns="0" tIns="0" bIns="0" anchor="t">
            <a:spAutoFit/>
          </a:bodyPr>
          <a:lstStyle/>
          <a:p>
            <a:pPr algn="l">
              <a:spcBef>
                <a:spcPts val="0"/>
              </a:spcBef>
              <a:spcAft>
                <a:spcPts val="0"/>
              </a:spcAft>
            </a:pPr>
            <a:r>
              <a:rPr sz="915" b="0">
                <a:solidFill>
                  <a:srgbClr val="52627A"/>
                </a:solidFill>
                <a:latin typeface="Aptos"/>
              </a:rPr>
              <a:t>Teams inspect reports, DAX and source SQL separately to understand impact or explain a KPI.</a:t>
            </a:r>
          </a:p>
        </p:txBody>
      </p:sp>
      <p:sp>
        <p:nvSpPr>
          <p:cNvPr id="20" name="Oval 19"/>
          <p:cNvSpPr/>
          <p:nvPr/>
        </p:nvSpPr>
        <p:spPr>
          <a:xfrm>
            <a:off x="758952" y="5148071"/>
            <a:ext cx="329184" cy="329184"/>
          </a:xfrm>
          <a:prstGeom prst="ellipse">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5152644"/>
            <a:ext cx="329184" cy="292608"/>
          </a:xfrm>
          <a:prstGeom prst="rect">
            <a:avLst/>
          </a:prstGeom>
          <a:noFill/>
        </p:spPr>
        <p:txBody>
          <a:bodyPr wrap="square" lIns="0" rIns="0" tIns="0" bIns="0" anchor="ctr">
            <a:spAutoFit/>
          </a:bodyPr>
          <a:lstStyle/>
          <a:p>
            <a:pPr algn="ctr">
              <a:spcBef>
                <a:spcPts val="0"/>
              </a:spcBef>
              <a:spcAft>
                <a:spcPts val="0"/>
              </a:spcAft>
            </a:pPr>
            <a:r>
              <a:rPr sz="819" b="1">
                <a:solidFill>
                  <a:srgbClr val="FFFFFF"/>
                </a:solidFill>
                <a:latin typeface="Aptos"/>
              </a:rPr>
              <a:t>03</a:t>
            </a:r>
          </a:p>
        </p:txBody>
      </p:sp>
      <p:sp>
        <p:nvSpPr>
          <p:cNvPr id="22" name="TextBox 21"/>
          <p:cNvSpPr txBox="1"/>
          <p:nvPr/>
        </p:nvSpPr>
        <p:spPr>
          <a:xfrm>
            <a:off x="1197864" y="5129783"/>
            <a:ext cx="2414016" cy="246888"/>
          </a:xfrm>
          <a:prstGeom prst="rect">
            <a:avLst/>
          </a:prstGeom>
          <a:noFill/>
        </p:spPr>
        <p:txBody>
          <a:bodyPr wrap="square" lIns="0" rIns="0" tIns="0" bIns="0" anchor="t">
            <a:spAutoFit/>
          </a:bodyPr>
          <a:lstStyle/>
          <a:p>
            <a:pPr algn="l">
              <a:spcBef>
                <a:spcPts val="0"/>
              </a:spcBef>
              <a:spcAft>
                <a:spcPts val="0"/>
              </a:spcAft>
            </a:pPr>
            <a:r>
              <a:rPr sz="1120" b="1">
                <a:solidFill>
                  <a:srgbClr val="10233F"/>
                </a:solidFill>
                <a:latin typeface="Aptos"/>
              </a:rPr>
              <a:t>Access and runtime constraints</a:t>
            </a:r>
          </a:p>
        </p:txBody>
      </p:sp>
      <p:sp>
        <p:nvSpPr>
          <p:cNvPr id="23" name="TextBox 22"/>
          <p:cNvSpPr txBox="1"/>
          <p:nvPr/>
        </p:nvSpPr>
        <p:spPr>
          <a:xfrm>
            <a:off x="1197864" y="5404103"/>
            <a:ext cx="2414016" cy="512064"/>
          </a:xfrm>
          <a:prstGeom prst="rect">
            <a:avLst/>
          </a:prstGeom>
          <a:noFill/>
        </p:spPr>
        <p:txBody>
          <a:bodyPr wrap="square" lIns="0" rIns="0" tIns="0" bIns="0" anchor="t">
            <a:spAutoFit/>
          </a:bodyPr>
          <a:lstStyle/>
          <a:p>
            <a:pPr algn="l">
              <a:spcBef>
                <a:spcPts val="0"/>
              </a:spcBef>
              <a:spcAft>
                <a:spcPts val="0"/>
              </a:spcAft>
            </a:pPr>
            <a:r>
              <a:rPr sz="915" b="0">
                <a:solidFill>
                  <a:srgbClr val="52627A"/>
                </a:solidFill>
                <a:latin typeface="Aptos"/>
              </a:rPr>
              <a:t>Delegated permissions, tenant policies and Windows-only XMLA dependencies complicate automation.</a:t>
            </a:r>
          </a:p>
        </p:txBody>
      </p:sp>
      <p:sp>
        <p:nvSpPr>
          <p:cNvPr id="24" name="Rounded Rectangle 23"/>
          <p:cNvSpPr/>
          <p:nvPr/>
        </p:nvSpPr>
        <p:spPr>
          <a:xfrm>
            <a:off x="4096512" y="1847088"/>
            <a:ext cx="3904487" cy="4416552"/>
          </a:xfrm>
          <a:prstGeom prst="roundRect">
            <a:avLst>
              <a:gd name="adj" fmla="val 8000"/>
            </a:avLst>
          </a:prstGeom>
          <a:solidFill>
            <a:srgbClr val="10233F"/>
          </a:solidFill>
          <a:ln>
            <a:solidFill>
              <a:srgbClr val="1023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352544" y="2103120"/>
            <a:ext cx="1225296" cy="256032"/>
          </a:xfrm>
          <a:prstGeom prst="roundRect">
            <a:avLst>
              <a:gd name="adj" fmla="val 8000"/>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52544" y="2107691"/>
            <a:ext cx="1225296" cy="228600"/>
          </a:xfrm>
          <a:prstGeom prst="rect">
            <a:avLst/>
          </a:prstGeom>
          <a:noFill/>
        </p:spPr>
        <p:txBody>
          <a:bodyPr wrap="square" lIns="0" rIns="0" tIns="0" bIns="0" anchor="ctr">
            <a:spAutoFit/>
          </a:bodyPr>
          <a:lstStyle/>
          <a:p>
            <a:pPr algn="ctr">
              <a:spcBef>
                <a:spcPts val="0"/>
              </a:spcBef>
              <a:spcAft>
                <a:spcPts val="0"/>
              </a:spcAft>
            </a:pPr>
            <a:r>
              <a:rPr sz="819" b="1">
                <a:solidFill>
                  <a:srgbClr val="FFFFFF"/>
                </a:solidFill>
                <a:latin typeface="Aptos"/>
              </a:rPr>
              <a:t>THE APPLICATION</a:t>
            </a:r>
          </a:p>
        </p:txBody>
      </p:sp>
      <p:sp>
        <p:nvSpPr>
          <p:cNvPr id="27" name="TextBox 26"/>
          <p:cNvSpPr txBox="1"/>
          <p:nvPr/>
        </p:nvSpPr>
        <p:spPr>
          <a:xfrm>
            <a:off x="4352544" y="2505456"/>
            <a:ext cx="3246120" cy="320040"/>
          </a:xfrm>
          <a:prstGeom prst="rect">
            <a:avLst/>
          </a:prstGeom>
          <a:noFill/>
        </p:spPr>
        <p:txBody>
          <a:bodyPr wrap="square" lIns="0" rIns="0" tIns="0" bIns="0" anchor="t">
            <a:spAutoFit/>
          </a:bodyPr>
          <a:lstStyle/>
          <a:p>
            <a:pPr algn="l">
              <a:spcBef>
                <a:spcPts val="0"/>
              </a:spcBef>
              <a:spcAft>
                <a:spcPts val="0"/>
              </a:spcAft>
            </a:pPr>
            <a:r>
              <a:rPr sz="1800" b="1">
                <a:solidFill>
                  <a:srgbClr val="FFFFFF"/>
                </a:solidFill>
                <a:latin typeface="Aptos"/>
              </a:rPr>
              <a:t>Unified lineage workspace</a:t>
            </a:r>
          </a:p>
        </p:txBody>
      </p:sp>
      <p:sp>
        <p:nvSpPr>
          <p:cNvPr id="28" name="TextBox 27"/>
          <p:cNvSpPr txBox="1"/>
          <p:nvPr/>
        </p:nvSpPr>
        <p:spPr>
          <a:xfrm>
            <a:off x="4352544" y="2889504"/>
            <a:ext cx="3246120" cy="438912"/>
          </a:xfrm>
          <a:prstGeom prst="rect">
            <a:avLst/>
          </a:prstGeom>
          <a:noFill/>
        </p:spPr>
        <p:txBody>
          <a:bodyPr wrap="square" lIns="0" rIns="0" tIns="0" bIns="0" anchor="t">
            <a:spAutoFit/>
          </a:bodyPr>
          <a:lstStyle/>
          <a:p>
            <a:pPr algn="l">
              <a:spcBef>
                <a:spcPts val="0"/>
              </a:spcBef>
              <a:spcAft>
                <a:spcPts val="0"/>
              </a:spcAft>
            </a:pPr>
            <a:r>
              <a:rPr sz="950" b="0">
                <a:solidFill>
                  <a:srgbClr val="C7D7ED"/>
                </a:solidFill>
                <a:latin typeface="Aptos"/>
              </a:rPr>
              <a:t>Search one report, then move through the same joined metadata model.</a:t>
            </a:r>
          </a:p>
        </p:txBody>
      </p:sp>
      <p:sp>
        <p:nvSpPr>
          <p:cNvPr id="29" name="Rounded Rectangle 28"/>
          <p:cNvSpPr/>
          <p:nvPr/>
        </p:nvSpPr>
        <p:spPr>
          <a:xfrm>
            <a:off x="4370832" y="3447288"/>
            <a:ext cx="557784" cy="676656"/>
          </a:xfrm>
          <a:prstGeom prst="roundRect">
            <a:avLst>
              <a:gd name="adj" fmla="val 8000"/>
            </a:avLst>
          </a:prstGeom>
          <a:solidFill>
            <a:srgbClr val="F2C811"/>
          </a:solidFill>
          <a:ln>
            <a:solidFill>
              <a:srgbClr val="F2C8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0832" y="3538728"/>
            <a:ext cx="557784" cy="201168"/>
          </a:xfrm>
          <a:prstGeom prst="rect">
            <a:avLst/>
          </a:prstGeom>
          <a:noFill/>
        </p:spPr>
        <p:txBody>
          <a:bodyPr wrap="square" lIns="0" rIns="0" tIns="0" bIns="0" anchor="ctr">
            <a:spAutoFit/>
          </a:bodyPr>
          <a:lstStyle/>
          <a:p>
            <a:pPr algn="ctr">
              <a:spcBef>
                <a:spcPts val="0"/>
              </a:spcBef>
              <a:spcAft>
                <a:spcPts val="0"/>
              </a:spcAft>
            </a:pPr>
            <a:r>
              <a:rPr sz="1100" b="1">
                <a:solidFill>
                  <a:srgbClr val="10233F"/>
                </a:solidFill>
                <a:latin typeface="Aptos"/>
              </a:rPr>
              <a:t>R</a:t>
            </a:r>
          </a:p>
        </p:txBody>
      </p:sp>
      <p:sp>
        <p:nvSpPr>
          <p:cNvPr id="31" name="TextBox 30"/>
          <p:cNvSpPr txBox="1"/>
          <p:nvPr/>
        </p:nvSpPr>
        <p:spPr>
          <a:xfrm>
            <a:off x="4315968" y="3840480"/>
            <a:ext cx="667512" cy="164592"/>
          </a:xfrm>
          <a:prstGeom prst="rect">
            <a:avLst/>
          </a:prstGeom>
          <a:noFill/>
        </p:spPr>
        <p:txBody>
          <a:bodyPr wrap="square" lIns="0" rIns="0" tIns="0" bIns="0" anchor="t">
            <a:spAutoFit/>
          </a:bodyPr>
          <a:lstStyle/>
          <a:p>
            <a:pPr algn="ctr">
              <a:spcBef>
                <a:spcPts val="0"/>
              </a:spcBef>
              <a:spcAft>
                <a:spcPts val="0"/>
              </a:spcAft>
            </a:pPr>
            <a:r>
              <a:rPr sz="690" b="1">
                <a:solidFill>
                  <a:srgbClr val="10233F"/>
                </a:solidFill>
                <a:latin typeface="Aptos"/>
              </a:rPr>
              <a:t>REPORT</a:t>
            </a:r>
          </a:p>
        </p:txBody>
      </p:sp>
      <p:sp>
        <p:nvSpPr>
          <p:cNvPr id="32" name="Chevron 31"/>
          <p:cNvSpPr/>
          <p:nvPr/>
        </p:nvSpPr>
        <p:spPr>
          <a:xfrm>
            <a:off x="4946904" y="3694176"/>
            <a:ext cx="100584" cy="164592"/>
          </a:xfrm>
          <a:prstGeom prst="chevron">
            <a:avLst/>
          </a:prstGeom>
          <a:solidFill>
            <a:srgbClr val="8EA5C5"/>
          </a:solidFill>
          <a:ln>
            <a:solidFill>
              <a:srgbClr val="8EA5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065776" y="3447288"/>
            <a:ext cx="557784" cy="676656"/>
          </a:xfrm>
          <a:prstGeom prst="roundRect">
            <a:avLst>
              <a:gd name="adj" fmla="val 8000"/>
            </a:avLst>
          </a:prstGeom>
          <a:solidFill>
            <a:srgbClr val="EAF2FF"/>
          </a:solidFill>
          <a:ln>
            <a:solidFill>
              <a:srgbClr val="EA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65776" y="3538728"/>
            <a:ext cx="557784" cy="201168"/>
          </a:xfrm>
          <a:prstGeom prst="rect">
            <a:avLst/>
          </a:prstGeom>
          <a:noFill/>
        </p:spPr>
        <p:txBody>
          <a:bodyPr wrap="square" lIns="0" rIns="0" tIns="0" bIns="0" anchor="ctr">
            <a:spAutoFit/>
          </a:bodyPr>
          <a:lstStyle/>
          <a:p>
            <a:pPr algn="ctr">
              <a:spcBef>
                <a:spcPts val="0"/>
              </a:spcBef>
              <a:spcAft>
                <a:spcPts val="0"/>
              </a:spcAft>
            </a:pPr>
            <a:r>
              <a:rPr sz="1100" b="1">
                <a:solidFill>
                  <a:srgbClr val="1749A8"/>
                </a:solidFill>
                <a:latin typeface="Aptos"/>
              </a:rPr>
              <a:t>V</a:t>
            </a:r>
          </a:p>
        </p:txBody>
      </p:sp>
      <p:sp>
        <p:nvSpPr>
          <p:cNvPr id="35" name="TextBox 34"/>
          <p:cNvSpPr txBox="1"/>
          <p:nvPr/>
        </p:nvSpPr>
        <p:spPr>
          <a:xfrm>
            <a:off x="5010912" y="3840480"/>
            <a:ext cx="667512" cy="164592"/>
          </a:xfrm>
          <a:prstGeom prst="rect">
            <a:avLst/>
          </a:prstGeom>
          <a:noFill/>
        </p:spPr>
        <p:txBody>
          <a:bodyPr wrap="square" lIns="0" rIns="0" tIns="0" bIns="0" anchor="t">
            <a:spAutoFit/>
          </a:bodyPr>
          <a:lstStyle/>
          <a:p>
            <a:pPr algn="ctr">
              <a:spcBef>
                <a:spcPts val="0"/>
              </a:spcBef>
              <a:spcAft>
                <a:spcPts val="0"/>
              </a:spcAft>
            </a:pPr>
            <a:r>
              <a:rPr sz="690" b="1">
                <a:solidFill>
                  <a:srgbClr val="1749A8"/>
                </a:solidFill>
                <a:latin typeface="Aptos"/>
              </a:rPr>
              <a:t>VISUAL</a:t>
            </a:r>
          </a:p>
        </p:txBody>
      </p:sp>
      <p:sp>
        <p:nvSpPr>
          <p:cNvPr id="36" name="Chevron 35"/>
          <p:cNvSpPr/>
          <p:nvPr/>
        </p:nvSpPr>
        <p:spPr>
          <a:xfrm>
            <a:off x="5641848" y="3694176"/>
            <a:ext cx="100584" cy="164592"/>
          </a:xfrm>
          <a:prstGeom prst="chevron">
            <a:avLst/>
          </a:prstGeom>
          <a:solidFill>
            <a:srgbClr val="8EA5C5"/>
          </a:solidFill>
          <a:ln>
            <a:solidFill>
              <a:srgbClr val="8EA5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760720" y="3447288"/>
            <a:ext cx="557784" cy="676656"/>
          </a:xfrm>
          <a:prstGeom prst="roundRect">
            <a:avLst>
              <a:gd name="adj" fmla="val 8000"/>
            </a:avLst>
          </a:prstGeom>
          <a:solidFill>
            <a:srgbClr val="DCE8FF"/>
          </a:solidFill>
          <a:ln>
            <a:solidFill>
              <a:srgbClr val="DCE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60720" y="3538728"/>
            <a:ext cx="557784" cy="201168"/>
          </a:xfrm>
          <a:prstGeom prst="rect">
            <a:avLst/>
          </a:prstGeom>
          <a:noFill/>
        </p:spPr>
        <p:txBody>
          <a:bodyPr wrap="square" lIns="0" rIns="0" tIns="0" bIns="0" anchor="ctr">
            <a:spAutoFit/>
          </a:bodyPr>
          <a:lstStyle/>
          <a:p>
            <a:pPr algn="ctr">
              <a:spcBef>
                <a:spcPts val="0"/>
              </a:spcBef>
              <a:spcAft>
                <a:spcPts val="0"/>
              </a:spcAft>
            </a:pPr>
            <a:r>
              <a:rPr sz="1100" b="1">
                <a:solidFill>
                  <a:srgbClr val="1749A8"/>
                </a:solidFill>
                <a:latin typeface="Aptos"/>
              </a:rPr>
              <a:t>fx</a:t>
            </a:r>
          </a:p>
        </p:txBody>
      </p:sp>
      <p:sp>
        <p:nvSpPr>
          <p:cNvPr id="39" name="TextBox 38"/>
          <p:cNvSpPr txBox="1"/>
          <p:nvPr/>
        </p:nvSpPr>
        <p:spPr>
          <a:xfrm>
            <a:off x="5705856" y="3840480"/>
            <a:ext cx="667512" cy="164592"/>
          </a:xfrm>
          <a:prstGeom prst="rect">
            <a:avLst/>
          </a:prstGeom>
          <a:noFill/>
        </p:spPr>
        <p:txBody>
          <a:bodyPr wrap="square" lIns="0" rIns="0" tIns="0" bIns="0" anchor="t">
            <a:spAutoFit/>
          </a:bodyPr>
          <a:lstStyle/>
          <a:p>
            <a:pPr algn="ctr">
              <a:spcBef>
                <a:spcPts val="0"/>
              </a:spcBef>
              <a:spcAft>
                <a:spcPts val="0"/>
              </a:spcAft>
            </a:pPr>
            <a:r>
              <a:rPr sz="690" b="1">
                <a:solidFill>
                  <a:srgbClr val="1749A8"/>
                </a:solidFill>
                <a:latin typeface="Aptos"/>
              </a:rPr>
              <a:t>DAX</a:t>
            </a:r>
          </a:p>
        </p:txBody>
      </p:sp>
      <p:sp>
        <p:nvSpPr>
          <p:cNvPr id="40" name="Chevron 39"/>
          <p:cNvSpPr/>
          <p:nvPr/>
        </p:nvSpPr>
        <p:spPr>
          <a:xfrm>
            <a:off x="6336792" y="3694176"/>
            <a:ext cx="100584" cy="164592"/>
          </a:xfrm>
          <a:prstGeom prst="chevron">
            <a:avLst/>
          </a:prstGeom>
          <a:solidFill>
            <a:srgbClr val="8EA5C5"/>
          </a:solidFill>
          <a:ln>
            <a:solidFill>
              <a:srgbClr val="8EA5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455664" y="3447288"/>
            <a:ext cx="557784" cy="676656"/>
          </a:xfrm>
          <a:prstGeom prst="roundRect">
            <a:avLst>
              <a:gd name="adj" fmla="val 8000"/>
            </a:avLst>
          </a:prstGeom>
          <a:solidFill>
            <a:srgbClr val="E8F7F3"/>
          </a:solidFill>
          <a:ln>
            <a:solidFill>
              <a:srgbClr val="E8F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55664" y="3538728"/>
            <a:ext cx="557784" cy="201168"/>
          </a:xfrm>
          <a:prstGeom prst="rect">
            <a:avLst/>
          </a:prstGeom>
          <a:noFill/>
        </p:spPr>
        <p:txBody>
          <a:bodyPr wrap="square" lIns="0" rIns="0" tIns="0" bIns="0" anchor="ctr">
            <a:spAutoFit/>
          </a:bodyPr>
          <a:lstStyle/>
          <a:p>
            <a:pPr algn="ctr">
              <a:spcBef>
                <a:spcPts val="0"/>
              </a:spcBef>
              <a:spcAft>
                <a:spcPts val="0"/>
              </a:spcAft>
            </a:pPr>
            <a:r>
              <a:rPr sz="1100" b="1">
                <a:solidFill>
                  <a:srgbClr val="0F9D84"/>
                </a:solidFill>
                <a:latin typeface="Aptos"/>
              </a:rPr>
              <a:t>M</a:t>
            </a:r>
          </a:p>
        </p:txBody>
      </p:sp>
      <p:sp>
        <p:nvSpPr>
          <p:cNvPr id="43" name="TextBox 42"/>
          <p:cNvSpPr txBox="1"/>
          <p:nvPr/>
        </p:nvSpPr>
        <p:spPr>
          <a:xfrm>
            <a:off x="6400800" y="3840480"/>
            <a:ext cx="667512" cy="164592"/>
          </a:xfrm>
          <a:prstGeom prst="rect">
            <a:avLst/>
          </a:prstGeom>
          <a:noFill/>
        </p:spPr>
        <p:txBody>
          <a:bodyPr wrap="square" lIns="0" rIns="0" tIns="0" bIns="0" anchor="t">
            <a:spAutoFit/>
          </a:bodyPr>
          <a:lstStyle/>
          <a:p>
            <a:pPr algn="ctr">
              <a:spcBef>
                <a:spcPts val="0"/>
              </a:spcBef>
              <a:spcAft>
                <a:spcPts val="0"/>
              </a:spcAft>
            </a:pPr>
            <a:r>
              <a:rPr sz="690" b="1">
                <a:solidFill>
                  <a:srgbClr val="0F9D84"/>
                </a:solidFill>
                <a:latin typeface="Aptos"/>
              </a:rPr>
              <a:t>MODEL</a:t>
            </a:r>
          </a:p>
        </p:txBody>
      </p:sp>
      <p:sp>
        <p:nvSpPr>
          <p:cNvPr id="44" name="Chevron 43"/>
          <p:cNvSpPr/>
          <p:nvPr/>
        </p:nvSpPr>
        <p:spPr>
          <a:xfrm>
            <a:off x="7031736" y="3694176"/>
            <a:ext cx="100584" cy="164592"/>
          </a:xfrm>
          <a:prstGeom prst="chevron">
            <a:avLst/>
          </a:prstGeom>
          <a:solidFill>
            <a:srgbClr val="8EA5C5"/>
          </a:solidFill>
          <a:ln>
            <a:solidFill>
              <a:srgbClr val="8EA5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150608" y="3447288"/>
            <a:ext cx="557784" cy="676656"/>
          </a:xfrm>
          <a:prstGeom prst="roundRect">
            <a:avLst>
              <a:gd name="adj" fmla="val 8000"/>
            </a:avLst>
          </a:prstGeom>
          <a:solidFill>
            <a:srgbClr val="DDF5FC"/>
          </a:solidFill>
          <a:ln>
            <a:solidFill>
              <a:srgbClr val="DDF5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50608" y="3538728"/>
            <a:ext cx="557784" cy="201168"/>
          </a:xfrm>
          <a:prstGeom prst="rect">
            <a:avLst/>
          </a:prstGeom>
          <a:noFill/>
        </p:spPr>
        <p:txBody>
          <a:bodyPr wrap="square" lIns="0" rIns="0" tIns="0" bIns="0" anchor="ctr">
            <a:spAutoFit/>
          </a:bodyPr>
          <a:lstStyle/>
          <a:p>
            <a:pPr algn="ctr">
              <a:spcBef>
                <a:spcPts val="0"/>
              </a:spcBef>
              <a:spcAft>
                <a:spcPts val="0"/>
              </a:spcAft>
            </a:pPr>
            <a:r>
              <a:rPr sz="1100" b="1">
                <a:solidFill>
                  <a:srgbClr val="0D6E91"/>
                </a:solidFill>
                <a:latin typeface="Aptos"/>
              </a:rPr>
              <a:t>DB</a:t>
            </a:r>
          </a:p>
        </p:txBody>
      </p:sp>
      <p:sp>
        <p:nvSpPr>
          <p:cNvPr id="47" name="TextBox 46"/>
          <p:cNvSpPr txBox="1"/>
          <p:nvPr/>
        </p:nvSpPr>
        <p:spPr>
          <a:xfrm>
            <a:off x="7095744" y="3840480"/>
            <a:ext cx="667512" cy="164592"/>
          </a:xfrm>
          <a:prstGeom prst="rect">
            <a:avLst/>
          </a:prstGeom>
          <a:noFill/>
        </p:spPr>
        <p:txBody>
          <a:bodyPr wrap="square" lIns="0" rIns="0" tIns="0" bIns="0" anchor="t">
            <a:spAutoFit/>
          </a:bodyPr>
          <a:lstStyle/>
          <a:p>
            <a:pPr algn="ctr">
              <a:spcBef>
                <a:spcPts val="0"/>
              </a:spcBef>
              <a:spcAft>
                <a:spcPts val="0"/>
              </a:spcAft>
            </a:pPr>
            <a:r>
              <a:rPr sz="690" b="1">
                <a:solidFill>
                  <a:srgbClr val="0D6E91"/>
                </a:solidFill>
                <a:latin typeface="Aptos"/>
              </a:rPr>
              <a:t>SOURCE</a:t>
            </a:r>
          </a:p>
        </p:txBody>
      </p:sp>
      <p:sp>
        <p:nvSpPr>
          <p:cNvPr id="48" name="Rounded Rectangle 47"/>
          <p:cNvSpPr/>
          <p:nvPr/>
        </p:nvSpPr>
        <p:spPr>
          <a:xfrm>
            <a:off x="4370832" y="4425696"/>
            <a:ext cx="155448" cy="155448"/>
          </a:xfrm>
          <a:prstGeom prst="roundRect">
            <a:avLst>
              <a:gd name="adj" fmla="val 8000"/>
            </a:avLst>
          </a:prstGeom>
          <a:solidFill>
            <a:srgbClr val="0F9D84"/>
          </a:solidFill>
          <a:ln>
            <a:solidFill>
              <a:srgbClr val="0F9D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61688" y="4439412"/>
            <a:ext cx="173736" cy="118872"/>
          </a:xfrm>
          <a:prstGeom prst="rect">
            <a:avLst/>
          </a:prstGeom>
          <a:noFill/>
        </p:spPr>
        <p:txBody>
          <a:bodyPr wrap="square" lIns="0" rIns="0" tIns="0" bIns="0" anchor="t">
            <a:spAutoFit/>
          </a:bodyPr>
          <a:lstStyle/>
          <a:p>
            <a:pPr algn="ctr">
              <a:spcBef>
                <a:spcPts val="0"/>
              </a:spcBef>
              <a:spcAft>
                <a:spcPts val="0"/>
              </a:spcAft>
            </a:pPr>
            <a:r>
              <a:rPr sz="550" b="1">
                <a:solidFill>
                  <a:srgbClr val="FFFFFF"/>
                </a:solidFill>
                <a:latin typeface="Aptos"/>
              </a:rPr>
              <a:t>OK</a:t>
            </a:r>
          </a:p>
        </p:txBody>
      </p:sp>
      <p:sp>
        <p:nvSpPr>
          <p:cNvPr id="50" name="TextBox 49"/>
          <p:cNvSpPr txBox="1"/>
          <p:nvPr/>
        </p:nvSpPr>
        <p:spPr>
          <a:xfrm>
            <a:off x="4617720" y="4389120"/>
            <a:ext cx="3044952" cy="274320"/>
          </a:xfrm>
          <a:prstGeom prst="rect">
            <a:avLst/>
          </a:prstGeom>
          <a:noFill/>
        </p:spPr>
        <p:txBody>
          <a:bodyPr wrap="square" lIns="0" rIns="0" tIns="0" bIns="0" anchor="t">
            <a:spAutoFit/>
          </a:bodyPr>
          <a:lstStyle/>
          <a:p>
            <a:pPr algn="l">
              <a:spcBef>
                <a:spcPts val="0"/>
              </a:spcBef>
              <a:spcAft>
                <a:spcPts val="0"/>
              </a:spcAft>
            </a:pPr>
            <a:r>
              <a:rPr sz="910" b="0">
                <a:solidFill>
                  <a:srgbClr val="FFFFFF"/>
                </a:solidFill>
                <a:latin typeface="Aptos"/>
              </a:rPr>
              <a:t>Inventory workspaces, reports, dashboards and access</a:t>
            </a:r>
          </a:p>
        </p:txBody>
      </p:sp>
      <p:sp>
        <p:nvSpPr>
          <p:cNvPr id="51" name="Rounded Rectangle 50"/>
          <p:cNvSpPr/>
          <p:nvPr/>
        </p:nvSpPr>
        <p:spPr>
          <a:xfrm>
            <a:off x="4370832" y="4855464"/>
            <a:ext cx="155448" cy="155448"/>
          </a:xfrm>
          <a:prstGeom prst="roundRect">
            <a:avLst>
              <a:gd name="adj" fmla="val 8000"/>
            </a:avLst>
          </a:prstGeom>
          <a:solidFill>
            <a:srgbClr val="0F9D84"/>
          </a:solidFill>
          <a:ln>
            <a:solidFill>
              <a:srgbClr val="0F9D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61688" y="4869179"/>
            <a:ext cx="173736" cy="118872"/>
          </a:xfrm>
          <a:prstGeom prst="rect">
            <a:avLst/>
          </a:prstGeom>
          <a:noFill/>
        </p:spPr>
        <p:txBody>
          <a:bodyPr wrap="square" lIns="0" rIns="0" tIns="0" bIns="0" anchor="t">
            <a:spAutoFit/>
          </a:bodyPr>
          <a:lstStyle/>
          <a:p>
            <a:pPr algn="ctr">
              <a:spcBef>
                <a:spcPts val="0"/>
              </a:spcBef>
              <a:spcAft>
                <a:spcPts val="0"/>
              </a:spcAft>
            </a:pPr>
            <a:r>
              <a:rPr sz="550" b="1">
                <a:solidFill>
                  <a:srgbClr val="FFFFFF"/>
                </a:solidFill>
                <a:latin typeface="Aptos"/>
              </a:rPr>
              <a:t>OK</a:t>
            </a:r>
          </a:p>
        </p:txBody>
      </p:sp>
      <p:sp>
        <p:nvSpPr>
          <p:cNvPr id="53" name="TextBox 52"/>
          <p:cNvSpPr txBox="1"/>
          <p:nvPr/>
        </p:nvSpPr>
        <p:spPr>
          <a:xfrm>
            <a:off x="4617720" y="4818888"/>
            <a:ext cx="3044952" cy="274320"/>
          </a:xfrm>
          <a:prstGeom prst="rect">
            <a:avLst/>
          </a:prstGeom>
          <a:noFill/>
        </p:spPr>
        <p:txBody>
          <a:bodyPr wrap="square" lIns="0" rIns="0" tIns="0" bIns="0" anchor="t">
            <a:spAutoFit/>
          </a:bodyPr>
          <a:lstStyle/>
          <a:p>
            <a:pPr algn="l">
              <a:spcBef>
                <a:spcPts val="0"/>
              </a:spcBef>
              <a:spcAft>
                <a:spcPts val="0"/>
              </a:spcAft>
            </a:pPr>
            <a:r>
              <a:rPr sz="910" b="0">
                <a:solidFill>
                  <a:srgbClr val="FFFFFF"/>
                </a:solidFill>
                <a:latin typeface="Aptos"/>
              </a:rPr>
              <a:t>Join semantic objects, measures, DAX and physical sources</a:t>
            </a:r>
          </a:p>
        </p:txBody>
      </p:sp>
      <p:sp>
        <p:nvSpPr>
          <p:cNvPr id="54" name="Rounded Rectangle 53"/>
          <p:cNvSpPr/>
          <p:nvPr/>
        </p:nvSpPr>
        <p:spPr>
          <a:xfrm>
            <a:off x="4370832" y="5285232"/>
            <a:ext cx="155448" cy="155448"/>
          </a:xfrm>
          <a:prstGeom prst="roundRect">
            <a:avLst>
              <a:gd name="adj" fmla="val 8000"/>
            </a:avLst>
          </a:prstGeom>
          <a:solidFill>
            <a:srgbClr val="0F9D84"/>
          </a:solidFill>
          <a:ln>
            <a:solidFill>
              <a:srgbClr val="0F9D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361688" y="5298948"/>
            <a:ext cx="173736" cy="118872"/>
          </a:xfrm>
          <a:prstGeom prst="rect">
            <a:avLst/>
          </a:prstGeom>
          <a:noFill/>
        </p:spPr>
        <p:txBody>
          <a:bodyPr wrap="square" lIns="0" rIns="0" tIns="0" bIns="0" anchor="t">
            <a:spAutoFit/>
          </a:bodyPr>
          <a:lstStyle/>
          <a:p>
            <a:pPr algn="ctr">
              <a:spcBef>
                <a:spcPts val="0"/>
              </a:spcBef>
              <a:spcAft>
                <a:spcPts val="0"/>
              </a:spcAft>
            </a:pPr>
            <a:r>
              <a:rPr sz="550" b="1">
                <a:solidFill>
                  <a:srgbClr val="FFFFFF"/>
                </a:solidFill>
                <a:latin typeface="Aptos"/>
              </a:rPr>
              <a:t>OK</a:t>
            </a:r>
          </a:p>
        </p:txBody>
      </p:sp>
      <p:sp>
        <p:nvSpPr>
          <p:cNvPr id="56" name="TextBox 55"/>
          <p:cNvSpPr txBox="1"/>
          <p:nvPr/>
        </p:nvSpPr>
        <p:spPr>
          <a:xfrm>
            <a:off x="4617720" y="5248656"/>
            <a:ext cx="3044952" cy="274320"/>
          </a:xfrm>
          <a:prstGeom prst="rect">
            <a:avLst/>
          </a:prstGeom>
          <a:noFill/>
        </p:spPr>
        <p:txBody>
          <a:bodyPr wrap="square" lIns="0" rIns="0" tIns="0" bIns="0" anchor="t">
            <a:spAutoFit/>
          </a:bodyPr>
          <a:lstStyle/>
          <a:p>
            <a:pPr algn="l">
              <a:spcBef>
                <a:spcPts val="0"/>
              </a:spcBef>
              <a:spcAft>
                <a:spcPts val="0"/>
              </a:spcAft>
            </a:pPr>
            <a:r>
              <a:rPr sz="910" b="0">
                <a:solidFill>
                  <a:srgbClr val="FFFFFF"/>
                </a:solidFill>
                <a:latin typeface="Aptos"/>
              </a:rPr>
              <a:t>Inspect visual metadata and continue lineage in Snowflake</a:t>
            </a:r>
          </a:p>
        </p:txBody>
      </p:sp>
      <p:sp>
        <p:nvSpPr>
          <p:cNvPr id="57" name="Rounded Rectangle 56"/>
          <p:cNvSpPr/>
          <p:nvPr/>
        </p:nvSpPr>
        <p:spPr>
          <a:xfrm>
            <a:off x="4370832" y="5715000"/>
            <a:ext cx="155448" cy="155448"/>
          </a:xfrm>
          <a:prstGeom prst="roundRect">
            <a:avLst>
              <a:gd name="adj" fmla="val 8000"/>
            </a:avLst>
          </a:prstGeom>
          <a:solidFill>
            <a:srgbClr val="0F9D84"/>
          </a:solidFill>
          <a:ln>
            <a:solidFill>
              <a:srgbClr val="0F9D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361688" y="5728716"/>
            <a:ext cx="173736" cy="118872"/>
          </a:xfrm>
          <a:prstGeom prst="rect">
            <a:avLst/>
          </a:prstGeom>
          <a:noFill/>
        </p:spPr>
        <p:txBody>
          <a:bodyPr wrap="square" lIns="0" rIns="0" tIns="0" bIns="0" anchor="t">
            <a:spAutoFit/>
          </a:bodyPr>
          <a:lstStyle/>
          <a:p>
            <a:pPr algn="ctr">
              <a:spcBef>
                <a:spcPts val="0"/>
              </a:spcBef>
              <a:spcAft>
                <a:spcPts val="0"/>
              </a:spcAft>
            </a:pPr>
            <a:r>
              <a:rPr sz="550" b="1">
                <a:solidFill>
                  <a:srgbClr val="FFFFFF"/>
                </a:solidFill>
                <a:latin typeface="Aptos"/>
              </a:rPr>
              <a:t>OK</a:t>
            </a:r>
          </a:p>
        </p:txBody>
      </p:sp>
      <p:sp>
        <p:nvSpPr>
          <p:cNvPr id="59" name="TextBox 58"/>
          <p:cNvSpPr txBox="1"/>
          <p:nvPr/>
        </p:nvSpPr>
        <p:spPr>
          <a:xfrm>
            <a:off x="4617720" y="5678424"/>
            <a:ext cx="3044952" cy="274320"/>
          </a:xfrm>
          <a:prstGeom prst="rect">
            <a:avLst/>
          </a:prstGeom>
          <a:noFill/>
        </p:spPr>
        <p:txBody>
          <a:bodyPr wrap="square" lIns="0" rIns="0" tIns="0" bIns="0" anchor="t">
            <a:spAutoFit/>
          </a:bodyPr>
          <a:lstStyle/>
          <a:p>
            <a:pPr algn="l">
              <a:spcBef>
                <a:spcPts val="0"/>
              </a:spcBef>
              <a:spcAft>
                <a:spcPts val="0"/>
              </a:spcAft>
            </a:pPr>
            <a:r>
              <a:rPr sz="910" b="0">
                <a:solidFill>
                  <a:srgbClr val="FFFFFF"/>
                </a:solidFill>
                <a:latin typeface="Aptos"/>
              </a:rPr>
              <a:t>Export evidence; optionally generate plain-language definitions</a:t>
            </a:r>
          </a:p>
        </p:txBody>
      </p:sp>
      <p:sp>
        <p:nvSpPr>
          <p:cNvPr id="60" name="Rounded Rectangle 59"/>
          <p:cNvSpPr/>
          <p:nvPr/>
        </p:nvSpPr>
        <p:spPr>
          <a:xfrm>
            <a:off x="4352544" y="5952744"/>
            <a:ext cx="3392424" cy="201168"/>
          </a:xfrm>
          <a:prstGeom prst="roundRect">
            <a:avLst>
              <a:gd name="adj" fmla="val 8000"/>
            </a:avLst>
          </a:prstGeom>
          <a:solidFill>
            <a:srgbClr val="203958"/>
          </a:solidFill>
          <a:ln>
            <a:solidFill>
              <a:srgbClr val="2039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416552" y="5971031"/>
            <a:ext cx="3246120" cy="137160"/>
          </a:xfrm>
          <a:prstGeom prst="rect">
            <a:avLst/>
          </a:prstGeom>
          <a:noFill/>
        </p:spPr>
        <p:txBody>
          <a:bodyPr wrap="square" lIns="0" rIns="0" tIns="0" bIns="0" anchor="t">
            <a:spAutoFit/>
          </a:bodyPr>
          <a:lstStyle/>
          <a:p>
            <a:pPr algn="ctr">
              <a:spcBef>
                <a:spcPts val="0"/>
              </a:spcBef>
              <a:spcAft>
                <a:spcPts val="0"/>
              </a:spcAft>
            </a:pPr>
            <a:r>
              <a:rPr sz="690" b="1">
                <a:solidFill>
                  <a:srgbClr val="B8C9DF"/>
                </a:solidFill>
                <a:latin typeface="Aptos"/>
              </a:rPr>
              <a:t>FULL XMLA MODE: WINDOWS + PYWIN32 + MSOLAP</a:t>
            </a:r>
          </a:p>
        </p:txBody>
      </p:sp>
      <p:sp>
        <p:nvSpPr>
          <p:cNvPr id="62" name="Rounded Rectangle 61"/>
          <p:cNvSpPr/>
          <p:nvPr/>
        </p:nvSpPr>
        <p:spPr>
          <a:xfrm>
            <a:off x="8211312" y="1847088"/>
            <a:ext cx="3474720" cy="4416552"/>
          </a:xfrm>
          <a:prstGeom prst="roundRect">
            <a:avLst>
              <a:gd name="adj" fmla="val 8000"/>
            </a:avLst>
          </a:prstGeom>
          <a:solidFill>
            <a:srgbClr val="FFFFFF"/>
          </a:solidFill>
          <a:ln w="10160">
            <a:solidFill>
              <a:srgbClr val="D9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211312" y="1847088"/>
            <a:ext cx="3474720" cy="82296"/>
          </a:xfrm>
          <a:prstGeom prst="rect">
            <a:avLst/>
          </a:prstGeom>
          <a:solidFill>
            <a:srgbClr val="0F9D84"/>
          </a:solidFill>
          <a:ln>
            <a:solidFill>
              <a:srgbClr val="0F9D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439912" y="2103120"/>
            <a:ext cx="1097280" cy="256032"/>
          </a:xfrm>
          <a:prstGeom prst="roundRect">
            <a:avLst>
              <a:gd name="adj" fmla="val 8000"/>
            </a:avLst>
          </a:prstGeom>
          <a:solidFill>
            <a:srgbClr val="E8F7F3"/>
          </a:solidFill>
          <a:ln>
            <a:solidFill>
              <a:srgbClr val="E8F7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39912" y="2107691"/>
            <a:ext cx="1097280" cy="228600"/>
          </a:xfrm>
          <a:prstGeom prst="rect">
            <a:avLst/>
          </a:prstGeom>
          <a:noFill/>
        </p:spPr>
        <p:txBody>
          <a:bodyPr wrap="square" lIns="0" rIns="0" tIns="0" bIns="0" anchor="ctr">
            <a:spAutoFit/>
          </a:bodyPr>
          <a:lstStyle/>
          <a:p>
            <a:pPr algn="ctr">
              <a:spcBef>
                <a:spcPts val="0"/>
              </a:spcBef>
              <a:spcAft>
                <a:spcPts val="0"/>
              </a:spcAft>
            </a:pPr>
            <a:r>
              <a:rPr sz="819" b="1">
                <a:solidFill>
                  <a:srgbClr val="0F9D84"/>
                </a:solidFill>
                <a:latin typeface="Aptos"/>
              </a:rPr>
              <a:t>BUSINESS VALUE</a:t>
            </a:r>
          </a:p>
        </p:txBody>
      </p:sp>
      <p:sp>
        <p:nvSpPr>
          <p:cNvPr id="66" name="TextBox 65"/>
          <p:cNvSpPr txBox="1"/>
          <p:nvPr/>
        </p:nvSpPr>
        <p:spPr>
          <a:xfrm>
            <a:off x="8439912" y="2505456"/>
            <a:ext cx="2560320" cy="320040"/>
          </a:xfrm>
          <a:prstGeom prst="rect">
            <a:avLst/>
          </a:prstGeom>
          <a:noFill/>
        </p:spPr>
        <p:txBody>
          <a:bodyPr wrap="square" lIns="0" rIns="0" tIns="0" bIns="0" anchor="t">
            <a:spAutoFit/>
          </a:bodyPr>
          <a:lstStyle/>
          <a:p>
            <a:pPr algn="l">
              <a:spcBef>
                <a:spcPts val="0"/>
              </a:spcBef>
              <a:spcAft>
                <a:spcPts val="0"/>
              </a:spcAft>
            </a:pPr>
            <a:r>
              <a:rPr sz="1800" b="1">
                <a:solidFill>
                  <a:srgbClr val="10233F"/>
                </a:solidFill>
                <a:latin typeface="Aptos"/>
              </a:rPr>
              <a:t>Outcomes</a:t>
            </a:r>
          </a:p>
        </p:txBody>
      </p:sp>
      <p:sp>
        <p:nvSpPr>
          <p:cNvPr id="67" name="Rectangle 66"/>
          <p:cNvSpPr/>
          <p:nvPr/>
        </p:nvSpPr>
        <p:spPr>
          <a:xfrm>
            <a:off x="8439912" y="2999232"/>
            <a:ext cx="73152" cy="74980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622792" y="2999232"/>
            <a:ext cx="2816351" cy="182880"/>
          </a:xfrm>
          <a:prstGeom prst="rect">
            <a:avLst/>
          </a:prstGeom>
          <a:noFill/>
        </p:spPr>
        <p:txBody>
          <a:bodyPr wrap="square" lIns="0" rIns="0" tIns="0" bIns="0" anchor="t">
            <a:spAutoFit/>
          </a:bodyPr>
          <a:lstStyle/>
          <a:p>
            <a:pPr algn="l">
              <a:spcBef>
                <a:spcPts val="0"/>
              </a:spcBef>
              <a:spcAft>
                <a:spcPts val="0"/>
              </a:spcAft>
            </a:pPr>
            <a:r>
              <a:rPr sz="819" b="1">
                <a:solidFill>
                  <a:srgbClr val="2563EB"/>
                </a:solidFill>
                <a:latin typeface="Aptos"/>
              </a:rPr>
              <a:t>FASTER</a:t>
            </a:r>
          </a:p>
        </p:txBody>
      </p:sp>
      <p:sp>
        <p:nvSpPr>
          <p:cNvPr id="69" name="TextBox 68"/>
          <p:cNvSpPr txBox="1"/>
          <p:nvPr/>
        </p:nvSpPr>
        <p:spPr>
          <a:xfrm>
            <a:off x="8622792" y="3200400"/>
            <a:ext cx="2816351" cy="228600"/>
          </a:xfrm>
          <a:prstGeom prst="rect">
            <a:avLst/>
          </a:prstGeom>
          <a:noFill/>
        </p:spPr>
        <p:txBody>
          <a:bodyPr wrap="square" lIns="0" rIns="0" tIns="0" bIns="0" anchor="t">
            <a:spAutoFit/>
          </a:bodyPr>
          <a:lstStyle/>
          <a:p>
            <a:pPr algn="l">
              <a:spcBef>
                <a:spcPts val="0"/>
              </a:spcBef>
              <a:spcAft>
                <a:spcPts val="0"/>
              </a:spcAft>
            </a:pPr>
            <a:r>
              <a:rPr sz="1110" b="1">
                <a:solidFill>
                  <a:srgbClr val="10233F"/>
                </a:solidFill>
                <a:latin typeface="Aptos"/>
              </a:rPr>
              <a:t>Impact analysis and triage</a:t>
            </a:r>
          </a:p>
        </p:txBody>
      </p:sp>
      <p:sp>
        <p:nvSpPr>
          <p:cNvPr id="70" name="TextBox 69"/>
          <p:cNvSpPr txBox="1"/>
          <p:nvPr/>
        </p:nvSpPr>
        <p:spPr>
          <a:xfrm>
            <a:off x="8622792" y="3447288"/>
            <a:ext cx="2816351" cy="301752"/>
          </a:xfrm>
          <a:prstGeom prst="rect">
            <a:avLst/>
          </a:prstGeom>
          <a:noFill/>
        </p:spPr>
        <p:txBody>
          <a:bodyPr wrap="square" lIns="0" rIns="0" tIns="0" bIns="0" anchor="t">
            <a:spAutoFit/>
          </a:bodyPr>
          <a:lstStyle/>
          <a:p>
            <a:pPr algn="l">
              <a:spcBef>
                <a:spcPts val="0"/>
              </a:spcBef>
              <a:spcAft>
                <a:spcPts val="0"/>
              </a:spcAft>
            </a:pPr>
            <a:r>
              <a:rPr sz="890" b="0">
                <a:solidFill>
                  <a:srgbClr val="52627A"/>
                </a:solidFill>
                <a:latin typeface="Aptos"/>
              </a:rPr>
              <a:t>Answer what changes, what depends on it and where to investigate next.</a:t>
            </a:r>
          </a:p>
        </p:txBody>
      </p:sp>
      <p:sp>
        <p:nvSpPr>
          <p:cNvPr id="71" name="Rectangle 70"/>
          <p:cNvSpPr/>
          <p:nvPr/>
        </p:nvSpPr>
        <p:spPr>
          <a:xfrm>
            <a:off x="8439912" y="3986783"/>
            <a:ext cx="73152" cy="749808"/>
          </a:xfrm>
          <a:prstGeom prst="rect">
            <a:avLst/>
          </a:prstGeom>
          <a:solidFill>
            <a:srgbClr val="0F9D84"/>
          </a:solidFill>
          <a:ln>
            <a:solidFill>
              <a:srgbClr val="0F9D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622792" y="3986783"/>
            <a:ext cx="2816351" cy="182880"/>
          </a:xfrm>
          <a:prstGeom prst="rect">
            <a:avLst/>
          </a:prstGeom>
          <a:noFill/>
        </p:spPr>
        <p:txBody>
          <a:bodyPr wrap="square" lIns="0" rIns="0" tIns="0" bIns="0" anchor="t">
            <a:spAutoFit/>
          </a:bodyPr>
          <a:lstStyle/>
          <a:p>
            <a:pPr algn="l">
              <a:spcBef>
                <a:spcPts val="0"/>
              </a:spcBef>
              <a:spcAft>
                <a:spcPts val="0"/>
              </a:spcAft>
            </a:pPr>
            <a:r>
              <a:rPr sz="819" b="1">
                <a:solidFill>
                  <a:srgbClr val="0F9D84"/>
                </a:solidFill>
                <a:latin typeface="Aptos"/>
              </a:rPr>
              <a:t>CONSISTENT</a:t>
            </a:r>
          </a:p>
        </p:txBody>
      </p:sp>
      <p:sp>
        <p:nvSpPr>
          <p:cNvPr id="73" name="TextBox 72"/>
          <p:cNvSpPr txBox="1"/>
          <p:nvPr/>
        </p:nvSpPr>
        <p:spPr>
          <a:xfrm>
            <a:off x="8622792" y="4187951"/>
            <a:ext cx="2816351" cy="228600"/>
          </a:xfrm>
          <a:prstGeom prst="rect">
            <a:avLst/>
          </a:prstGeom>
          <a:noFill/>
        </p:spPr>
        <p:txBody>
          <a:bodyPr wrap="square" lIns="0" rIns="0" tIns="0" bIns="0" anchor="t">
            <a:spAutoFit/>
          </a:bodyPr>
          <a:lstStyle/>
          <a:p>
            <a:pPr algn="l">
              <a:spcBef>
                <a:spcPts val="0"/>
              </a:spcBef>
              <a:spcAft>
                <a:spcPts val="0"/>
              </a:spcAft>
            </a:pPr>
            <a:r>
              <a:rPr sz="1110" b="1">
                <a:solidFill>
                  <a:srgbClr val="10233F"/>
                </a:solidFill>
                <a:latin typeface="Aptos"/>
              </a:rPr>
              <a:t>Evidence for governance</a:t>
            </a:r>
          </a:p>
        </p:txBody>
      </p:sp>
      <p:sp>
        <p:nvSpPr>
          <p:cNvPr id="74" name="TextBox 73"/>
          <p:cNvSpPr txBox="1"/>
          <p:nvPr/>
        </p:nvSpPr>
        <p:spPr>
          <a:xfrm>
            <a:off x="8622792" y="4434840"/>
            <a:ext cx="2816351" cy="301752"/>
          </a:xfrm>
          <a:prstGeom prst="rect">
            <a:avLst/>
          </a:prstGeom>
          <a:noFill/>
        </p:spPr>
        <p:txBody>
          <a:bodyPr wrap="square" lIns="0" rIns="0" tIns="0" bIns="0" anchor="t">
            <a:spAutoFit/>
          </a:bodyPr>
          <a:lstStyle/>
          <a:p>
            <a:pPr algn="l">
              <a:spcBef>
                <a:spcPts val="0"/>
              </a:spcBef>
              <a:spcAft>
                <a:spcPts val="0"/>
              </a:spcAft>
            </a:pPr>
            <a:r>
              <a:rPr sz="890" b="0">
                <a:solidFill>
                  <a:srgbClr val="52627A"/>
                </a:solidFill>
                <a:latin typeface="Aptos"/>
              </a:rPr>
              <a:t>Reusable lineage tables and CSV exports support review, audit and documentation.</a:t>
            </a:r>
          </a:p>
        </p:txBody>
      </p:sp>
      <p:sp>
        <p:nvSpPr>
          <p:cNvPr id="75" name="Rectangle 74"/>
          <p:cNvSpPr/>
          <p:nvPr/>
        </p:nvSpPr>
        <p:spPr>
          <a:xfrm>
            <a:off x="8439912" y="4974336"/>
            <a:ext cx="73152" cy="749808"/>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622792" y="4974336"/>
            <a:ext cx="2816351" cy="182880"/>
          </a:xfrm>
          <a:prstGeom prst="rect">
            <a:avLst/>
          </a:prstGeom>
          <a:noFill/>
        </p:spPr>
        <p:txBody>
          <a:bodyPr wrap="square" lIns="0" rIns="0" tIns="0" bIns="0" anchor="t">
            <a:spAutoFit/>
          </a:bodyPr>
          <a:lstStyle/>
          <a:p>
            <a:pPr algn="l">
              <a:spcBef>
                <a:spcPts val="0"/>
              </a:spcBef>
              <a:spcAft>
                <a:spcPts val="0"/>
              </a:spcAft>
            </a:pPr>
            <a:r>
              <a:rPr sz="819" b="1">
                <a:solidFill>
                  <a:srgbClr val="F59E0B"/>
                </a:solidFill>
                <a:latin typeface="Aptos"/>
              </a:rPr>
              <a:t>LOWER RISK</a:t>
            </a:r>
          </a:p>
        </p:txBody>
      </p:sp>
      <p:sp>
        <p:nvSpPr>
          <p:cNvPr id="77" name="TextBox 76"/>
          <p:cNvSpPr txBox="1"/>
          <p:nvPr/>
        </p:nvSpPr>
        <p:spPr>
          <a:xfrm>
            <a:off x="8622792" y="5175503"/>
            <a:ext cx="2816351" cy="228600"/>
          </a:xfrm>
          <a:prstGeom prst="rect">
            <a:avLst/>
          </a:prstGeom>
          <a:noFill/>
        </p:spPr>
        <p:txBody>
          <a:bodyPr wrap="square" lIns="0" rIns="0" tIns="0" bIns="0" anchor="t">
            <a:spAutoFit/>
          </a:bodyPr>
          <a:lstStyle/>
          <a:p>
            <a:pPr algn="l">
              <a:spcBef>
                <a:spcPts val="0"/>
              </a:spcBef>
              <a:spcAft>
                <a:spcPts val="0"/>
              </a:spcAft>
            </a:pPr>
            <a:r>
              <a:rPr sz="1110" b="1">
                <a:solidFill>
                  <a:srgbClr val="10233F"/>
                </a:solidFill>
                <a:latin typeface="Aptos"/>
              </a:rPr>
              <a:t>Less manual interpretation</a:t>
            </a:r>
          </a:p>
        </p:txBody>
      </p:sp>
      <p:sp>
        <p:nvSpPr>
          <p:cNvPr id="78" name="TextBox 77"/>
          <p:cNvSpPr txBox="1"/>
          <p:nvPr/>
        </p:nvSpPr>
        <p:spPr>
          <a:xfrm>
            <a:off x="8622792" y="5422392"/>
            <a:ext cx="2816351" cy="301752"/>
          </a:xfrm>
          <a:prstGeom prst="rect">
            <a:avLst/>
          </a:prstGeom>
          <a:noFill/>
        </p:spPr>
        <p:txBody>
          <a:bodyPr wrap="square" lIns="0" rIns="0" tIns="0" bIns="0" anchor="t">
            <a:spAutoFit/>
          </a:bodyPr>
          <a:lstStyle/>
          <a:p>
            <a:pPr algn="l">
              <a:spcBef>
                <a:spcPts val="0"/>
              </a:spcBef>
              <a:spcAft>
                <a:spcPts val="0"/>
              </a:spcAft>
            </a:pPr>
            <a:r>
              <a:rPr sz="890" b="0">
                <a:solidFill>
                  <a:srgbClr val="52627A"/>
                </a:solidFill>
                <a:latin typeface="Aptos"/>
              </a:rPr>
              <a:t>A shared workflow reduces dependence on PBIX inspection and individual experts.</a:t>
            </a:r>
          </a:p>
        </p:txBody>
      </p:sp>
      <p:sp>
        <p:nvSpPr>
          <p:cNvPr id="79" name="Rounded Rectangle 78"/>
          <p:cNvSpPr/>
          <p:nvPr/>
        </p:nvSpPr>
        <p:spPr>
          <a:xfrm>
            <a:off x="8439912" y="5843016"/>
            <a:ext cx="2999232" cy="256032"/>
          </a:xfrm>
          <a:prstGeom prst="roundRect">
            <a:avLst>
              <a:gd name="adj" fmla="val 8000"/>
            </a:avLst>
          </a:prstGeom>
          <a:solidFill>
            <a:srgbClr val="EAF7F0"/>
          </a:solidFill>
          <a:ln>
            <a:solidFill>
              <a:srgbClr val="EAF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485632" y="5884164"/>
            <a:ext cx="2907792" cy="128016"/>
          </a:xfrm>
          <a:prstGeom prst="rect">
            <a:avLst/>
          </a:prstGeom>
          <a:noFill/>
        </p:spPr>
        <p:txBody>
          <a:bodyPr wrap="square" lIns="0" rIns="0" tIns="0" bIns="0" anchor="t">
            <a:spAutoFit/>
          </a:bodyPr>
          <a:lstStyle/>
          <a:p>
            <a:pPr algn="ctr">
              <a:spcBef>
                <a:spcPts val="0"/>
              </a:spcBef>
              <a:spcAft>
                <a:spcPts val="0"/>
              </a:spcAft>
            </a:pPr>
            <a:r>
              <a:rPr sz="710" b="1">
                <a:solidFill>
                  <a:srgbClr val="178A55"/>
                </a:solidFill>
                <a:latin typeface="Aptos"/>
              </a:rPr>
              <a:t>DISCOVER  &gt;  TRACE  &gt;  EXPLAIN  &gt;  EXPORT</a:t>
            </a:r>
          </a:p>
        </p:txBody>
      </p:sp>
      <p:sp>
        <p:nvSpPr>
          <p:cNvPr id="81" name="Rectangle 80"/>
          <p:cNvSpPr/>
          <p:nvPr/>
        </p:nvSpPr>
        <p:spPr>
          <a:xfrm>
            <a:off x="502920" y="6510528"/>
            <a:ext cx="11183112" cy="10972"/>
          </a:xfrm>
          <a:prstGeom prst="rect">
            <a:avLst/>
          </a:prstGeom>
          <a:solidFill>
            <a:srgbClr val="D9E2EF"/>
          </a:solidFill>
          <a:ln>
            <a:solidFill>
              <a:srgbClr val="D9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0352" y="6565392"/>
            <a:ext cx="2286000" cy="164592"/>
          </a:xfrm>
          <a:prstGeom prst="rect">
            <a:avLst/>
          </a:prstGeom>
          <a:noFill/>
        </p:spPr>
        <p:txBody>
          <a:bodyPr wrap="square" lIns="0" rIns="0" tIns="0" bIns="0" anchor="t">
            <a:spAutoFit/>
          </a:bodyPr>
          <a:lstStyle/>
          <a:p>
            <a:pPr algn="l">
              <a:spcBef>
                <a:spcPts val="0"/>
              </a:spcBef>
              <a:spcAft>
                <a:spcPts val="0"/>
              </a:spcAft>
            </a:pPr>
            <a:r>
              <a:rPr sz="750" b="1">
                <a:solidFill>
                  <a:srgbClr val="718096"/>
                </a:solidFill>
                <a:latin typeface="Aptos"/>
              </a:rPr>
              <a:t>PBI LINEAGE EXPLORER</a:t>
            </a:r>
          </a:p>
        </p:txBody>
      </p:sp>
      <p:sp>
        <p:nvSpPr>
          <p:cNvPr id="83" name="TextBox 82"/>
          <p:cNvSpPr txBox="1"/>
          <p:nvPr/>
        </p:nvSpPr>
        <p:spPr>
          <a:xfrm>
            <a:off x="3840480" y="6565392"/>
            <a:ext cx="4526280" cy="164592"/>
          </a:xfrm>
          <a:prstGeom prst="rect">
            <a:avLst/>
          </a:prstGeom>
          <a:noFill/>
        </p:spPr>
        <p:txBody>
          <a:bodyPr wrap="square" lIns="0" rIns="0" tIns="0" bIns="0" anchor="t">
            <a:spAutoFit/>
          </a:bodyPr>
          <a:lstStyle/>
          <a:p>
            <a:pPr algn="ctr">
              <a:spcBef>
                <a:spcPts val="0"/>
              </a:spcBef>
              <a:spcAft>
                <a:spcPts val="0"/>
              </a:spcAft>
            </a:pPr>
            <a:r>
              <a:rPr sz="750" b="0">
                <a:solidFill>
                  <a:srgbClr val="718096"/>
                </a:solidFill>
                <a:latin typeface="Aptos"/>
              </a:rPr>
              <a:t>POWER BI  |  FABRIC  |  XMLA  |  SNOWFLAKE</a:t>
            </a:r>
          </a:p>
        </p:txBody>
      </p:sp>
      <p:sp>
        <p:nvSpPr>
          <p:cNvPr id="84" name="TextBox 83"/>
          <p:cNvSpPr txBox="1"/>
          <p:nvPr/>
        </p:nvSpPr>
        <p:spPr>
          <a:xfrm>
            <a:off x="11155680" y="6547104"/>
            <a:ext cx="502920" cy="182880"/>
          </a:xfrm>
          <a:prstGeom prst="rect">
            <a:avLst/>
          </a:prstGeom>
          <a:noFill/>
        </p:spPr>
        <p:txBody>
          <a:bodyPr wrap="square" lIns="0" rIns="0" tIns="0" bIns="0" anchor="t">
            <a:spAutoFit/>
          </a:bodyPr>
          <a:lstStyle/>
          <a:p>
            <a:pPr algn="r">
              <a:spcBef>
                <a:spcPts val="0"/>
              </a:spcBef>
              <a:spcAft>
                <a:spcPts val="0"/>
              </a:spcAft>
            </a:pPr>
            <a:r>
              <a:rPr sz="850" b="1">
                <a:solidFill>
                  <a:srgbClr val="2563EB"/>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solidFill>
              <a:srgbClr val="F4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30352" y="384048"/>
            <a:ext cx="1417320" cy="256032"/>
          </a:xfrm>
          <a:prstGeom prst="roundRect">
            <a:avLst>
              <a:gd name="adj" fmla="val 8000"/>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388620"/>
            <a:ext cx="1417320" cy="228600"/>
          </a:xfrm>
          <a:prstGeom prst="rect">
            <a:avLst/>
          </a:prstGeom>
          <a:noFill/>
        </p:spPr>
        <p:txBody>
          <a:bodyPr wrap="square" lIns="0" rIns="0" tIns="0" bIns="0" anchor="ctr">
            <a:spAutoFit/>
          </a:bodyPr>
          <a:lstStyle/>
          <a:p>
            <a:pPr algn="ctr">
              <a:spcBef>
                <a:spcPts val="0"/>
              </a:spcBef>
              <a:spcAft>
                <a:spcPts val="0"/>
              </a:spcAft>
            </a:pPr>
            <a:r>
              <a:rPr sz="819" b="1">
                <a:solidFill>
                  <a:srgbClr val="FFFFFF"/>
                </a:solidFill>
                <a:latin typeface="Aptos"/>
              </a:rPr>
              <a:t>REFERENCE ARCHITECTURE</a:t>
            </a:r>
          </a:p>
        </p:txBody>
      </p:sp>
      <p:sp>
        <p:nvSpPr>
          <p:cNvPr id="5" name="TextBox 4"/>
          <p:cNvSpPr txBox="1"/>
          <p:nvPr/>
        </p:nvSpPr>
        <p:spPr>
          <a:xfrm>
            <a:off x="530352" y="749808"/>
            <a:ext cx="10881360" cy="457200"/>
          </a:xfrm>
          <a:prstGeom prst="rect">
            <a:avLst/>
          </a:prstGeom>
          <a:noFill/>
        </p:spPr>
        <p:txBody>
          <a:bodyPr wrap="square" lIns="0" rIns="0" tIns="0" bIns="0" anchor="t">
            <a:spAutoFit/>
          </a:bodyPr>
          <a:lstStyle/>
          <a:p>
            <a:pPr algn="l">
              <a:spcBef>
                <a:spcPts val="0"/>
              </a:spcBef>
              <a:spcAft>
                <a:spcPts val="0"/>
              </a:spcAft>
            </a:pPr>
            <a:r>
              <a:rPr sz="2700" b="1">
                <a:solidFill>
                  <a:srgbClr val="10233F"/>
                </a:solidFill>
                <a:latin typeface="Aptos"/>
              </a:rPr>
              <a:t>Metadata-first lineage with a Windows XMLA execution path</a:t>
            </a:r>
          </a:p>
        </p:txBody>
      </p:sp>
      <p:sp>
        <p:nvSpPr>
          <p:cNvPr id="6" name="TextBox 5"/>
          <p:cNvSpPr txBox="1"/>
          <p:nvPr/>
        </p:nvSpPr>
        <p:spPr>
          <a:xfrm>
            <a:off x="530352" y="1261872"/>
            <a:ext cx="10789920" cy="420624"/>
          </a:xfrm>
          <a:prstGeom prst="rect">
            <a:avLst/>
          </a:prstGeom>
          <a:noFill/>
        </p:spPr>
        <p:txBody>
          <a:bodyPr wrap="square" lIns="0" rIns="0" tIns="0" bIns="0" anchor="t">
            <a:spAutoFit/>
          </a:bodyPr>
          <a:lstStyle/>
          <a:p>
            <a:pPr algn="l">
              <a:spcBef>
                <a:spcPts val="0"/>
              </a:spcBef>
              <a:spcAft>
                <a:spcPts val="0"/>
              </a:spcAft>
            </a:pPr>
            <a:r>
              <a:rPr sz="1130" b="0">
                <a:solidFill>
                  <a:srgbClr val="52627A"/>
                </a:solidFill>
                <a:latin typeface="Aptos"/>
              </a:rPr>
              <a:t>One delegated user session orchestrates API-specific metadata calls; the application joins results and presents lineage without placing credentials in source control.</a:t>
            </a:r>
          </a:p>
        </p:txBody>
      </p:sp>
      <p:sp>
        <p:nvSpPr>
          <p:cNvPr id="7" name="Rounded Rectangle 6"/>
          <p:cNvSpPr/>
          <p:nvPr/>
        </p:nvSpPr>
        <p:spPr>
          <a:xfrm>
            <a:off x="457200" y="2514600"/>
            <a:ext cx="1371600" cy="1828800"/>
          </a:xfrm>
          <a:prstGeom prst="roundRect">
            <a:avLst>
              <a:gd name="adj" fmla="val 8000"/>
            </a:avLst>
          </a:prstGeom>
          <a:solidFill>
            <a:srgbClr val="FFFFFF"/>
          </a:solidFill>
          <a:ln w="11430">
            <a:solidFill>
              <a:srgbClr val="D9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86384" y="2788920"/>
            <a:ext cx="713232" cy="530352"/>
          </a:xfrm>
          <a:prstGeom prst="roundRect">
            <a:avLst>
              <a:gd name="adj" fmla="val 8000"/>
            </a:avLst>
          </a:prstGeom>
          <a:solidFill>
            <a:srgbClr val="EAF2FF"/>
          </a:solidFill>
          <a:ln>
            <a:solidFill>
              <a:srgbClr val="EA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944368"/>
            <a:ext cx="713232" cy="182880"/>
          </a:xfrm>
          <a:prstGeom prst="rect">
            <a:avLst/>
          </a:prstGeom>
          <a:noFill/>
        </p:spPr>
        <p:txBody>
          <a:bodyPr wrap="square" lIns="0" rIns="0" tIns="0" bIns="0" anchor="t">
            <a:spAutoFit/>
          </a:bodyPr>
          <a:lstStyle/>
          <a:p>
            <a:pPr algn="ctr">
              <a:spcBef>
                <a:spcPts val="0"/>
              </a:spcBef>
              <a:spcAft>
                <a:spcPts val="0"/>
              </a:spcAft>
            </a:pPr>
            <a:r>
              <a:rPr sz="950" b="1">
                <a:solidFill>
                  <a:srgbClr val="1749A8"/>
                </a:solidFill>
                <a:latin typeface="Aptos"/>
              </a:rPr>
              <a:t>USER</a:t>
            </a:r>
          </a:p>
        </p:txBody>
      </p:sp>
      <p:sp>
        <p:nvSpPr>
          <p:cNvPr id="10" name="TextBox 9"/>
          <p:cNvSpPr txBox="1"/>
          <p:nvPr/>
        </p:nvSpPr>
        <p:spPr>
          <a:xfrm>
            <a:off x="603504" y="3493008"/>
            <a:ext cx="1078992" cy="256032"/>
          </a:xfrm>
          <a:prstGeom prst="rect">
            <a:avLst/>
          </a:prstGeom>
          <a:noFill/>
        </p:spPr>
        <p:txBody>
          <a:bodyPr wrap="square" lIns="0" rIns="0" tIns="0" bIns="0" anchor="t">
            <a:spAutoFit/>
          </a:bodyPr>
          <a:lstStyle/>
          <a:p>
            <a:pPr algn="ctr">
              <a:spcBef>
                <a:spcPts val="0"/>
              </a:spcBef>
              <a:spcAft>
                <a:spcPts val="0"/>
              </a:spcAft>
            </a:pPr>
            <a:r>
              <a:rPr sz="1100" b="1">
                <a:solidFill>
                  <a:srgbClr val="10233F"/>
                </a:solidFill>
                <a:latin typeface="Aptos"/>
              </a:rPr>
              <a:t>Analyst / Owner</a:t>
            </a:r>
          </a:p>
        </p:txBody>
      </p:sp>
      <p:sp>
        <p:nvSpPr>
          <p:cNvPr id="11" name="TextBox 10"/>
          <p:cNvSpPr txBox="1"/>
          <p:nvPr/>
        </p:nvSpPr>
        <p:spPr>
          <a:xfrm>
            <a:off x="603504" y="3822191"/>
            <a:ext cx="1078992" cy="201168"/>
          </a:xfrm>
          <a:prstGeom prst="rect">
            <a:avLst/>
          </a:prstGeom>
          <a:noFill/>
        </p:spPr>
        <p:txBody>
          <a:bodyPr wrap="square" lIns="0" rIns="0" tIns="0" bIns="0" anchor="t">
            <a:spAutoFit/>
          </a:bodyPr>
          <a:lstStyle/>
          <a:p>
            <a:pPr algn="ctr">
              <a:spcBef>
                <a:spcPts val="0"/>
              </a:spcBef>
              <a:spcAft>
                <a:spcPts val="0"/>
              </a:spcAft>
            </a:pPr>
            <a:r>
              <a:rPr sz="869" b="0">
                <a:solidFill>
                  <a:srgbClr val="52627A"/>
                </a:solidFill>
                <a:latin typeface="Aptos"/>
              </a:rPr>
              <a:t>Browser UI</a:t>
            </a:r>
          </a:p>
        </p:txBody>
      </p:sp>
      <p:sp>
        <p:nvSpPr>
          <p:cNvPr id="12" name="TextBox 11"/>
          <p:cNvSpPr txBox="1"/>
          <p:nvPr/>
        </p:nvSpPr>
        <p:spPr>
          <a:xfrm>
            <a:off x="1847088" y="2980944"/>
            <a:ext cx="411480" cy="182880"/>
          </a:xfrm>
          <a:prstGeom prst="rect">
            <a:avLst/>
          </a:prstGeom>
          <a:noFill/>
        </p:spPr>
        <p:txBody>
          <a:bodyPr wrap="square" lIns="0" rIns="0" tIns="0" bIns="0" anchor="t">
            <a:spAutoFit/>
          </a:bodyPr>
          <a:lstStyle/>
          <a:p>
            <a:pPr algn="ctr">
              <a:spcBef>
                <a:spcPts val="0"/>
              </a:spcBef>
              <a:spcAft>
                <a:spcPts val="0"/>
              </a:spcAft>
            </a:pPr>
            <a:r>
              <a:rPr sz="720" b="1">
                <a:solidFill>
                  <a:srgbClr val="718096"/>
                </a:solidFill>
                <a:latin typeface="Aptos"/>
              </a:rPr>
              <a:t>HTTPS</a:t>
            </a:r>
          </a:p>
        </p:txBody>
      </p:sp>
      <p:sp>
        <p:nvSpPr>
          <p:cNvPr id="13" name="Right Arrow 12"/>
          <p:cNvSpPr/>
          <p:nvPr/>
        </p:nvSpPr>
        <p:spPr>
          <a:xfrm>
            <a:off x="1856231" y="3209544"/>
            <a:ext cx="384048" cy="228600"/>
          </a:xfrm>
          <a:prstGeom prst="rightArrow">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64792" y="3529584"/>
            <a:ext cx="566928" cy="310896"/>
          </a:xfrm>
          <a:prstGeom prst="rect">
            <a:avLst/>
          </a:prstGeom>
          <a:noFill/>
        </p:spPr>
        <p:txBody>
          <a:bodyPr wrap="square" lIns="0" rIns="0" tIns="0" bIns="0" anchor="t">
            <a:spAutoFit/>
          </a:bodyPr>
          <a:lstStyle/>
          <a:p>
            <a:pPr algn="ctr">
              <a:spcBef>
                <a:spcPts val="0"/>
              </a:spcBef>
              <a:spcAft>
                <a:spcPts val="0"/>
              </a:spcAft>
            </a:pPr>
            <a:r>
              <a:rPr sz="680" b="0">
                <a:solidFill>
                  <a:srgbClr val="718096"/>
                </a:solidFill>
                <a:latin typeface="Aptos"/>
              </a:rPr>
              <a:t>views + exports</a:t>
            </a:r>
          </a:p>
        </p:txBody>
      </p:sp>
      <p:sp>
        <p:nvSpPr>
          <p:cNvPr id="15" name="Rounded Rectangle 14"/>
          <p:cNvSpPr/>
          <p:nvPr/>
        </p:nvSpPr>
        <p:spPr>
          <a:xfrm>
            <a:off x="2331720" y="1783080"/>
            <a:ext cx="3566160" cy="3913632"/>
          </a:xfrm>
          <a:prstGeom prst="roundRect">
            <a:avLst>
              <a:gd name="adj" fmla="val 8000"/>
            </a:avLst>
          </a:prstGeom>
          <a:solidFill>
            <a:srgbClr val="FFFFFF"/>
          </a:solidFill>
          <a:ln w="1651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331720" y="1783080"/>
            <a:ext cx="3566160" cy="749808"/>
          </a:xfrm>
          <a:prstGeom prst="roundRect">
            <a:avLst>
              <a:gd name="adj" fmla="val 8000"/>
            </a:avLst>
          </a:prstGeom>
          <a:solidFill>
            <a:srgbClr val="10233F"/>
          </a:solidFill>
          <a:ln>
            <a:solidFill>
              <a:srgbClr val="1023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542032" y="1911095"/>
            <a:ext cx="452628" cy="452628"/>
          </a:xfrm>
          <a:prstGeom prst="roundRect">
            <a:avLst>
              <a:gd name="adj" fmla="val 8000"/>
            </a:avLst>
          </a:prstGeom>
          <a:solidFill>
            <a:srgbClr val="10233F"/>
          </a:solidFill>
          <a:ln>
            <a:solidFill>
              <a:srgbClr val="1023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649016" y="2116836"/>
            <a:ext cx="57607" cy="148132"/>
          </a:xfrm>
          <a:prstGeom prst="rect">
            <a:avLst/>
          </a:prstGeom>
          <a:solidFill>
            <a:srgbClr val="F2C811"/>
          </a:solidFill>
          <a:ln>
            <a:solidFill>
              <a:srgbClr val="F2C8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27198" y="2042769"/>
            <a:ext cx="57607" cy="222199"/>
          </a:xfrm>
          <a:prstGeom prst="rect">
            <a:avLst/>
          </a:prstGeom>
          <a:solidFill>
            <a:srgbClr val="F2C811"/>
          </a:solidFill>
          <a:ln>
            <a:solidFill>
              <a:srgbClr val="F2C8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05379" y="1968703"/>
            <a:ext cx="57607" cy="296265"/>
          </a:xfrm>
          <a:prstGeom prst="rect">
            <a:avLst/>
          </a:prstGeom>
          <a:solidFill>
            <a:srgbClr val="F2C811"/>
          </a:solidFill>
          <a:ln>
            <a:solidFill>
              <a:srgbClr val="F2C8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18103" y="1938528"/>
            <a:ext cx="2514600" cy="228600"/>
          </a:xfrm>
          <a:prstGeom prst="rect">
            <a:avLst/>
          </a:prstGeom>
          <a:noFill/>
        </p:spPr>
        <p:txBody>
          <a:bodyPr wrap="square" lIns="0" rIns="0" tIns="0" bIns="0" anchor="t">
            <a:spAutoFit/>
          </a:bodyPr>
          <a:lstStyle/>
          <a:p>
            <a:pPr algn="l">
              <a:spcBef>
                <a:spcPts val="0"/>
              </a:spcBef>
              <a:spcAft>
                <a:spcPts val="0"/>
              </a:spcAft>
            </a:pPr>
            <a:r>
              <a:rPr sz="1320" b="1">
                <a:solidFill>
                  <a:srgbClr val="FFFFFF"/>
                </a:solidFill>
                <a:latin typeface="Aptos"/>
              </a:rPr>
              <a:t>PBI LINEAGE EXPLORER</a:t>
            </a:r>
          </a:p>
        </p:txBody>
      </p:sp>
      <p:sp>
        <p:nvSpPr>
          <p:cNvPr id="22" name="TextBox 21"/>
          <p:cNvSpPr txBox="1"/>
          <p:nvPr/>
        </p:nvSpPr>
        <p:spPr>
          <a:xfrm>
            <a:off x="3118103" y="2221991"/>
            <a:ext cx="2514600" cy="164592"/>
          </a:xfrm>
          <a:prstGeom prst="rect">
            <a:avLst/>
          </a:prstGeom>
          <a:noFill/>
        </p:spPr>
        <p:txBody>
          <a:bodyPr wrap="square" lIns="0" rIns="0" tIns="0" bIns="0" anchor="t">
            <a:spAutoFit/>
          </a:bodyPr>
          <a:lstStyle/>
          <a:p>
            <a:pPr algn="l">
              <a:spcBef>
                <a:spcPts val="0"/>
              </a:spcBef>
              <a:spcAft>
                <a:spcPts val="0"/>
              </a:spcAft>
            </a:pPr>
            <a:r>
              <a:rPr sz="800" b="0">
                <a:solidFill>
                  <a:srgbClr val="BFD0E6"/>
                </a:solidFill>
                <a:latin typeface="Aptos"/>
              </a:rPr>
              <a:t>Streamlit + Python orchestration</a:t>
            </a:r>
          </a:p>
        </p:txBody>
      </p:sp>
      <p:sp>
        <p:nvSpPr>
          <p:cNvPr id="23" name="Rounded Rectangle 22"/>
          <p:cNvSpPr/>
          <p:nvPr/>
        </p:nvSpPr>
        <p:spPr>
          <a:xfrm>
            <a:off x="2542032" y="2788920"/>
            <a:ext cx="365760" cy="256032"/>
          </a:xfrm>
          <a:prstGeom prst="roundRect">
            <a:avLst>
              <a:gd name="adj" fmla="val 8000"/>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42032" y="2793491"/>
            <a:ext cx="365760" cy="228600"/>
          </a:xfrm>
          <a:prstGeom prst="rect">
            <a:avLst/>
          </a:prstGeom>
          <a:noFill/>
        </p:spPr>
        <p:txBody>
          <a:bodyPr wrap="square" lIns="0" rIns="0" tIns="0" bIns="0" anchor="ctr">
            <a:spAutoFit/>
          </a:bodyPr>
          <a:lstStyle/>
          <a:p>
            <a:pPr algn="ctr">
              <a:spcBef>
                <a:spcPts val="0"/>
              </a:spcBef>
              <a:spcAft>
                <a:spcPts val="0"/>
              </a:spcAft>
            </a:pPr>
            <a:r>
              <a:rPr sz="819" b="1">
                <a:solidFill>
                  <a:srgbClr val="FFFFFF"/>
                </a:solidFill>
                <a:latin typeface="Aptos"/>
              </a:rPr>
              <a:t>01</a:t>
            </a:r>
          </a:p>
        </p:txBody>
      </p:sp>
      <p:sp>
        <p:nvSpPr>
          <p:cNvPr id="25" name="TextBox 24"/>
          <p:cNvSpPr txBox="1"/>
          <p:nvPr/>
        </p:nvSpPr>
        <p:spPr>
          <a:xfrm>
            <a:off x="3026663" y="2743200"/>
            <a:ext cx="2542032" cy="219456"/>
          </a:xfrm>
          <a:prstGeom prst="rect">
            <a:avLst/>
          </a:prstGeom>
          <a:noFill/>
        </p:spPr>
        <p:txBody>
          <a:bodyPr wrap="square" lIns="0" rIns="0" tIns="0" bIns="0" anchor="t">
            <a:spAutoFit/>
          </a:bodyPr>
          <a:lstStyle/>
          <a:p>
            <a:pPr algn="l">
              <a:spcBef>
                <a:spcPts val="0"/>
              </a:spcBef>
              <a:spcAft>
                <a:spcPts val="0"/>
              </a:spcAft>
            </a:pPr>
            <a:r>
              <a:rPr sz="1019" b="1">
                <a:solidFill>
                  <a:srgbClr val="10233F"/>
                </a:solidFill>
                <a:latin typeface="Aptos"/>
              </a:rPr>
              <a:t>Identity and API orchestration</a:t>
            </a:r>
          </a:p>
        </p:txBody>
      </p:sp>
      <p:sp>
        <p:nvSpPr>
          <p:cNvPr id="26" name="TextBox 25"/>
          <p:cNvSpPr txBox="1"/>
          <p:nvPr/>
        </p:nvSpPr>
        <p:spPr>
          <a:xfrm>
            <a:off x="3026663" y="2999232"/>
            <a:ext cx="2542032" cy="384048"/>
          </a:xfrm>
          <a:prstGeom prst="rect">
            <a:avLst/>
          </a:prstGeom>
          <a:noFill/>
        </p:spPr>
        <p:txBody>
          <a:bodyPr wrap="square" lIns="0" rIns="0" tIns="0" bIns="0" anchor="t">
            <a:spAutoFit/>
          </a:bodyPr>
          <a:lstStyle/>
          <a:p>
            <a:pPr algn="l">
              <a:spcBef>
                <a:spcPts val="0"/>
              </a:spcBef>
              <a:spcAft>
                <a:spcPts val="0"/>
              </a:spcAft>
            </a:pPr>
            <a:r>
              <a:rPr sz="770" b="0">
                <a:solidFill>
                  <a:srgbClr val="52627A"/>
                </a:solidFill>
                <a:latin typeface="Aptos"/>
              </a:rPr>
              <a:t>MSAL device-code sign-in; separate Power BI and Fabric token audiences</a:t>
            </a:r>
          </a:p>
        </p:txBody>
      </p:sp>
      <p:sp>
        <p:nvSpPr>
          <p:cNvPr id="27" name="Rounded Rectangle 26"/>
          <p:cNvSpPr/>
          <p:nvPr/>
        </p:nvSpPr>
        <p:spPr>
          <a:xfrm>
            <a:off x="2542032" y="3566160"/>
            <a:ext cx="365760" cy="256032"/>
          </a:xfrm>
          <a:prstGeom prst="roundRect">
            <a:avLst>
              <a:gd name="adj" fmla="val 8000"/>
            </a:avLst>
          </a:prstGeom>
          <a:solidFill>
            <a:srgbClr val="0F9D84"/>
          </a:solidFill>
          <a:ln>
            <a:solidFill>
              <a:srgbClr val="0F9D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42032" y="3570732"/>
            <a:ext cx="365760" cy="228600"/>
          </a:xfrm>
          <a:prstGeom prst="rect">
            <a:avLst/>
          </a:prstGeom>
          <a:noFill/>
        </p:spPr>
        <p:txBody>
          <a:bodyPr wrap="square" lIns="0" rIns="0" tIns="0" bIns="0" anchor="ctr">
            <a:spAutoFit/>
          </a:bodyPr>
          <a:lstStyle/>
          <a:p>
            <a:pPr algn="ctr">
              <a:spcBef>
                <a:spcPts val="0"/>
              </a:spcBef>
              <a:spcAft>
                <a:spcPts val="0"/>
              </a:spcAft>
            </a:pPr>
            <a:r>
              <a:rPr sz="819" b="1">
                <a:solidFill>
                  <a:srgbClr val="FFFFFF"/>
                </a:solidFill>
                <a:latin typeface="Aptos"/>
              </a:rPr>
              <a:t>02</a:t>
            </a:r>
          </a:p>
        </p:txBody>
      </p:sp>
      <p:sp>
        <p:nvSpPr>
          <p:cNvPr id="29" name="TextBox 28"/>
          <p:cNvSpPr txBox="1"/>
          <p:nvPr/>
        </p:nvSpPr>
        <p:spPr>
          <a:xfrm>
            <a:off x="3026663" y="3520440"/>
            <a:ext cx="2542032" cy="219456"/>
          </a:xfrm>
          <a:prstGeom prst="rect">
            <a:avLst/>
          </a:prstGeom>
          <a:noFill/>
        </p:spPr>
        <p:txBody>
          <a:bodyPr wrap="square" lIns="0" rIns="0" tIns="0" bIns="0" anchor="t">
            <a:spAutoFit/>
          </a:bodyPr>
          <a:lstStyle/>
          <a:p>
            <a:pPr algn="l">
              <a:spcBef>
                <a:spcPts val="0"/>
              </a:spcBef>
              <a:spcAft>
                <a:spcPts val="0"/>
              </a:spcAft>
            </a:pPr>
            <a:r>
              <a:rPr sz="1019" b="1">
                <a:solidFill>
                  <a:srgbClr val="10233F"/>
                </a:solidFill>
                <a:latin typeface="Aptos"/>
              </a:rPr>
              <a:t>Metadata join and cache</a:t>
            </a:r>
          </a:p>
        </p:txBody>
      </p:sp>
      <p:sp>
        <p:nvSpPr>
          <p:cNvPr id="30" name="TextBox 29"/>
          <p:cNvSpPr txBox="1"/>
          <p:nvPr/>
        </p:nvSpPr>
        <p:spPr>
          <a:xfrm>
            <a:off x="3026663" y="3776472"/>
            <a:ext cx="2542032" cy="384048"/>
          </a:xfrm>
          <a:prstGeom prst="rect">
            <a:avLst/>
          </a:prstGeom>
          <a:noFill/>
        </p:spPr>
        <p:txBody>
          <a:bodyPr wrap="square" lIns="0" rIns="0" tIns="0" bIns="0" anchor="t">
            <a:spAutoFit/>
          </a:bodyPr>
          <a:lstStyle/>
          <a:p>
            <a:pPr algn="l">
              <a:spcBef>
                <a:spcPts val="0"/>
              </a:spcBef>
              <a:spcAft>
                <a:spcPts val="0"/>
              </a:spcAft>
            </a:pPr>
            <a:r>
              <a:rPr sz="770" b="0">
                <a:solidFill>
                  <a:srgbClr val="52627A"/>
                </a:solidFill>
                <a:latin typeface="Aptos"/>
              </a:rPr>
              <a:t>Report ID + Dataset ID + semantic object + source FQN/column</a:t>
            </a:r>
          </a:p>
        </p:txBody>
      </p:sp>
      <p:sp>
        <p:nvSpPr>
          <p:cNvPr id="31" name="Rounded Rectangle 30"/>
          <p:cNvSpPr/>
          <p:nvPr/>
        </p:nvSpPr>
        <p:spPr>
          <a:xfrm>
            <a:off x="2542032" y="4343400"/>
            <a:ext cx="365760" cy="256032"/>
          </a:xfrm>
          <a:prstGeom prst="roundRect">
            <a:avLst>
              <a:gd name="adj" fmla="val 8000"/>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42032" y="4347972"/>
            <a:ext cx="365760" cy="228600"/>
          </a:xfrm>
          <a:prstGeom prst="rect">
            <a:avLst/>
          </a:prstGeom>
          <a:noFill/>
        </p:spPr>
        <p:txBody>
          <a:bodyPr wrap="square" lIns="0" rIns="0" tIns="0" bIns="0" anchor="ctr">
            <a:spAutoFit/>
          </a:bodyPr>
          <a:lstStyle/>
          <a:p>
            <a:pPr algn="ctr">
              <a:spcBef>
                <a:spcPts val="0"/>
              </a:spcBef>
              <a:spcAft>
                <a:spcPts val="0"/>
              </a:spcAft>
            </a:pPr>
            <a:r>
              <a:rPr sz="819" b="1">
                <a:solidFill>
                  <a:srgbClr val="FFFFFF"/>
                </a:solidFill>
                <a:latin typeface="Aptos"/>
              </a:rPr>
              <a:t>03</a:t>
            </a:r>
          </a:p>
        </p:txBody>
      </p:sp>
      <p:sp>
        <p:nvSpPr>
          <p:cNvPr id="33" name="TextBox 32"/>
          <p:cNvSpPr txBox="1"/>
          <p:nvPr/>
        </p:nvSpPr>
        <p:spPr>
          <a:xfrm>
            <a:off x="3026663" y="4297680"/>
            <a:ext cx="2542032" cy="219456"/>
          </a:xfrm>
          <a:prstGeom prst="rect">
            <a:avLst/>
          </a:prstGeom>
          <a:noFill/>
        </p:spPr>
        <p:txBody>
          <a:bodyPr wrap="square" lIns="0" rIns="0" tIns="0" bIns="0" anchor="t">
            <a:spAutoFit/>
          </a:bodyPr>
          <a:lstStyle/>
          <a:p>
            <a:pPr algn="l">
              <a:spcBef>
                <a:spcPts val="0"/>
              </a:spcBef>
              <a:spcAft>
                <a:spcPts val="0"/>
              </a:spcAft>
            </a:pPr>
            <a:r>
              <a:rPr sz="1019" b="1">
                <a:solidFill>
                  <a:srgbClr val="10233F"/>
                </a:solidFill>
                <a:latin typeface="Aptos"/>
              </a:rPr>
              <a:t>Lineage experience</a:t>
            </a:r>
          </a:p>
        </p:txBody>
      </p:sp>
      <p:sp>
        <p:nvSpPr>
          <p:cNvPr id="34" name="TextBox 33"/>
          <p:cNvSpPr txBox="1"/>
          <p:nvPr/>
        </p:nvSpPr>
        <p:spPr>
          <a:xfrm>
            <a:off x="3026663" y="4553712"/>
            <a:ext cx="2542032" cy="384048"/>
          </a:xfrm>
          <a:prstGeom prst="rect">
            <a:avLst/>
          </a:prstGeom>
          <a:noFill/>
        </p:spPr>
        <p:txBody>
          <a:bodyPr wrap="square" lIns="0" rIns="0" tIns="0" bIns="0" anchor="t">
            <a:spAutoFit/>
          </a:bodyPr>
          <a:lstStyle/>
          <a:p>
            <a:pPr algn="l">
              <a:spcBef>
                <a:spcPts val="0"/>
              </a:spcBef>
              <a:spcAft>
                <a:spcPts val="0"/>
              </a:spcAft>
            </a:pPr>
            <a:r>
              <a:rPr sz="770" b="0">
                <a:solidFill>
                  <a:srgbClr val="52627A"/>
                </a:solidFill>
                <a:latin typeface="Aptos"/>
              </a:rPr>
              <a:t>Inventory, direct lookup, visual lineage, measure definitions and CSV exports</a:t>
            </a:r>
          </a:p>
        </p:txBody>
      </p:sp>
      <p:sp>
        <p:nvSpPr>
          <p:cNvPr id="35" name="Rounded Rectangle 34"/>
          <p:cNvSpPr/>
          <p:nvPr/>
        </p:nvSpPr>
        <p:spPr>
          <a:xfrm>
            <a:off x="2542032" y="5148072"/>
            <a:ext cx="3145536" cy="347472"/>
          </a:xfrm>
          <a:prstGeom prst="roundRect">
            <a:avLst>
              <a:gd name="adj" fmla="val 8000"/>
            </a:avLst>
          </a:prstGeom>
          <a:solidFill>
            <a:srgbClr val="FFF6DC"/>
          </a:solidFill>
          <a:ln w="8890">
            <a:solidFill>
              <a:srgbClr val="F0D5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587752" y="5230368"/>
            <a:ext cx="3054096" cy="146304"/>
          </a:xfrm>
          <a:prstGeom prst="rect">
            <a:avLst/>
          </a:prstGeom>
          <a:noFill/>
        </p:spPr>
        <p:txBody>
          <a:bodyPr wrap="square" lIns="0" rIns="0" tIns="0" bIns="0" anchor="t">
            <a:spAutoFit/>
          </a:bodyPr>
          <a:lstStyle/>
          <a:p>
            <a:pPr algn="ctr">
              <a:spcBef>
                <a:spcPts val="0"/>
              </a:spcBef>
              <a:spcAft>
                <a:spcPts val="0"/>
              </a:spcAft>
            </a:pPr>
            <a:r>
              <a:rPr sz="770" b="1">
                <a:solidFill>
                  <a:srgbClr val="8A5A00"/>
                </a:solidFill>
                <a:latin typeface="Aptos"/>
              </a:rPr>
              <a:t>WINDOWS HOST  |  PYWIN32  |  MSOLAP</a:t>
            </a:r>
          </a:p>
        </p:txBody>
      </p:sp>
      <p:sp>
        <p:nvSpPr>
          <p:cNvPr id="37" name="Rounded Rectangle 36"/>
          <p:cNvSpPr/>
          <p:nvPr/>
        </p:nvSpPr>
        <p:spPr>
          <a:xfrm>
            <a:off x="6492240" y="1783080"/>
            <a:ext cx="5212080" cy="2697480"/>
          </a:xfrm>
          <a:prstGeom prst="roundRect">
            <a:avLst>
              <a:gd name="adj" fmla="val 8000"/>
            </a:avLst>
          </a:prstGeom>
          <a:solidFill>
            <a:srgbClr val="F7FAFF"/>
          </a:solidFill>
          <a:ln w="12700">
            <a:solidFill>
              <a:srgbClr val="BCC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492240" y="1783080"/>
            <a:ext cx="5212080" cy="502920"/>
          </a:xfrm>
          <a:prstGeom prst="roundRect">
            <a:avLst>
              <a:gd name="adj" fmla="val 8000"/>
            </a:avLst>
          </a:prstGeom>
          <a:solidFill>
            <a:srgbClr val="EAF2FF"/>
          </a:solidFill>
          <a:ln>
            <a:solidFill>
              <a:srgbClr val="EAF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675120" y="1856231"/>
            <a:ext cx="352044" cy="352044"/>
          </a:xfrm>
          <a:prstGeom prst="roundRect">
            <a:avLst>
              <a:gd name="adj" fmla="val 8000"/>
            </a:avLst>
          </a:prstGeom>
          <a:solidFill>
            <a:srgbClr val="10233F"/>
          </a:solidFill>
          <a:ln>
            <a:solidFill>
              <a:srgbClr val="1023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758330" y="2016251"/>
            <a:ext cx="44805" cy="115214"/>
          </a:xfrm>
          <a:prstGeom prst="rect">
            <a:avLst/>
          </a:prstGeom>
          <a:solidFill>
            <a:srgbClr val="F2C811"/>
          </a:solidFill>
          <a:ln>
            <a:solidFill>
              <a:srgbClr val="F2C8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819138" y="1958644"/>
            <a:ext cx="44805" cy="172821"/>
          </a:xfrm>
          <a:prstGeom prst="rect">
            <a:avLst/>
          </a:prstGeom>
          <a:solidFill>
            <a:srgbClr val="F2C811"/>
          </a:solidFill>
          <a:ln>
            <a:solidFill>
              <a:srgbClr val="F2C8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879945" y="1901037"/>
            <a:ext cx="44805" cy="230428"/>
          </a:xfrm>
          <a:prstGeom prst="rect">
            <a:avLst/>
          </a:prstGeom>
          <a:solidFill>
            <a:srgbClr val="F2C811"/>
          </a:solidFill>
          <a:ln>
            <a:solidFill>
              <a:srgbClr val="F2C8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59752" y="1920240"/>
            <a:ext cx="3474720" cy="201168"/>
          </a:xfrm>
          <a:prstGeom prst="rect">
            <a:avLst/>
          </a:prstGeom>
          <a:noFill/>
        </p:spPr>
        <p:txBody>
          <a:bodyPr wrap="square" lIns="0" rIns="0" tIns="0" bIns="0" anchor="t">
            <a:spAutoFit/>
          </a:bodyPr>
          <a:lstStyle/>
          <a:p>
            <a:pPr algn="l">
              <a:spcBef>
                <a:spcPts val="0"/>
              </a:spcBef>
              <a:spcAft>
                <a:spcPts val="0"/>
              </a:spcAft>
            </a:pPr>
            <a:r>
              <a:rPr sz="1220" b="1">
                <a:solidFill>
                  <a:srgbClr val="10233F"/>
                </a:solidFill>
                <a:latin typeface="Aptos"/>
              </a:rPr>
              <a:t>MICROSOFT FABRIC / POWER BI</a:t>
            </a:r>
          </a:p>
        </p:txBody>
      </p:sp>
      <p:sp>
        <p:nvSpPr>
          <p:cNvPr id="44" name="Rounded Rectangle 43"/>
          <p:cNvSpPr/>
          <p:nvPr/>
        </p:nvSpPr>
        <p:spPr>
          <a:xfrm>
            <a:off x="10652759" y="1901952"/>
            <a:ext cx="804672" cy="256032"/>
          </a:xfrm>
          <a:prstGeom prst="roundRect">
            <a:avLst>
              <a:gd name="adj" fmla="val 8000"/>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652759" y="1906524"/>
            <a:ext cx="804672" cy="228600"/>
          </a:xfrm>
          <a:prstGeom prst="rect">
            <a:avLst/>
          </a:prstGeom>
          <a:noFill/>
        </p:spPr>
        <p:txBody>
          <a:bodyPr wrap="square" lIns="0" rIns="0" tIns="0" bIns="0" anchor="ctr">
            <a:spAutoFit/>
          </a:bodyPr>
          <a:lstStyle/>
          <a:p>
            <a:pPr algn="ctr">
              <a:spcBef>
                <a:spcPts val="0"/>
              </a:spcBef>
              <a:spcAft>
                <a:spcPts val="0"/>
              </a:spcAft>
            </a:pPr>
            <a:r>
              <a:rPr sz="819" b="1">
                <a:solidFill>
                  <a:srgbClr val="FFFFFF"/>
                </a:solidFill>
                <a:latin typeface="Aptos"/>
              </a:rPr>
              <a:t>METADATA</a:t>
            </a:r>
          </a:p>
        </p:txBody>
      </p:sp>
      <p:sp>
        <p:nvSpPr>
          <p:cNvPr id="46" name="Rounded Rectangle 45"/>
          <p:cNvSpPr/>
          <p:nvPr/>
        </p:nvSpPr>
        <p:spPr>
          <a:xfrm>
            <a:off x="6675120" y="2496312"/>
            <a:ext cx="2286000" cy="768096"/>
          </a:xfrm>
          <a:prstGeom prst="roundRect">
            <a:avLst>
              <a:gd name="adj" fmla="val 8000"/>
            </a:avLst>
          </a:prstGeom>
          <a:solidFill>
            <a:srgbClr val="FFFFFF"/>
          </a:solidFill>
          <a:ln w="10160">
            <a:solidFill>
              <a:srgbClr val="D9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675120" y="2496312"/>
            <a:ext cx="73152" cy="768096"/>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839712" y="2633472"/>
            <a:ext cx="438912" cy="256032"/>
          </a:xfrm>
          <a:prstGeom prst="roundRect">
            <a:avLst>
              <a:gd name="adj" fmla="val 8000"/>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39712" y="2638044"/>
            <a:ext cx="438912" cy="228600"/>
          </a:xfrm>
          <a:prstGeom prst="rect">
            <a:avLst/>
          </a:prstGeom>
          <a:noFill/>
        </p:spPr>
        <p:txBody>
          <a:bodyPr wrap="square" lIns="0" rIns="0" tIns="0" bIns="0" anchor="ctr">
            <a:spAutoFit/>
          </a:bodyPr>
          <a:lstStyle/>
          <a:p>
            <a:pPr algn="ctr">
              <a:spcBef>
                <a:spcPts val="0"/>
              </a:spcBef>
              <a:spcAft>
                <a:spcPts val="0"/>
              </a:spcAft>
            </a:pPr>
            <a:r>
              <a:rPr sz="819" b="1">
                <a:solidFill>
                  <a:srgbClr val="FFFFFF"/>
                </a:solidFill>
                <a:latin typeface="Aptos"/>
              </a:rPr>
              <a:t>ID</a:t>
            </a:r>
          </a:p>
        </p:txBody>
      </p:sp>
      <p:sp>
        <p:nvSpPr>
          <p:cNvPr id="50" name="TextBox 49"/>
          <p:cNvSpPr txBox="1"/>
          <p:nvPr/>
        </p:nvSpPr>
        <p:spPr>
          <a:xfrm>
            <a:off x="7360920" y="2615184"/>
            <a:ext cx="1481328" cy="228600"/>
          </a:xfrm>
          <a:prstGeom prst="rect">
            <a:avLst/>
          </a:prstGeom>
          <a:noFill/>
        </p:spPr>
        <p:txBody>
          <a:bodyPr wrap="square" lIns="0" rIns="0" tIns="0" bIns="0" anchor="t">
            <a:spAutoFit/>
          </a:bodyPr>
          <a:lstStyle/>
          <a:p>
            <a:pPr algn="l">
              <a:spcBef>
                <a:spcPts val="0"/>
              </a:spcBef>
              <a:spcAft>
                <a:spcPts val="0"/>
              </a:spcAft>
            </a:pPr>
            <a:r>
              <a:rPr sz="1010" b="1">
                <a:solidFill>
                  <a:srgbClr val="10233F"/>
                </a:solidFill>
                <a:latin typeface="Aptos"/>
              </a:rPr>
              <a:t>Microsoft Entra ID</a:t>
            </a:r>
          </a:p>
        </p:txBody>
      </p:sp>
      <p:sp>
        <p:nvSpPr>
          <p:cNvPr id="51" name="TextBox 50"/>
          <p:cNvSpPr txBox="1"/>
          <p:nvPr/>
        </p:nvSpPr>
        <p:spPr>
          <a:xfrm>
            <a:off x="6839712" y="2935224"/>
            <a:ext cx="1975104" cy="246888"/>
          </a:xfrm>
          <a:prstGeom prst="rect">
            <a:avLst/>
          </a:prstGeom>
          <a:noFill/>
        </p:spPr>
        <p:txBody>
          <a:bodyPr wrap="square" lIns="0" rIns="0" tIns="0" bIns="0" anchor="t">
            <a:spAutoFit/>
          </a:bodyPr>
          <a:lstStyle/>
          <a:p>
            <a:pPr algn="l">
              <a:spcBef>
                <a:spcPts val="0"/>
              </a:spcBef>
              <a:spcAft>
                <a:spcPts val="0"/>
              </a:spcAft>
            </a:pPr>
            <a:r>
              <a:rPr sz="800" b="0">
                <a:solidFill>
                  <a:srgbClr val="52627A"/>
                </a:solidFill>
                <a:latin typeface="Aptos"/>
              </a:rPr>
              <a:t>Device code + delegated identity; user permissions scope visibility</a:t>
            </a:r>
          </a:p>
        </p:txBody>
      </p:sp>
      <p:sp>
        <p:nvSpPr>
          <p:cNvPr id="52" name="Rounded Rectangle 51"/>
          <p:cNvSpPr/>
          <p:nvPr/>
        </p:nvSpPr>
        <p:spPr>
          <a:xfrm>
            <a:off x="9217152" y="2496312"/>
            <a:ext cx="2286000" cy="768096"/>
          </a:xfrm>
          <a:prstGeom prst="roundRect">
            <a:avLst>
              <a:gd name="adj" fmla="val 8000"/>
            </a:avLst>
          </a:prstGeom>
          <a:solidFill>
            <a:srgbClr val="FFFFFF"/>
          </a:solidFill>
          <a:ln w="10160">
            <a:solidFill>
              <a:srgbClr val="D9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217152" y="2496312"/>
            <a:ext cx="73152" cy="768096"/>
          </a:xfrm>
          <a:prstGeom prst="rect">
            <a:avLst/>
          </a:prstGeom>
          <a:solidFill>
            <a:srgbClr val="F2C811"/>
          </a:solidFill>
          <a:ln>
            <a:solidFill>
              <a:srgbClr val="F2C8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9381744" y="2633472"/>
            <a:ext cx="438912" cy="256032"/>
          </a:xfrm>
          <a:prstGeom prst="roundRect">
            <a:avLst>
              <a:gd name="adj" fmla="val 8000"/>
            </a:avLst>
          </a:prstGeom>
          <a:solidFill>
            <a:srgbClr val="F2C811"/>
          </a:solidFill>
          <a:ln>
            <a:solidFill>
              <a:srgbClr val="F2C8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81744" y="2638044"/>
            <a:ext cx="438912" cy="228600"/>
          </a:xfrm>
          <a:prstGeom prst="rect">
            <a:avLst/>
          </a:prstGeom>
          <a:noFill/>
        </p:spPr>
        <p:txBody>
          <a:bodyPr wrap="square" lIns="0" rIns="0" tIns="0" bIns="0" anchor="ctr">
            <a:spAutoFit/>
          </a:bodyPr>
          <a:lstStyle/>
          <a:p>
            <a:pPr algn="ctr">
              <a:spcBef>
                <a:spcPts val="0"/>
              </a:spcBef>
              <a:spcAft>
                <a:spcPts val="0"/>
              </a:spcAft>
            </a:pPr>
            <a:r>
              <a:rPr sz="819" b="1">
                <a:solidFill>
                  <a:srgbClr val="FFFFFF"/>
                </a:solidFill>
                <a:latin typeface="Aptos"/>
              </a:rPr>
              <a:t>REST</a:t>
            </a:r>
          </a:p>
        </p:txBody>
      </p:sp>
      <p:sp>
        <p:nvSpPr>
          <p:cNvPr id="56" name="TextBox 55"/>
          <p:cNvSpPr txBox="1"/>
          <p:nvPr/>
        </p:nvSpPr>
        <p:spPr>
          <a:xfrm>
            <a:off x="9902952" y="2615184"/>
            <a:ext cx="1481328" cy="228600"/>
          </a:xfrm>
          <a:prstGeom prst="rect">
            <a:avLst/>
          </a:prstGeom>
          <a:noFill/>
        </p:spPr>
        <p:txBody>
          <a:bodyPr wrap="square" lIns="0" rIns="0" tIns="0" bIns="0" anchor="t">
            <a:spAutoFit/>
          </a:bodyPr>
          <a:lstStyle/>
          <a:p>
            <a:pPr algn="l">
              <a:spcBef>
                <a:spcPts val="0"/>
              </a:spcBef>
              <a:spcAft>
                <a:spcPts val="0"/>
              </a:spcAft>
            </a:pPr>
            <a:r>
              <a:rPr sz="1010" b="1">
                <a:solidFill>
                  <a:srgbClr val="10233F"/>
                </a:solidFill>
                <a:latin typeface="Aptos"/>
              </a:rPr>
              <a:t>Power BI REST API</a:t>
            </a:r>
          </a:p>
        </p:txBody>
      </p:sp>
      <p:sp>
        <p:nvSpPr>
          <p:cNvPr id="57" name="TextBox 56"/>
          <p:cNvSpPr txBox="1"/>
          <p:nvPr/>
        </p:nvSpPr>
        <p:spPr>
          <a:xfrm>
            <a:off x="9381744" y="2935224"/>
            <a:ext cx="1975104" cy="246888"/>
          </a:xfrm>
          <a:prstGeom prst="rect">
            <a:avLst/>
          </a:prstGeom>
          <a:noFill/>
        </p:spPr>
        <p:txBody>
          <a:bodyPr wrap="square" lIns="0" rIns="0" tIns="0" bIns="0" anchor="t">
            <a:spAutoFit/>
          </a:bodyPr>
          <a:lstStyle/>
          <a:p>
            <a:pPr algn="l">
              <a:spcBef>
                <a:spcPts val="0"/>
              </a:spcBef>
              <a:spcAft>
                <a:spcPts val="0"/>
              </a:spcAft>
            </a:pPr>
            <a:r>
              <a:rPr sz="800" b="0">
                <a:solidFill>
                  <a:srgbClr val="52627A"/>
                </a:solidFill>
                <a:latin typeface="Aptos"/>
              </a:rPr>
              <a:t>Workspaces, reports, dashboards, datasets and access metadata</a:t>
            </a:r>
          </a:p>
        </p:txBody>
      </p:sp>
      <p:sp>
        <p:nvSpPr>
          <p:cNvPr id="58" name="Rounded Rectangle 57"/>
          <p:cNvSpPr/>
          <p:nvPr/>
        </p:nvSpPr>
        <p:spPr>
          <a:xfrm>
            <a:off x="6675120" y="3447288"/>
            <a:ext cx="2286000" cy="768096"/>
          </a:xfrm>
          <a:prstGeom prst="roundRect">
            <a:avLst>
              <a:gd name="adj" fmla="val 8000"/>
            </a:avLst>
          </a:prstGeom>
          <a:solidFill>
            <a:srgbClr val="FFFFFF"/>
          </a:solidFill>
          <a:ln w="10160">
            <a:solidFill>
              <a:srgbClr val="D9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675120" y="3447288"/>
            <a:ext cx="73152" cy="768096"/>
          </a:xfrm>
          <a:prstGeom prst="rect">
            <a:avLst/>
          </a:prstGeom>
          <a:solidFill>
            <a:srgbClr val="0F9D84"/>
          </a:solidFill>
          <a:ln>
            <a:solidFill>
              <a:srgbClr val="0F9D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6839712" y="3584448"/>
            <a:ext cx="438912" cy="256032"/>
          </a:xfrm>
          <a:prstGeom prst="roundRect">
            <a:avLst>
              <a:gd name="adj" fmla="val 8000"/>
            </a:avLst>
          </a:prstGeom>
          <a:solidFill>
            <a:srgbClr val="0F9D84"/>
          </a:solidFill>
          <a:ln>
            <a:solidFill>
              <a:srgbClr val="0F9D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839712" y="3589020"/>
            <a:ext cx="438912" cy="228600"/>
          </a:xfrm>
          <a:prstGeom prst="rect">
            <a:avLst/>
          </a:prstGeom>
          <a:noFill/>
        </p:spPr>
        <p:txBody>
          <a:bodyPr wrap="square" lIns="0" rIns="0" tIns="0" bIns="0" anchor="ctr">
            <a:spAutoFit/>
          </a:bodyPr>
          <a:lstStyle/>
          <a:p>
            <a:pPr algn="ctr">
              <a:spcBef>
                <a:spcPts val="0"/>
              </a:spcBef>
              <a:spcAft>
                <a:spcPts val="0"/>
              </a:spcAft>
            </a:pPr>
            <a:r>
              <a:rPr sz="819" b="1">
                <a:solidFill>
                  <a:srgbClr val="FFFFFF"/>
                </a:solidFill>
                <a:latin typeface="Aptos"/>
              </a:rPr>
              <a:t>FAB</a:t>
            </a:r>
          </a:p>
        </p:txBody>
      </p:sp>
      <p:sp>
        <p:nvSpPr>
          <p:cNvPr id="62" name="TextBox 61"/>
          <p:cNvSpPr txBox="1"/>
          <p:nvPr/>
        </p:nvSpPr>
        <p:spPr>
          <a:xfrm>
            <a:off x="7360920" y="3566160"/>
            <a:ext cx="1481328" cy="228600"/>
          </a:xfrm>
          <a:prstGeom prst="rect">
            <a:avLst/>
          </a:prstGeom>
          <a:noFill/>
        </p:spPr>
        <p:txBody>
          <a:bodyPr wrap="square" lIns="0" rIns="0" tIns="0" bIns="0" anchor="t">
            <a:spAutoFit/>
          </a:bodyPr>
          <a:lstStyle/>
          <a:p>
            <a:pPr algn="l">
              <a:spcBef>
                <a:spcPts val="0"/>
              </a:spcBef>
              <a:spcAft>
                <a:spcPts val="0"/>
              </a:spcAft>
            </a:pPr>
            <a:r>
              <a:rPr sz="1010" b="1">
                <a:solidFill>
                  <a:srgbClr val="10233F"/>
                </a:solidFill>
                <a:latin typeface="Aptos"/>
              </a:rPr>
              <a:t>Fabric Report API</a:t>
            </a:r>
          </a:p>
        </p:txBody>
      </p:sp>
      <p:sp>
        <p:nvSpPr>
          <p:cNvPr id="63" name="TextBox 62"/>
          <p:cNvSpPr txBox="1"/>
          <p:nvPr/>
        </p:nvSpPr>
        <p:spPr>
          <a:xfrm>
            <a:off x="6839712" y="3886200"/>
            <a:ext cx="1975104" cy="246888"/>
          </a:xfrm>
          <a:prstGeom prst="rect">
            <a:avLst/>
          </a:prstGeom>
          <a:noFill/>
        </p:spPr>
        <p:txBody>
          <a:bodyPr wrap="square" lIns="0" rIns="0" tIns="0" bIns="0" anchor="t">
            <a:spAutoFit/>
          </a:bodyPr>
          <a:lstStyle/>
          <a:p>
            <a:pPr algn="l">
              <a:spcBef>
                <a:spcPts val="0"/>
              </a:spcBef>
              <a:spcAft>
                <a:spcPts val="0"/>
              </a:spcAft>
            </a:pPr>
            <a:r>
              <a:rPr sz="800" b="0">
                <a:solidFill>
                  <a:srgbClr val="52627A"/>
                </a:solidFill>
                <a:latin typeface="Aptos"/>
              </a:rPr>
              <a:t>Report definition, pages, visuals and semantic field bindings</a:t>
            </a:r>
          </a:p>
        </p:txBody>
      </p:sp>
      <p:sp>
        <p:nvSpPr>
          <p:cNvPr id="64" name="Rounded Rectangle 63"/>
          <p:cNvSpPr/>
          <p:nvPr/>
        </p:nvSpPr>
        <p:spPr>
          <a:xfrm>
            <a:off x="9217152" y="3447288"/>
            <a:ext cx="2286000" cy="768096"/>
          </a:xfrm>
          <a:prstGeom prst="roundRect">
            <a:avLst>
              <a:gd name="adj" fmla="val 8000"/>
            </a:avLst>
          </a:prstGeom>
          <a:solidFill>
            <a:srgbClr val="FFFFFF"/>
          </a:solidFill>
          <a:ln w="10160">
            <a:solidFill>
              <a:srgbClr val="D9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217152" y="3447288"/>
            <a:ext cx="73152" cy="768096"/>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9381744" y="3584448"/>
            <a:ext cx="438912" cy="256032"/>
          </a:xfrm>
          <a:prstGeom prst="roundRect">
            <a:avLst>
              <a:gd name="adj" fmla="val 8000"/>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381744" y="3589020"/>
            <a:ext cx="438912" cy="228600"/>
          </a:xfrm>
          <a:prstGeom prst="rect">
            <a:avLst/>
          </a:prstGeom>
          <a:noFill/>
        </p:spPr>
        <p:txBody>
          <a:bodyPr wrap="square" lIns="0" rIns="0" tIns="0" bIns="0" anchor="ctr">
            <a:spAutoFit/>
          </a:bodyPr>
          <a:lstStyle/>
          <a:p>
            <a:pPr algn="ctr">
              <a:spcBef>
                <a:spcPts val="0"/>
              </a:spcBef>
              <a:spcAft>
                <a:spcPts val="0"/>
              </a:spcAft>
            </a:pPr>
            <a:r>
              <a:rPr sz="819" b="1">
                <a:solidFill>
                  <a:srgbClr val="FFFFFF"/>
                </a:solidFill>
                <a:latin typeface="Aptos"/>
              </a:rPr>
              <a:t>XMLA</a:t>
            </a:r>
          </a:p>
        </p:txBody>
      </p:sp>
      <p:sp>
        <p:nvSpPr>
          <p:cNvPr id="68" name="TextBox 67"/>
          <p:cNvSpPr txBox="1"/>
          <p:nvPr/>
        </p:nvSpPr>
        <p:spPr>
          <a:xfrm>
            <a:off x="9902952" y="3566160"/>
            <a:ext cx="1481328" cy="228600"/>
          </a:xfrm>
          <a:prstGeom prst="rect">
            <a:avLst/>
          </a:prstGeom>
          <a:noFill/>
        </p:spPr>
        <p:txBody>
          <a:bodyPr wrap="square" lIns="0" rIns="0" tIns="0" bIns="0" anchor="t">
            <a:spAutoFit/>
          </a:bodyPr>
          <a:lstStyle/>
          <a:p>
            <a:pPr algn="l">
              <a:spcBef>
                <a:spcPts val="0"/>
              </a:spcBef>
              <a:spcAft>
                <a:spcPts val="0"/>
              </a:spcAft>
            </a:pPr>
            <a:r>
              <a:rPr sz="1010" b="1">
                <a:solidFill>
                  <a:srgbClr val="10233F"/>
                </a:solidFill>
                <a:latin typeface="Aptos"/>
              </a:rPr>
              <a:t>Power BI XMLA endpoint</a:t>
            </a:r>
          </a:p>
        </p:txBody>
      </p:sp>
      <p:sp>
        <p:nvSpPr>
          <p:cNvPr id="69" name="TextBox 68"/>
          <p:cNvSpPr txBox="1"/>
          <p:nvPr/>
        </p:nvSpPr>
        <p:spPr>
          <a:xfrm>
            <a:off x="9381744" y="3886200"/>
            <a:ext cx="1975104" cy="246888"/>
          </a:xfrm>
          <a:prstGeom prst="rect">
            <a:avLst/>
          </a:prstGeom>
          <a:noFill/>
        </p:spPr>
        <p:txBody>
          <a:bodyPr wrap="square" lIns="0" rIns="0" tIns="0" bIns="0" anchor="t">
            <a:spAutoFit/>
          </a:bodyPr>
          <a:lstStyle/>
          <a:p>
            <a:pPr algn="l">
              <a:spcBef>
                <a:spcPts val="0"/>
              </a:spcBef>
              <a:spcAft>
                <a:spcPts val="0"/>
              </a:spcAft>
            </a:pPr>
            <a:r>
              <a:rPr sz="800" b="0">
                <a:solidFill>
                  <a:srgbClr val="52627A"/>
                </a:solidFill>
                <a:latin typeface="Aptos"/>
              </a:rPr>
              <a:t>Tables, columns, measures, partitions and dependency DMVs</a:t>
            </a:r>
          </a:p>
        </p:txBody>
      </p:sp>
      <p:sp>
        <p:nvSpPr>
          <p:cNvPr id="70" name="TextBox 69"/>
          <p:cNvSpPr txBox="1"/>
          <p:nvPr/>
        </p:nvSpPr>
        <p:spPr>
          <a:xfrm>
            <a:off x="5870448" y="2414016"/>
            <a:ext cx="658368" cy="292608"/>
          </a:xfrm>
          <a:prstGeom prst="rect">
            <a:avLst/>
          </a:prstGeom>
          <a:noFill/>
        </p:spPr>
        <p:txBody>
          <a:bodyPr wrap="square" lIns="0" rIns="0" tIns="0" bIns="0" anchor="t">
            <a:spAutoFit/>
          </a:bodyPr>
          <a:lstStyle/>
          <a:p>
            <a:pPr algn="ctr">
              <a:spcBef>
                <a:spcPts val="0"/>
              </a:spcBef>
              <a:spcAft>
                <a:spcPts val="0"/>
              </a:spcAft>
            </a:pPr>
            <a:r>
              <a:rPr sz="670" b="1">
                <a:solidFill>
                  <a:srgbClr val="718096"/>
                </a:solidFill>
                <a:latin typeface="Aptos"/>
              </a:rPr>
              <a:t>OAuth + metadata calls</a:t>
            </a:r>
          </a:p>
        </p:txBody>
      </p:sp>
      <p:sp>
        <p:nvSpPr>
          <p:cNvPr id="71" name="Right Arrow 70"/>
          <p:cNvSpPr/>
          <p:nvPr/>
        </p:nvSpPr>
        <p:spPr>
          <a:xfrm>
            <a:off x="5961888" y="2761488"/>
            <a:ext cx="438912" cy="256032"/>
          </a:xfrm>
          <a:prstGeom prst="rightArrow">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824728" y="3108960"/>
            <a:ext cx="749808" cy="292608"/>
          </a:xfrm>
          <a:prstGeom prst="rect">
            <a:avLst/>
          </a:prstGeom>
          <a:noFill/>
        </p:spPr>
        <p:txBody>
          <a:bodyPr wrap="square" lIns="0" rIns="0" tIns="0" bIns="0" anchor="t">
            <a:spAutoFit/>
          </a:bodyPr>
          <a:lstStyle/>
          <a:p>
            <a:pPr algn="ctr">
              <a:spcBef>
                <a:spcPts val="0"/>
              </a:spcBef>
              <a:spcAft>
                <a:spcPts val="0"/>
              </a:spcAft>
            </a:pPr>
            <a:r>
              <a:rPr sz="670" b="0">
                <a:solidFill>
                  <a:srgbClr val="718096"/>
                </a:solidFill>
                <a:latin typeface="Aptos"/>
              </a:rPr>
              <a:t>REST / Fabric / XMLA</a:t>
            </a:r>
          </a:p>
        </p:txBody>
      </p:sp>
      <p:sp>
        <p:nvSpPr>
          <p:cNvPr id="73" name="Rounded Rectangle 72"/>
          <p:cNvSpPr/>
          <p:nvPr/>
        </p:nvSpPr>
        <p:spPr>
          <a:xfrm>
            <a:off x="6492240" y="4709160"/>
            <a:ext cx="5212080" cy="987552"/>
          </a:xfrm>
          <a:prstGeom prst="roundRect">
            <a:avLst>
              <a:gd name="adj" fmla="val 8000"/>
            </a:avLst>
          </a:prstGeom>
          <a:solidFill>
            <a:srgbClr val="EAF8FD"/>
          </a:solidFill>
          <a:ln w="12700">
            <a:solidFill>
              <a:srgbClr val="29B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6675120" y="4882896"/>
            <a:ext cx="438912" cy="438912"/>
          </a:xfrm>
          <a:prstGeom prst="roundRect">
            <a:avLst>
              <a:gd name="adj" fmla="val 8000"/>
            </a:avLst>
          </a:prstGeom>
          <a:solidFill>
            <a:srgbClr val="29B5E8"/>
          </a:solidFill>
          <a:ln>
            <a:solidFill>
              <a:srgbClr val="29B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675120" y="4974336"/>
            <a:ext cx="438912" cy="164592"/>
          </a:xfrm>
          <a:prstGeom prst="rect">
            <a:avLst/>
          </a:prstGeom>
          <a:noFill/>
        </p:spPr>
        <p:txBody>
          <a:bodyPr wrap="square" lIns="0" rIns="0" tIns="0" bIns="0" anchor="t">
            <a:spAutoFit/>
          </a:bodyPr>
          <a:lstStyle/>
          <a:p>
            <a:pPr algn="ctr">
              <a:spcBef>
                <a:spcPts val="0"/>
              </a:spcBef>
              <a:spcAft>
                <a:spcPts val="0"/>
              </a:spcAft>
            </a:pPr>
            <a:r>
              <a:rPr sz="919" b="1">
                <a:solidFill>
                  <a:srgbClr val="FFFFFF"/>
                </a:solidFill>
                <a:latin typeface="Aptos"/>
              </a:rPr>
              <a:t>SF</a:t>
            </a:r>
          </a:p>
        </p:txBody>
      </p:sp>
      <p:sp>
        <p:nvSpPr>
          <p:cNvPr id="76" name="TextBox 75"/>
          <p:cNvSpPr txBox="1"/>
          <p:nvPr/>
        </p:nvSpPr>
        <p:spPr>
          <a:xfrm>
            <a:off x="7242048" y="4864608"/>
            <a:ext cx="1097280" cy="210312"/>
          </a:xfrm>
          <a:prstGeom prst="rect">
            <a:avLst/>
          </a:prstGeom>
          <a:noFill/>
        </p:spPr>
        <p:txBody>
          <a:bodyPr wrap="square" lIns="0" rIns="0" tIns="0" bIns="0" anchor="t">
            <a:spAutoFit/>
          </a:bodyPr>
          <a:lstStyle/>
          <a:p>
            <a:pPr algn="l">
              <a:spcBef>
                <a:spcPts val="0"/>
              </a:spcBef>
              <a:spcAft>
                <a:spcPts val="0"/>
              </a:spcAft>
            </a:pPr>
            <a:r>
              <a:rPr sz="1150" b="1">
                <a:solidFill>
                  <a:srgbClr val="0D6E91"/>
                </a:solidFill>
                <a:latin typeface="Aptos"/>
              </a:rPr>
              <a:t>SNOWFLAKE</a:t>
            </a:r>
          </a:p>
        </p:txBody>
      </p:sp>
      <p:sp>
        <p:nvSpPr>
          <p:cNvPr id="77" name="TextBox 76"/>
          <p:cNvSpPr txBox="1"/>
          <p:nvPr/>
        </p:nvSpPr>
        <p:spPr>
          <a:xfrm>
            <a:off x="7242048" y="5129784"/>
            <a:ext cx="2011680" cy="201168"/>
          </a:xfrm>
          <a:prstGeom prst="rect">
            <a:avLst/>
          </a:prstGeom>
          <a:noFill/>
        </p:spPr>
        <p:txBody>
          <a:bodyPr wrap="square" lIns="0" rIns="0" tIns="0" bIns="0" anchor="t">
            <a:spAutoFit/>
          </a:bodyPr>
          <a:lstStyle/>
          <a:p>
            <a:pPr algn="l">
              <a:spcBef>
                <a:spcPts val="0"/>
              </a:spcBef>
              <a:spcAft>
                <a:spcPts val="0"/>
              </a:spcAft>
            </a:pPr>
            <a:r>
              <a:rPr sz="840" b="0">
                <a:solidFill>
                  <a:srgbClr val="52627A"/>
                </a:solidFill>
                <a:latin typeface="Aptos"/>
              </a:rPr>
              <a:t>Connector + recursive lineage procedure</a:t>
            </a:r>
          </a:p>
        </p:txBody>
      </p:sp>
      <p:sp>
        <p:nvSpPr>
          <p:cNvPr id="78" name="TextBox 77"/>
          <p:cNvSpPr txBox="1"/>
          <p:nvPr/>
        </p:nvSpPr>
        <p:spPr>
          <a:xfrm>
            <a:off x="9372600" y="4910328"/>
            <a:ext cx="2057400" cy="201168"/>
          </a:xfrm>
          <a:prstGeom prst="rect">
            <a:avLst/>
          </a:prstGeom>
          <a:noFill/>
        </p:spPr>
        <p:txBody>
          <a:bodyPr wrap="square" lIns="0" rIns="0" tIns="0" bIns="0" anchor="t">
            <a:spAutoFit/>
          </a:bodyPr>
          <a:lstStyle/>
          <a:p>
            <a:pPr algn="ctr">
              <a:spcBef>
                <a:spcPts val="0"/>
              </a:spcBef>
              <a:spcAft>
                <a:spcPts val="0"/>
              </a:spcAft>
            </a:pPr>
            <a:r>
              <a:rPr sz="810" b="1">
                <a:solidFill>
                  <a:srgbClr val="0D6E91"/>
                </a:solidFill>
                <a:latin typeface="Aptos"/>
              </a:rPr>
              <a:t>UPSTREAM OBJECT / COLUMN LINEAGE</a:t>
            </a:r>
          </a:p>
        </p:txBody>
      </p:sp>
      <p:sp>
        <p:nvSpPr>
          <p:cNvPr id="79" name="TextBox 78"/>
          <p:cNvSpPr txBox="1"/>
          <p:nvPr/>
        </p:nvSpPr>
        <p:spPr>
          <a:xfrm>
            <a:off x="9372600" y="5184648"/>
            <a:ext cx="2057400" cy="182880"/>
          </a:xfrm>
          <a:prstGeom prst="rect">
            <a:avLst/>
          </a:prstGeom>
          <a:noFill/>
        </p:spPr>
        <p:txBody>
          <a:bodyPr wrap="square" lIns="0" rIns="0" tIns="0" bIns="0" anchor="t">
            <a:spAutoFit/>
          </a:bodyPr>
          <a:lstStyle/>
          <a:p>
            <a:pPr algn="ctr">
              <a:spcBef>
                <a:spcPts val="0"/>
              </a:spcBef>
              <a:spcAft>
                <a:spcPts val="0"/>
              </a:spcAft>
            </a:pPr>
            <a:r>
              <a:rPr sz="750" b="0">
                <a:solidFill>
                  <a:srgbClr val="52627A"/>
                </a:solidFill>
                <a:latin typeface="Aptos"/>
              </a:rPr>
              <a:t>Optional Cortex measure explanation</a:t>
            </a:r>
          </a:p>
        </p:txBody>
      </p:sp>
      <p:sp>
        <p:nvSpPr>
          <p:cNvPr id="80" name="TextBox 79"/>
          <p:cNvSpPr txBox="1"/>
          <p:nvPr/>
        </p:nvSpPr>
        <p:spPr>
          <a:xfrm>
            <a:off x="5870448" y="4590288"/>
            <a:ext cx="658368" cy="292608"/>
          </a:xfrm>
          <a:prstGeom prst="rect">
            <a:avLst/>
          </a:prstGeom>
          <a:noFill/>
        </p:spPr>
        <p:txBody>
          <a:bodyPr wrap="square" lIns="0" rIns="0" tIns="0" bIns="0" anchor="t">
            <a:spAutoFit/>
          </a:bodyPr>
          <a:lstStyle/>
          <a:p>
            <a:pPr algn="ctr">
              <a:spcBef>
                <a:spcPts val="0"/>
              </a:spcBef>
              <a:spcAft>
                <a:spcPts val="0"/>
              </a:spcAft>
            </a:pPr>
            <a:r>
              <a:rPr sz="670" b="1">
                <a:solidFill>
                  <a:srgbClr val="718096"/>
                </a:solidFill>
                <a:latin typeface="Aptos"/>
              </a:rPr>
              <a:t>source FQN / column</a:t>
            </a:r>
          </a:p>
        </p:txBody>
      </p:sp>
      <p:sp>
        <p:nvSpPr>
          <p:cNvPr id="81" name="Right Arrow 80"/>
          <p:cNvSpPr/>
          <p:nvPr/>
        </p:nvSpPr>
        <p:spPr>
          <a:xfrm>
            <a:off x="5961888" y="4937760"/>
            <a:ext cx="438912" cy="256032"/>
          </a:xfrm>
          <a:prstGeom prst="rightArrow">
            <a:avLst/>
          </a:prstGeom>
          <a:solidFill>
            <a:srgbClr val="29B5E8"/>
          </a:solidFill>
          <a:ln>
            <a:solidFill>
              <a:srgbClr val="29B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897880" y="5285232"/>
            <a:ext cx="594360" cy="182880"/>
          </a:xfrm>
          <a:prstGeom prst="rect">
            <a:avLst/>
          </a:prstGeom>
          <a:noFill/>
        </p:spPr>
        <p:txBody>
          <a:bodyPr wrap="square" lIns="0" rIns="0" tIns="0" bIns="0" anchor="t">
            <a:spAutoFit/>
          </a:bodyPr>
          <a:lstStyle/>
          <a:p>
            <a:pPr algn="ctr">
              <a:spcBef>
                <a:spcPts val="0"/>
              </a:spcBef>
              <a:spcAft>
                <a:spcPts val="0"/>
              </a:spcAft>
            </a:pPr>
            <a:r>
              <a:rPr sz="670" b="0">
                <a:solidFill>
                  <a:srgbClr val="718096"/>
                </a:solidFill>
                <a:latin typeface="Aptos"/>
              </a:rPr>
              <a:t>lineage rows</a:t>
            </a:r>
          </a:p>
        </p:txBody>
      </p:sp>
      <p:sp>
        <p:nvSpPr>
          <p:cNvPr id="83" name="Rounded Rectangle 82"/>
          <p:cNvSpPr/>
          <p:nvPr/>
        </p:nvSpPr>
        <p:spPr>
          <a:xfrm>
            <a:off x="530352" y="5925312"/>
            <a:ext cx="11155680" cy="384048"/>
          </a:xfrm>
          <a:prstGeom prst="roundRect">
            <a:avLst>
              <a:gd name="adj" fmla="val 8000"/>
            </a:avLst>
          </a:prstGeom>
          <a:solidFill>
            <a:srgbClr val="10233F"/>
          </a:solidFill>
          <a:ln>
            <a:solidFill>
              <a:srgbClr val="1023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13232" y="6016752"/>
            <a:ext cx="1280160" cy="164592"/>
          </a:xfrm>
          <a:prstGeom prst="rect">
            <a:avLst/>
          </a:prstGeom>
          <a:noFill/>
        </p:spPr>
        <p:txBody>
          <a:bodyPr wrap="square" lIns="0" rIns="0" tIns="0" bIns="0" anchor="t">
            <a:spAutoFit/>
          </a:bodyPr>
          <a:lstStyle/>
          <a:p>
            <a:pPr algn="l">
              <a:spcBef>
                <a:spcPts val="0"/>
              </a:spcBef>
              <a:spcAft>
                <a:spcPts val="0"/>
              </a:spcAft>
            </a:pPr>
            <a:r>
              <a:rPr sz="770" b="1">
                <a:solidFill>
                  <a:srgbClr val="8FB4EC"/>
                </a:solidFill>
                <a:latin typeface="Aptos"/>
              </a:rPr>
              <a:t>DEPLOYMENT BOUNDARY</a:t>
            </a:r>
          </a:p>
        </p:txBody>
      </p:sp>
      <p:sp>
        <p:nvSpPr>
          <p:cNvPr id="85" name="TextBox 84"/>
          <p:cNvSpPr txBox="1"/>
          <p:nvPr/>
        </p:nvSpPr>
        <p:spPr>
          <a:xfrm>
            <a:off x="2057400" y="5998464"/>
            <a:ext cx="9326880" cy="182880"/>
          </a:xfrm>
          <a:prstGeom prst="rect">
            <a:avLst/>
          </a:prstGeom>
          <a:noFill/>
        </p:spPr>
        <p:txBody>
          <a:bodyPr wrap="square" lIns="0" rIns="0" tIns="0" bIns="0" anchor="t">
            <a:spAutoFit/>
          </a:bodyPr>
          <a:lstStyle/>
          <a:p>
            <a:pPr algn="l">
              <a:spcBef>
                <a:spcPts val="0"/>
              </a:spcBef>
              <a:spcAft>
                <a:spcPts val="0"/>
              </a:spcAft>
            </a:pPr>
            <a:r>
              <a:rPr sz="850" b="0">
                <a:solidFill>
                  <a:srgbClr val="FFFFFF"/>
                </a:solidFill>
                <a:latin typeface="Aptos"/>
              </a:rPr>
              <a:t>Full lineage: Windows host for XMLA   |   Linux cloud: REST/Fabric features or route XMLA through a Windows backend</a:t>
            </a:r>
          </a:p>
        </p:txBody>
      </p:sp>
      <p:sp>
        <p:nvSpPr>
          <p:cNvPr id="86" name="Rectangle 85"/>
          <p:cNvSpPr/>
          <p:nvPr/>
        </p:nvSpPr>
        <p:spPr>
          <a:xfrm>
            <a:off x="502920" y="6510528"/>
            <a:ext cx="11183112" cy="10972"/>
          </a:xfrm>
          <a:prstGeom prst="rect">
            <a:avLst/>
          </a:prstGeom>
          <a:solidFill>
            <a:srgbClr val="D9E2EF"/>
          </a:solidFill>
          <a:ln>
            <a:solidFill>
              <a:srgbClr val="D9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30352" y="6565392"/>
            <a:ext cx="2286000" cy="164592"/>
          </a:xfrm>
          <a:prstGeom prst="rect">
            <a:avLst/>
          </a:prstGeom>
          <a:noFill/>
        </p:spPr>
        <p:txBody>
          <a:bodyPr wrap="square" lIns="0" rIns="0" tIns="0" bIns="0" anchor="t">
            <a:spAutoFit/>
          </a:bodyPr>
          <a:lstStyle/>
          <a:p>
            <a:pPr algn="l">
              <a:spcBef>
                <a:spcPts val="0"/>
              </a:spcBef>
              <a:spcAft>
                <a:spcPts val="0"/>
              </a:spcAft>
            </a:pPr>
            <a:r>
              <a:rPr sz="750" b="1">
                <a:solidFill>
                  <a:srgbClr val="718096"/>
                </a:solidFill>
                <a:latin typeface="Aptos"/>
              </a:rPr>
              <a:t>PBI LINEAGE EXPLORER</a:t>
            </a:r>
          </a:p>
        </p:txBody>
      </p:sp>
      <p:sp>
        <p:nvSpPr>
          <p:cNvPr id="88" name="TextBox 87"/>
          <p:cNvSpPr txBox="1"/>
          <p:nvPr/>
        </p:nvSpPr>
        <p:spPr>
          <a:xfrm>
            <a:off x="3840480" y="6565392"/>
            <a:ext cx="4526280" cy="164592"/>
          </a:xfrm>
          <a:prstGeom prst="rect">
            <a:avLst/>
          </a:prstGeom>
          <a:noFill/>
        </p:spPr>
        <p:txBody>
          <a:bodyPr wrap="square" lIns="0" rIns="0" tIns="0" bIns="0" anchor="t">
            <a:spAutoFit/>
          </a:bodyPr>
          <a:lstStyle/>
          <a:p>
            <a:pPr algn="ctr">
              <a:spcBef>
                <a:spcPts val="0"/>
              </a:spcBef>
              <a:spcAft>
                <a:spcPts val="0"/>
              </a:spcAft>
            </a:pPr>
            <a:r>
              <a:rPr sz="750" b="0">
                <a:solidFill>
                  <a:srgbClr val="718096"/>
                </a:solidFill>
                <a:latin typeface="Aptos"/>
              </a:rPr>
              <a:t>POWER BI  |  FABRIC  |  XMLA  |  SNOWFLAKE</a:t>
            </a:r>
          </a:p>
        </p:txBody>
      </p:sp>
      <p:sp>
        <p:nvSpPr>
          <p:cNvPr id="89" name="TextBox 88"/>
          <p:cNvSpPr txBox="1"/>
          <p:nvPr/>
        </p:nvSpPr>
        <p:spPr>
          <a:xfrm>
            <a:off x="11155680" y="6547104"/>
            <a:ext cx="502920" cy="182880"/>
          </a:xfrm>
          <a:prstGeom prst="rect">
            <a:avLst/>
          </a:prstGeom>
          <a:noFill/>
        </p:spPr>
        <p:txBody>
          <a:bodyPr wrap="square" lIns="0" rIns="0" tIns="0" bIns="0" anchor="t">
            <a:spAutoFit/>
          </a:bodyPr>
          <a:lstStyle/>
          <a:p>
            <a:pPr algn="r">
              <a:spcBef>
                <a:spcPts val="0"/>
              </a:spcBef>
              <a:spcAft>
                <a:spcPts val="0"/>
              </a:spcAft>
            </a:pPr>
            <a:r>
              <a:rPr sz="850" b="1">
                <a:solidFill>
                  <a:srgbClr val="2563EB"/>
                </a:solidFill>
                <a:latin typeface="Aptos"/>
              </a:rPr>
              <a:t>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PBI Lineage Explorer - Overview and Architecture</dc:title>
  <dc:subject>Application value proposition and reference architecture</dc:subject>
  <dc:creator>PBI Lineage Explorer</dc:creator>
  <cp:keywords>Power BI, Fabric, XMLA, Snowflake, lineage, Streamlit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